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7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Horizon" panose="020B0604020202020204" charset="0"/>
      <p:regular r:id="rId12"/>
    </p:embeddedFont>
    <p:embeddedFont>
      <p:font typeface="Neue Machina Light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17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00" y="3196934"/>
            <a:ext cx="16383000" cy="6137566"/>
            <a:chOff x="0" y="0"/>
            <a:chExt cx="21844000" cy="818342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1844000" cy="8183422"/>
              <a:chOff x="0" y="0"/>
              <a:chExt cx="4314864" cy="1616478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314864" cy="1616478"/>
              </a:xfrm>
              <a:custGeom>
                <a:avLst/>
                <a:gdLst/>
                <a:ahLst/>
                <a:cxnLst/>
                <a:rect l="l" t="t" r="r" b="b"/>
                <a:pathLst>
                  <a:path w="4314864" h="1616478">
                    <a:moveTo>
                      <a:pt x="24100" y="0"/>
                    </a:moveTo>
                    <a:lnTo>
                      <a:pt x="4290764" y="0"/>
                    </a:lnTo>
                    <a:cubicBezTo>
                      <a:pt x="4297156" y="0"/>
                      <a:pt x="4303285" y="2539"/>
                      <a:pt x="4307805" y="7059"/>
                    </a:cubicBezTo>
                    <a:cubicBezTo>
                      <a:pt x="4312325" y="11579"/>
                      <a:pt x="4314864" y="17709"/>
                      <a:pt x="4314864" y="24100"/>
                    </a:cubicBezTo>
                    <a:lnTo>
                      <a:pt x="4314864" y="1592378"/>
                    </a:lnTo>
                    <a:cubicBezTo>
                      <a:pt x="4314864" y="1605688"/>
                      <a:pt x="4304074" y="1616478"/>
                      <a:pt x="4290764" y="1616478"/>
                    </a:cubicBezTo>
                    <a:lnTo>
                      <a:pt x="24100" y="1616478"/>
                    </a:lnTo>
                    <a:cubicBezTo>
                      <a:pt x="10790" y="1616478"/>
                      <a:pt x="0" y="1605688"/>
                      <a:pt x="0" y="1592378"/>
                    </a:cubicBezTo>
                    <a:lnTo>
                      <a:pt x="0" y="24100"/>
                    </a:lnTo>
                    <a:cubicBezTo>
                      <a:pt x="0" y="10790"/>
                      <a:pt x="10790" y="0"/>
                      <a:pt x="24100" y="0"/>
                    </a:cubicBezTo>
                    <a:close/>
                  </a:path>
                </a:pathLst>
              </a:custGeom>
              <a:ln w="28575" cap="rnd">
                <a:solidFill>
                  <a:srgbClr val="F8F0DE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4314864" cy="16450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849763" y="7156838"/>
              <a:ext cx="9373089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endParaRPr lang="en-US" sz="1800" dirty="0">
                <a:solidFill>
                  <a:srgbClr val="F8F0DE"/>
                </a:solidFill>
                <a:latin typeface="Neue Machina Light"/>
                <a:ea typeface="Neue Machina Light"/>
                <a:cs typeface="Neue Machina Light"/>
                <a:sym typeface="Neue Machina Light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774333" y="7156838"/>
              <a:ext cx="6219904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520"/>
                </a:lnSpc>
              </a:pPr>
              <a:r>
                <a:rPr lang="en-US" sz="1800" dirty="0">
                  <a:solidFill>
                    <a:srgbClr val="F8F0DE"/>
                  </a:solidFill>
                  <a:latin typeface="Neue Machina Light"/>
                  <a:ea typeface="Neue Machina Light"/>
                  <a:cs typeface="Neue Machina Light"/>
                  <a:sym typeface="Neue Machina Light"/>
                </a:rPr>
                <a:t>April 18, 2026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3925" y="4549774"/>
            <a:ext cx="16383000" cy="3760788"/>
            <a:chOff x="0" y="0"/>
            <a:chExt cx="21844000" cy="5014383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1844000" cy="5014383"/>
              <a:chOff x="0" y="0"/>
              <a:chExt cx="4314864" cy="99049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314864" cy="990495"/>
              </a:xfrm>
              <a:custGeom>
                <a:avLst/>
                <a:gdLst/>
                <a:ahLst/>
                <a:cxnLst/>
                <a:rect l="l" t="t" r="r" b="b"/>
                <a:pathLst>
                  <a:path w="4314864" h="990495">
                    <a:moveTo>
                      <a:pt x="24100" y="0"/>
                    </a:moveTo>
                    <a:lnTo>
                      <a:pt x="4290764" y="0"/>
                    </a:lnTo>
                    <a:cubicBezTo>
                      <a:pt x="4297156" y="0"/>
                      <a:pt x="4303285" y="2539"/>
                      <a:pt x="4307805" y="7059"/>
                    </a:cubicBezTo>
                    <a:cubicBezTo>
                      <a:pt x="4312325" y="11579"/>
                      <a:pt x="4314864" y="17709"/>
                      <a:pt x="4314864" y="24100"/>
                    </a:cubicBezTo>
                    <a:lnTo>
                      <a:pt x="4314864" y="966395"/>
                    </a:lnTo>
                    <a:cubicBezTo>
                      <a:pt x="4314864" y="979705"/>
                      <a:pt x="4304074" y="990495"/>
                      <a:pt x="4290764" y="990495"/>
                    </a:cubicBezTo>
                    <a:lnTo>
                      <a:pt x="24100" y="990495"/>
                    </a:lnTo>
                    <a:cubicBezTo>
                      <a:pt x="17709" y="990495"/>
                      <a:pt x="11579" y="987956"/>
                      <a:pt x="7059" y="983437"/>
                    </a:cubicBezTo>
                    <a:cubicBezTo>
                      <a:pt x="2539" y="978917"/>
                      <a:pt x="0" y="972787"/>
                      <a:pt x="0" y="966395"/>
                    </a:cubicBezTo>
                    <a:lnTo>
                      <a:pt x="0" y="24100"/>
                    </a:lnTo>
                    <a:cubicBezTo>
                      <a:pt x="0" y="10790"/>
                      <a:pt x="10790" y="0"/>
                      <a:pt x="24100" y="0"/>
                    </a:cubicBezTo>
                    <a:close/>
                  </a:path>
                </a:pathLst>
              </a:custGeom>
              <a:solidFill>
                <a:srgbClr val="DE3535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4314864" cy="10190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698500" y="2508891"/>
              <a:ext cx="11104447" cy="13620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679"/>
                </a:lnSpc>
              </a:pPr>
              <a:r>
                <a:rPr lang="en-US" sz="6399" dirty="0">
                  <a:solidFill>
                    <a:srgbClr val="F8F0DE"/>
                  </a:solidFill>
                  <a:latin typeface="Horizon"/>
                  <a:ea typeface="Horizon"/>
                  <a:cs typeface="Horizon"/>
                  <a:sym typeface="Horizon"/>
                </a:rPr>
                <a:t> </a:t>
              </a:r>
              <a:r>
                <a:rPr lang="en-US" sz="6399" dirty="0" err="1">
                  <a:solidFill>
                    <a:srgbClr val="F8F0DE"/>
                  </a:solidFill>
                  <a:latin typeface="Horizon"/>
                  <a:ea typeface="Horizon"/>
                  <a:cs typeface="Horizon"/>
                  <a:sym typeface="Horizon"/>
                </a:rPr>
                <a:t>Apexly</a:t>
              </a:r>
              <a:r>
                <a:rPr lang="en-US" sz="6399" dirty="0">
                  <a:solidFill>
                    <a:srgbClr val="F8F0DE"/>
                  </a:solidFill>
                  <a:latin typeface="Horizon"/>
                  <a:ea typeface="Horizon"/>
                  <a:cs typeface="Horizon"/>
                  <a:sym typeface="Horizon"/>
                </a:rPr>
                <a:t> 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52500" y="9588500"/>
            <a:ext cx="1638300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80"/>
              </a:lnSpc>
            </a:pPr>
            <a:r>
              <a:rPr lang="en-US" sz="1100">
                <a:solidFill>
                  <a:srgbClr val="F8F0DE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Harsh Gujarati  |  MS Information Systems, Northeastern University  |  INFO 7375: AI &amp; Branding  |  Final Presentation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52500" y="114300"/>
            <a:ext cx="16383000" cy="6346825"/>
            <a:chOff x="0" y="0"/>
            <a:chExt cx="2538155" cy="10700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38155" cy="1070059"/>
            </a:xfrm>
            <a:custGeom>
              <a:avLst/>
              <a:gdLst/>
              <a:ahLst/>
              <a:cxnLst/>
              <a:rect l="l" t="t" r="r" b="b"/>
              <a:pathLst>
                <a:path w="2538155" h="1070059">
                  <a:moveTo>
                    <a:pt x="10869" y="0"/>
                  </a:moveTo>
                  <a:lnTo>
                    <a:pt x="2527286" y="0"/>
                  </a:lnTo>
                  <a:cubicBezTo>
                    <a:pt x="2530169" y="0"/>
                    <a:pt x="2532934" y="1145"/>
                    <a:pt x="2534972" y="3183"/>
                  </a:cubicBezTo>
                  <a:cubicBezTo>
                    <a:pt x="2537010" y="5222"/>
                    <a:pt x="2538155" y="7986"/>
                    <a:pt x="2538155" y="10869"/>
                  </a:cubicBezTo>
                  <a:lnTo>
                    <a:pt x="2538155" y="1059190"/>
                  </a:lnTo>
                  <a:cubicBezTo>
                    <a:pt x="2538155" y="1062073"/>
                    <a:pt x="2537010" y="1064837"/>
                    <a:pt x="2534972" y="1066875"/>
                  </a:cubicBezTo>
                  <a:cubicBezTo>
                    <a:pt x="2532934" y="1068914"/>
                    <a:pt x="2530169" y="1070059"/>
                    <a:pt x="2527286" y="1070059"/>
                  </a:cubicBezTo>
                  <a:lnTo>
                    <a:pt x="10869" y="1070059"/>
                  </a:lnTo>
                  <a:cubicBezTo>
                    <a:pt x="7986" y="1070059"/>
                    <a:pt x="5222" y="1068914"/>
                    <a:pt x="3183" y="1066875"/>
                  </a:cubicBezTo>
                  <a:cubicBezTo>
                    <a:pt x="1145" y="1064837"/>
                    <a:pt x="0" y="1062073"/>
                    <a:pt x="0" y="1059190"/>
                  </a:cubicBezTo>
                  <a:lnTo>
                    <a:pt x="0" y="10869"/>
                  </a:lnTo>
                  <a:cubicBezTo>
                    <a:pt x="0" y="7986"/>
                    <a:pt x="1145" y="5222"/>
                    <a:pt x="3183" y="3183"/>
                  </a:cubicBezTo>
                  <a:cubicBezTo>
                    <a:pt x="5222" y="1145"/>
                    <a:pt x="7986" y="0"/>
                    <a:pt x="10869" y="0"/>
                  </a:cubicBezTo>
                  <a:close/>
                </a:path>
              </a:pathLst>
            </a:custGeom>
            <a:blipFill>
              <a:blip r:embed="rId2"/>
              <a:stretch>
                <a:fillRect t="-9970" b="-2345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itleMain">
            <a:extLst>
              <a:ext uri="{FF2B5EF4-FFF2-40B4-BE49-F238E27FC236}">
                <a16:creationId xmlns:a16="http://schemas.microsoft.com/office/drawing/2014/main" id="{86745B07-B4E2-497E-B4CA-4DB1FF258B67}"/>
              </a:ext>
            </a:extLst>
          </p:cNvPr>
          <p:cNvSpPr txBox="1"/>
          <p:nvPr/>
        </p:nvSpPr>
        <p:spPr>
          <a:xfrm>
            <a:off x="1589822" y="7235499"/>
            <a:ext cx="10906978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 dirty="0">
                <a:solidFill>
                  <a:srgbClr val="F8F0DE"/>
                </a:solidFill>
              </a:rPr>
              <a:t>THE AI EDGE F1 FANTASY PLATFORMS HAVE BEEN MISSING </a:t>
            </a:r>
            <a:endParaRPr lang="en-IN" sz="3200" b="1" dirty="0">
              <a:solidFill>
                <a:srgbClr val="F8F0DE"/>
              </a:solidFill>
            </a:endParaRPr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9B2EBA05-D488-43F2-AFEB-F57050ACC006}"/>
              </a:ext>
            </a:extLst>
          </p:cNvPr>
          <p:cNvSpPr txBox="1"/>
          <p:nvPr/>
        </p:nvSpPr>
        <p:spPr>
          <a:xfrm>
            <a:off x="1589822" y="7791232"/>
            <a:ext cx="11430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dirty="0"/>
              <a:t>AI-Powered Race Predictions for Fantasy Platform Operators</a:t>
            </a:r>
            <a:endParaRPr lang="en-IN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FE53561-55E6-4950-A8F6-D9018FCF73E9}"/>
              </a:ext>
            </a:extLst>
          </p:cNvPr>
          <p:cNvSpPr/>
          <p:nvPr/>
        </p:nvSpPr>
        <p:spPr>
          <a:xfrm>
            <a:off x="762000" y="635000"/>
            <a:ext cx="1016000" cy="635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C41CD7-6ECA-4C42-AA88-6FD8B26F2897}"/>
              </a:ext>
            </a:extLst>
          </p:cNvPr>
          <p:cNvSpPr txBox="1"/>
          <p:nvPr/>
        </p:nvSpPr>
        <p:spPr>
          <a:xfrm>
            <a:off x="762000" y="825500"/>
            <a:ext cx="7620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WHO WE BUILT THIS FOR</a:t>
            </a:r>
            <a:endParaRPr lang="en-IN" sz="3600" b="1">
              <a:solidFill>
                <a:srgbClr val="FFFFFF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B9978DE-6A3B-4926-BC01-CA111C26AA8C}"/>
              </a:ext>
            </a:extLst>
          </p:cNvPr>
          <p:cNvSpPr/>
          <p:nvPr/>
        </p:nvSpPr>
        <p:spPr>
          <a:xfrm>
            <a:off x="762000" y="1968500"/>
            <a:ext cx="7874000" cy="2603500"/>
          </a:xfrm>
          <a:prstGeom prst="roundRect">
            <a:avLst/>
          </a:prstGeom>
          <a:solidFill>
            <a:srgbClr val="1A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A8115C-6797-450D-86E2-E3830E566D48}"/>
              </a:ext>
            </a:extLst>
          </p:cNvPr>
          <p:cNvSpPr txBox="1"/>
          <p:nvPr/>
        </p:nvSpPr>
        <p:spPr>
          <a:xfrm>
            <a:off x="1016000" y="20955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E8000D"/>
                </a:solidFill>
              </a:rPr>
              <a:t>TARGET AUDIENCE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C3C0B-DC4B-49E8-8DD3-F8B64F441C92}"/>
              </a:ext>
            </a:extLst>
          </p:cNvPr>
          <p:cNvSpPr txBox="1"/>
          <p:nvPr/>
        </p:nvSpPr>
        <p:spPr>
          <a:xfrm>
            <a:off x="1016000" y="2476500"/>
            <a:ext cx="7366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</a:rPr>
              <a:t>Fantasy Platform Operators (B2B)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01A43E-5840-4423-9587-F0348C7590A4}"/>
              </a:ext>
            </a:extLst>
          </p:cNvPr>
          <p:cNvSpPr txBox="1"/>
          <p:nvPr/>
        </p:nvSpPr>
        <p:spPr>
          <a:xfrm>
            <a:off x="1016000" y="3022600"/>
            <a:ext cx="7366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CCCCCC"/>
                </a:solidFill>
              </a:rPr>
              <a:t>Platforms running F1 fantasy leagues that need risk management tools to set smarter payouts and protect their margins.</a:t>
            </a:r>
            <a:endParaRPr lang="en-IN" sz="1600">
              <a:solidFill>
                <a:srgbClr val="CCCCCC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BF8CA35-E7F1-4902-A102-F74E74482AB8}"/>
              </a:ext>
            </a:extLst>
          </p:cNvPr>
          <p:cNvSpPr/>
          <p:nvPr/>
        </p:nvSpPr>
        <p:spPr>
          <a:xfrm>
            <a:off x="762000" y="4826000"/>
            <a:ext cx="7874000" cy="2222500"/>
          </a:xfrm>
          <a:prstGeom prst="roundRect">
            <a:avLst/>
          </a:prstGeom>
          <a:solidFill>
            <a:srgbClr val="1A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9C756C-9505-4B06-935D-F0AF96C23F98}"/>
              </a:ext>
            </a:extLst>
          </p:cNvPr>
          <p:cNvSpPr txBox="1"/>
          <p:nvPr/>
        </p:nvSpPr>
        <p:spPr>
          <a:xfrm>
            <a:off x="1016000" y="49530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E8000D"/>
                </a:solidFill>
              </a:rPr>
              <a:t>TARGET AUDIENCE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0D78B4-6FCD-415A-A269-0255E67C7138}"/>
              </a:ext>
            </a:extLst>
          </p:cNvPr>
          <p:cNvSpPr txBox="1"/>
          <p:nvPr/>
        </p:nvSpPr>
        <p:spPr>
          <a:xfrm>
            <a:off x="1016000" y="5334000"/>
            <a:ext cx="7366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</a:rPr>
              <a:t>Data-Driven Sports Tech Companies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1B6E22-6319-4D5B-B0FB-F014B447F2CF}"/>
              </a:ext>
            </a:extLst>
          </p:cNvPr>
          <p:cNvSpPr txBox="1"/>
          <p:nvPr/>
        </p:nvSpPr>
        <p:spPr>
          <a:xfrm>
            <a:off x="1016000" y="5842000"/>
            <a:ext cx="7366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CCCCCC"/>
                </a:solidFill>
              </a:rPr>
              <a:t>Companies seeking AI prediction APIs for their sports platforms, betting analytics, or data products.</a:t>
            </a:r>
            <a:endParaRPr lang="en-IN" sz="1600">
              <a:solidFill>
                <a:srgbClr val="CCCCCC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689FAB-E834-4DC0-AF91-D8497D04CBCB}"/>
              </a:ext>
            </a:extLst>
          </p:cNvPr>
          <p:cNvSpPr txBox="1"/>
          <p:nvPr/>
        </p:nvSpPr>
        <p:spPr>
          <a:xfrm>
            <a:off x="762000" y="74930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E8000D"/>
                </a:solidFill>
              </a:rPr>
              <a:t>UNIQUE VALUE PROPOSITION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8A198B-7D5A-447C-A42C-CB3FDEAA774B}"/>
              </a:ext>
            </a:extLst>
          </p:cNvPr>
          <p:cNvSpPr/>
          <p:nvPr/>
        </p:nvSpPr>
        <p:spPr>
          <a:xfrm>
            <a:off x="762000" y="7848600"/>
            <a:ext cx="16764000" cy="254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5A1C3A-CF77-456E-9023-D2AF8FA7B36D}"/>
              </a:ext>
            </a:extLst>
          </p:cNvPr>
          <p:cNvSpPr txBox="1"/>
          <p:nvPr/>
        </p:nvSpPr>
        <p:spPr>
          <a:xfrm>
            <a:off x="762000" y="8001000"/>
            <a:ext cx="16764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FFFFFF"/>
                </a:solidFill>
              </a:rPr>
              <a:t>"Apexly gives fantasy platform operators AI-powered race predictions with confidence percentages so they can set smarter payouts and protect their margins every race weekend."</a:t>
            </a:r>
            <a:endParaRPr lang="en-IN" i="1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9455B4-3157-4173-AFE8-4360BEBDF97E}"/>
              </a:ext>
            </a:extLst>
          </p:cNvPr>
          <p:cNvSpPr/>
          <p:nvPr/>
        </p:nvSpPr>
        <p:spPr>
          <a:xfrm>
            <a:off x="9144000" y="1968500"/>
            <a:ext cx="63500" cy="50800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9E5104-C909-449D-ACFC-B1E3481AD6DC}"/>
              </a:ext>
            </a:extLst>
          </p:cNvPr>
          <p:cNvSpPr txBox="1"/>
          <p:nvPr/>
        </p:nvSpPr>
        <p:spPr>
          <a:xfrm>
            <a:off x="9779000" y="2286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800" b="1">
                <a:solidFill>
                  <a:srgbClr val="E8000D"/>
                </a:solidFill>
              </a:rPr>
              <a:t>B2B FIRST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81DA82-9F4F-44E9-B172-0220C927F803}"/>
              </a:ext>
            </a:extLst>
          </p:cNvPr>
          <p:cNvSpPr txBox="1"/>
          <p:nvPr/>
        </p:nvSpPr>
        <p:spPr>
          <a:xfrm>
            <a:off x="9779000" y="2857500"/>
            <a:ext cx="762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CCCCCC"/>
                </a:solidFill>
              </a:rPr>
              <a:t>We sell to platforms, not consumers. Fantasy operators are our customer.</a:t>
            </a:r>
            <a:endParaRPr lang="en-IN" sz="1600">
              <a:solidFill>
                <a:srgbClr val="CCCCCC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1B5B81-0D37-4204-AB0D-141551BCA1EB}"/>
              </a:ext>
            </a:extLst>
          </p:cNvPr>
          <p:cNvSpPr txBox="1"/>
          <p:nvPr/>
        </p:nvSpPr>
        <p:spPr>
          <a:xfrm>
            <a:off x="9779000" y="3937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800" b="1">
                <a:solidFill>
                  <a:srgbClr val="E8000D"/>
                </a:solidFill>
              </a:rPr>
              <a:t>RISK MANAGEMENT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24B31E-4912-4609-9D97-1940C1609CB1}"/>
              </a:ext>
            </a:extLst>
          </p:cNvPr>
          <p:cNvSpPr txBox="1"/>
          <p:nvPr/>
        </p:nvSpPr>
        <p:spPr>
          <a:xfrm>
            <a:off x="9779000" y="4508500"/>
            <a:ext cx="762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CCCCCC"/>
                </a:solidFill>
              </a:rPr>
              <a:t>Not just predictions — confidence percentages that power smarter payout structures.</a:t>
            </a:r>
            <a:endParaRPr lang="en-IN" sz="1600">
              <a:solidFill>
                <a:srgbClr val="CCCCCC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A33F41-9046-4AEB-9FBF-2D42754115F5}"/>
              </a:ext>
            </a:extLst>
          </p:cNvPr>
          <p:cNvSpPr txBox="1"/>
          <p:nvPr/>
        </p:nvSpPr>
        <p:spPr>
          <a:xfrm>
            <a:off x="9779000" y="5588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800" b="1">
                <a:solidFill>
                  <a:srgbClr val="E8000D"/>
                </a:solidFill>
              </a:rPr>
              <a:t>AI-POWERED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3E5D23-7271-4373-8F01-D0C8F2114A01}"/>
              </a:ext>
            </a:extLst>
          </p:cNvPr>
          <p:cNvSpPr txBox="1"/>
          <p:nvPr/>
        </p:nvSpPr>
        <p:spPr>
          <a:xfrm>
            <a:off x="9779000" y="6159500"/>
            <a:ext cx="762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CCCCCC"/>
                </a:solidFill>
              </a:rPr>
              <a:t>Dual-AI architecture analyzing 26,759+ historical records every race weekend.</a:t>
            </a:r>
            <a:endParaRPr lang="en-IN" sz="16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0EAF967-796B-498B-8814-881233B7935B}"/>
              </a:ext>
            </a:extLst>
          </p:cNvPr>
          <p:cNvSpPr/>
          <p:nvPr/>
        </p:nvSpPr>
        <p:spPr>
          <a:xfrm>
            <a:off x="762000" y="635000"/>
            <a:ext cx="1016000" cy="635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FB237-A177-4C3F-B334-85B924531D28}"/>
              </a:ext>
            </a:extLst>
          </p:cNvPr>
          <p:cNvSpPr txBox="1"/>
          <p:nvPr/>
        </p:nvSpPr>
        <p:spPr>
          <a:xfrm>
            <a:off x="762000" y="825500"/>
            <a:ext cx="8890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3600" b="1">
                <a:solidFill>
                  <a:srgbClr val="FFFFFF"/>
                </a:solidFill>
              </a:rPr>
              <a:t>WHAT APEXLY STANDS FOR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E2B694-B174-42B8-91F6-00D7AC1182D1}"/>
              </a:ext>
            </a:extLst>
          </p:cNvPr>
          <p:cNvSpPr txBox="1"/>
          <p:nvPr/>
        </p:nvSpPr>
        <p:spPr>
          <a:xfrm>
            <a:off x="762000" y="1524000"/>
            <a:ext cx="889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888888"/>
                </a:solidFill>
              </a:rPr>
              <a:t>Three brand pillars that define everything we build.</a:t>
            </a:r>
            <a:endParaRPr lang="en-IN">
              <a:solidFill>
                <a:srgbClr val="888888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05A16B-F8FE-4ECD-AF6F-F45EC0C0E732}"/>
              </a:ext>
            </a:extLst>
          </p:cNvPr>
          <p:cNvSpPr/>
          <p:nvPr/>
        </p:nvSpPr>
        <p:spPr>
          <a:xfrm>
            <a:off x="762000" y="2286000"/>
            <a:ext cx="5080000" cy="5334000"/>
          </a:xfrm>
          <a:prstGeom prst="roundRect">
            <a:avLst/>
          </a:prstGeom>
          <a:solidFill>
            <a:srgbClr val="1A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60F5E9-D380-4A8F-B02D-DB2781DF1A25}"/>
              </a:ext>
            </a:extLst>
          </p:cNvPr>
          <p:cNvSpPr txBox="1"/>
          <p:nvPr/>
        </p:nvSpPr>
        <p:spPr>
          <a:xfrm>
            <a:off x="1016000" y="2540000"/>
            <a:ext cx="1270000" cy="89255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5200" b="1">
                <a:solidFill>
                  <a:srgbClr val="E8000D"/>
                </a:solidFill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BE118E-5C31-4F92-AAE0-AE57934F93F9}"/>
              </a:ext>
            </a:extLst>
          </p:cNvPr>
          <p:cNvSpPr/>
          <p:nvPr/>
        </p:nvSpPr>
        <p:spPr>
          <a:xfrm>
            <a:off x="1016000" y="3556000"/>
            <a:ext cx="762000" cy="381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5755A9-5F0B-4701-9D57-F9643A9A6B01}"/>
              </a:ext>
            </a:extLst>
          </p:cNvPr>
          <p:cNvSpPr txBox="1"/>
          <p:nvPr/>
        </p:nvSpPr>
        <p:spPr>
          <a:xfrm>
            <a:off x="1016000" y="3810000"/>
            <a:ext cx="4572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400" b="1">
                <a:solidFill>
                  <a:srgbClr val="FFFFFF"/>
                </a:solidFill>
              </a:rPr>
              <a:t>PRECISION OVER
GUESSWORK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10563-A508-4468-8CB5-DBB3D7A2650E}"/>
              </a:ext>
            </a:extLst>
          </p:cNvPr>
          <p:cNvSpPr txBox="1"/>
          <p:nvPr/>
        </p:nvSpPr>
        <p:spPr>
          <a:xfrm>
            <a:off x="1016000" y="5143500"/>
            <a:ext cx="4572000" cy="7848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AAAAAA"/>
                </a:solidFill>
              </a:rPr>
              <a:t>Every prediction comes with a confidence percentage. No vague guesses — operators know exactly how sure the AI is, so they can calibrate payouts with precision.</a:t>
            </a:r>
            <a:endParaRPr lang="en-IN" sz="1500">
              <a:solidFill>
                <a:srgbClr val="AAAAAA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5BABA20-519D-42BF-8E06-1F8C390D8776}"/>
              </a:ext>
            </a:extLst>
          </p:cNvPr>
          <p:cNvSpPr/>
          <p:nvPr/>
        </p:nvSpPr>
        <p:spPr>
          <a:xfrm>
            <a:off x="6350000" y="2286000"/>
            <a:ext cx="5080000" cy="5334000"/>
          </a:xfrm>
          <a:prstGeom prst="roundRect">
            <a:avLst/>
          </a:prstGeom>
          <a:solidFill>
            <a:srgbClr val="1A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EEA2A1-23D8-436F-8AE0-C9C480F1D8AC}"/>
              </a:ext>
            </a:extLst>
          </p:cNvPr>
          <p:cNvSpPr txBox="1"/>
          <p:nvPr/>
        </p:nvSpPr>
        <p:spPr>
          <a:xfrm>
            <a:off x="6604000" y="2540000"/>
            <a:ext cx="1270000" cy="89255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5200" b="1">
                <a:solidFill>
                  <a:srgbClr val="E8000D"/>
                </a:solidFill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34506C-D434-4A86-9863-D8E000BAEF4F}"/>
              </a:ext>
            </a:extLst>
          </p:cNvPr>
          <p:cNvSpPr/>
          <p:nvPr/>
        </p:nvSpPr>
        <p:spPr>
          <a:xfrm>
            <a:off x="6604000" y="3556000"/>
            <a:ext cx="762000" cy="381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E22013-12F9-4D07-ABEB-1B51F9CB4CB3}"/>
              </a:ext>
            </a:extLst>
          </p:cNvPr>
          <p:cNvSpPr txBox="1"/>
          <p:nvPr/>
        </p:nvSpPr>
        <p:spPr>
          <a:xfrm>
            <a:off x="6604000" y="3810000"/>
            <a:ext cx="4572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400" b="1">
                <a:solidFill>
                  <a:srgbClr val="FFFFFF"/>
                </a:solidFill>
              </a:rPr>
              <a:t>DATA OVER
OPINION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4CE37A-4950-4CC6-A498-6548219E39AC}"/>
              </a:ext>
            </a:extLst>
          </p:cNvPr>
          <p:cNvSpPr txBox="1"/>
          <p:nvPr/>
        </p:nvSpPr>
        <p:spPr>
          <a:xfrm>
            <a:off x="6604000" y="5143500"/>
            <a:ext cx="4572000" cy="7848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AAAAAA"/>
                </a:solidFill>
              </a:rPr>
              <a:t>Built on 26,759+ historical F1 records, real-time telemetry, and sentiment analysis. Apexly doesn’t guess — it calculates using dual-AI architecture.</a:t>
            </a:r>
            <a:endParaRPr lang="en-IN" sz="1500">
              <a:solidFill>
                <a:srgbClr val="AAAAAA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47FDB84-0357-4ED7-BD92-BC0889231BD1}"/>
              </a:ext>
            </a:extLst>
          </p:cNvPr>
          <p:cNvSpPr/>
          <p:nvPr/>
        </p:nvSpPr>
        <p:spPr>
          <a:xfrm>
            <a:off x="11938000" y="2286000"/>
            <a:ext cx="5080000" cy="5334000"/>
          </a:xfrm>
          <a:prstGeom prst="roundRect">
            <a:avLst/>
          </a:prstGeom>
          <a:solidFill>
            <a:srgbClr val="1A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F9790D-7014-405D-99F2-2BBAE97E319E}"/>
              </a:ext>
            </a:extLst>
          </p:cNvPr>
          <p:cNvSpPr txBox="1"/>
          <p:nvPr/>
        </p:nvSpPr>
        <p:spPr>
          <a:xfrm>
            <a:off x="12192000" y="2540000"/>
            <a:ext cx="1270000" cy="89255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5200" b="1">
                <a:solidFill>
                  <a:srgbClr val="E8000D"/>
                </a:solidFill>
              </a:rPr>
              <a:t>03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C0249C-5225-4F18-AFD8-566D7FC0FAD8}"/>
              </a:ext>
            </a:extLst>
          </p:cNvPr>
          <p:cNvSpPr/>
          <p:nvPr/>
        </p:nvSpPr>
        <p:spPr>
          <a:xfrm>
            <a:off x="12192000" y="3556000"/>
            <a:ext cx="762000" cy="381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48DF23-30AD-49A7-A00D-0D93B8FF13F2}"/>
              </a:ext>
            </a:extLst>
          </p:cNvPr>
          <p:cNvSpPr txBox="1"/>
          <p:nvPr/>
        </p:nvSpPr>
        <p:spPr>
          <a:xfrm>
            <a:off x="12192000" y="3810000"/>
            <a:ext cx="4572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400" b="1">
                <a:solidFill>
                  <a:srgbClr val="FFFFFF"/>
                </a:solidFill>
              </a:rPr>
              <a:t>OPERATORS
FIRST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DE9E7E-06C2-407D-A67D-C6C692EF460B}"/>
              </a:ext>
            </a:extLst>
          </p:cNvPr>
          <p:cNvSpPr txBox="1"/>
          <p:nvPr/>
        </p:nvSpPr>
        <p:spPr>
          <a:xfrm>
            <a:off x="12192000" y="5143500"/>
            <a:ext cx="4572000" cy="7848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AAAAAA"/>
                </a:solidFill>
              </a:rPr>
              <a:t>We don’t build for fans. We build for the people who run fantasy platforms. Every feature serves B2B risk management and margin protection.</a:t>
            </a:r>
            <a:endParaRPr lang="en-IN" sz="1500">
              <a:solidFill>
                <a:srgbClr val="AAAAAA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18C764-1023-4F45-9DBC-192E06AC277F}"/>
              </a:ext>
            </a:extLst>
          </p:cNvPr>
          <p:cNvSpPr txBox="1"/>
          <p:nvPr/>
        </p:nvSpPr>
        <p:spPr>
          <a:xfrm>
            <a:off x="762000" y="8128000"/>
            <a:ext cx="16764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i="1">
                <a:solidFill>
                  <a:srgbClr val="E8000D"/>
                </a:solidFill>
              </a:rPr>
              <a:t>"We don’t predict for fun. We predict for profit."</a:t>
            </a:r>
            <a:endParaRPr lang="en-IN" sz="2000" i="1">
              <a:solidFill>
                <a:srgbClr val="E8000D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9799BA-B37E-4E40-BA19-21DEEE622533}"/>
              </a:ext>
            </a:extLst>
          </p:cNvPr>
          <p:cNvSpPr/>
          <p:nvPr/>
        </p:nvSpPr>
        <p:spPr>
          <a:xfrm>
            <a:off x="762000" y="8001000"/>
            <a:ext cx="16764000" cy="25400"/>
          </a:xfrm>
          <a:prstGeom prst="rect">
            <a:avLst/>
          </a:prstGeom>
          <a:solidFill>
            <a:srgbClr val="33333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E99E8B-456B-4BF3-992F-9E664D57EF7B}"/>
              </a:ext>
            </a:extLst>
          </p:cNvPr>
          <p:cNvSpPr/>
          <p:nvPr/>
        </p:nvSpPr>
        <p:spPr>
          <a:xfrm>
            <a:off x="762000" y="635000"/>
            <a:ext cx="1016000" cy="635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984044-2D6E-4C13-8CBA-C48029610E6E}"/>
              </a:ext>
            </a:extLst>
          </p:cNvPr>
          <p:cNvSpPr txBox="1"/>
          <p:nvPr/>
        </p:nvSpPr>
        <p:spPr>
          <a:xfrm>
            <a:off x="762000" y="825500"/>
            <a:ext cx="7620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3600" b="1">
                <a:solidFill>
                  <a:srgbClr val="FFFFFF"/>
                </a:solidFill>
              </a:rPr>
              <a:t>WHY APEXLY WINS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78EA1B5-3F1A-4E3C-8CC3-66623BC03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660724"/>
              </p:ext>
            </p:extLst>
          </p:nvPr>
        </p:nvGraphicFramePr>
        <p:xfrm>
          <a:off x="762000" y="1905000"/>
          <a:ext cx="1676400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000">
                  <a:extLst>
                    <a:ext uri="{9D8B030D-6E8A-4147-A177-3AD203B41FA5}">
                      <a16:colId xmlns:a16="http://schemas.microsoft.com/office/drawing/2014/main" val="4009434658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4177468401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1303332809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 anchor="ctr">
                    <a:solidFill>
                      <a:srgbClr val="E800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solidFill>
                            <a:srgbClr val="FFFFFF"/>
                          </a:solidFill>
                        </a:rPr>
                        <a:t>APEXLY</a:t>
                      </a:r>
                    </a:p>
                  </a:txBody>
                  <a:tcPr anchor="ctr">
                    <a:solidFill>
                      <a:srgbClr val="E800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solidFill>
                            <a:srgbClr val="FFFFFF"/>
                          </a:solidFill>
                        </a:rPr>
                        <a:t>COMPETITORS</a:t>
                      </a:r>
                    </a:p>
                  </a:txBody>
                  <a:tcPr anchor="ctr">
                    <a:solidFill>
                      <a:srgbClr val="E800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593159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IN" sz="1500" b="0">
                          <a:solidFill>
                            <a:srgbClr val="999999"/>
                          </a:solidFill>
                        </a:rPr>
                        <a:t>AI Architecture</a:t>
                      </a:r>
                    </a:p>
                  </a:txBody>
                  <a:tcPr anchor="ctr"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Dual-AI (GPT-4o-mini + ML)</a:t>
                      </a:r>
                    </a:p>
                  </a:txBody>
                  <a:tcPr anchor="ctr"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>
                          <a:solidFill>
                            <a:srgbClr val="999999"/>
                          </a:solidFill>
                        </a:rPr>
                        <a:t>Single model or none</a:t>
                      </a:r>
                    </a:p>
                  </a:txBody>
                  <a:tcPr anchor="ctr">
                    <a:solidFill>
                      <a:srgbClr val="14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633754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IN" sz="1500" b="0">
                          <a:solidFill>
                            <a:srgbClr val="999999"/>
                          </a:solidFill>
                        </a:rPr>
                        <a:t>Historical Data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26,759+ records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>
                          <a:solidFill>
                            <a:srgbClr val="999999"/>
                          </a:solidFill>
                        </a:rPr>
                        <a:t>Limited / no proprietary data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07583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IN" sz="1500" b="0">
                          <a:solidFill>
                            <a:srgbClr val="999999"/>
                          </a:solidFill>
                        </a:rPr>
                        <a:t>B2B Focus</a:t>
                      </a:r>
                    </a:p>
                  </a:txBody>
                  <a:tcPr anchor="ctr"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Built for operators</a:t>
                      </a:r>
                    </a:p>
                  </a:txBody>
                  <a:tcPr anchor="ctr"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>
                          <a:solidFill>
                            <a:srgbClr val="999999"/>
                          </a:solidFill>
                        </a:rPr>
                        <a:t>Consumer-facing tools</a:t>
                      </a:r>
                    </a:p>
                  </a:txBody>
                  <a:tcPr anchor="ctr">
                    <a:solidFill>
                      <a:srgbClr val="14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101137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IN" sz="1500" b="0">
                          <a:solidFill>
                            <a:srgbClr val="999999"/>
                          </a:solidFill>
                        </a:rPr>
                        <a:t>Confidence %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Every prediction scored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>
                          <a:solidFill>
                            <a:srgbClr val="999999"/>
                          </a:solidFill>
                        </a:rPr>
                        <a:t>Binary predictions only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253405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lang="en-IN" sz="1500" b="0">
                          <a:solidFill>
                            <a:srgbClr val="999999"/>
                          </a:solidFill>
                        </a:rPr>
                        <a:t>Real-Time Data</a:t>
                      </a:r>
                    </a:p>
                  </a:txBody>
                  <a:tcPr anchor="ctr"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OpenF1 API + RSS feeds</a:t>
                      </a:r>
                    </a:p>
                  </a:txBody>
                  <a:tcPr anchor="ctr"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0">
                          <a:solidFill>
                            <a:srgbClr val="999999"/>
                          </a:solidFill>
                        </a:rPr>
                        <a:t>Static or delayed data</a:t>
                      </a:r>
                    </a:p>
                  </a:txBody>
                  <a:tcPr anchor="ctr">
                    <a:solidFill>
                      <a:srgbClr val="14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23492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0B54738-8792-42E4-8CB6-E3637CFBC900}"/>
              </a:ext>
            </a:extLst>
          </p:cNvPr>
          <p:cNvSpPr txBox="1"/>
          <p:nvPr/>
        </p:nvSpPr>
        <p:spPr>
          <a:xfrm>
            <a:off x="762000" y="8255000"/>
            <a:ext cx="16764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E8000D"/>
                </a:solidFill>
              </a:rPr>
              <a:t>"We’re not competing with fan tools. We’re the only B2B prediction engine in the space."</a:t>
            </a:r>
            <a:endParaRPr lang="en-IN" i="1">
              <a:solidFill>
                <a:srgbClr val="E8000D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2443478-F663-49AD-995B-595305A13ED3}"/>
              </a:ext>
            </a:extLst>
          </p:cNvPr>
          <p:cNvSpPr/>
          <p:nvPr/>
        </p:nvSpPr>
        <p:spPr>
          <a:xfrm>
            <a:off x="17018000" y="825500"/>
            <a:ext cx="508000" cy="508000"/>
          </a:xfrm>
          <a:prstGeom prst="ellipse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E54B434-62E3-4903-A54A-9A3718C31787}"/>
              </a:ext>
            </a:extLst>
          </p:cNvPr>
          <p:cNvSpPr/>
          <p:nvPr/>
        </p:nvSpPr>
        <p:spPr>
          <a:xfrm>
            <a:off x="762000" y="635000"/>
            <a:ext cx="1016000" cy="635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A08A6E-2F01-492C-AA41-A6B98650CF6D}"/>
              </a:ext>
            </a:extLst>
          </p:cNvPr>
          <p:cNvSpPr txBox="1"/>
          <p:nvPr/>
        </p:nvSpPr>
        <p:spPr>
          <a:xfrm>
            <a:off x="762000" y="825500"/>
            <a:ext cx="8890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3600" b="1">
                <a:solidFill>
                  <a:srgbClr val="FFFFFF"/>
                </a:solidFill>
              </a:rPr>
              <a:t>THE APEXLY BRAND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520328-4CCD-4DB4-8B81-BC7E95A81738}"/>
              </a:ext>
            </a:extLst>
          </p:cNvPr>
          <p:cNvSpPr txBox="1"/>
          <p:nvPr/>
        </p:nvSpPr>
        <p:spPr>
          <a:xfrm>
            <a:off x="762000" y="18415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E8000D"/>
                </a:solidFill>
              </a:rPr>
              <a:t>COLOR PALETTE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B2230B6-A116-4066-B9AE-0F4DF4CC049A}"/>
              </a:ext>
            </a:extLst>
          </p:cNvPr>
          <p:cNvSpPr/>
          <p:nvPr/>
        </p:nvSpPr>
        <p:spPr>
          <a:xfrm>
            <a:off x="762000" y="2286000"/>
            <a:ext cx="5016500" cy="1905000"/>
          </a:xfrm>
          <a:prstGeom prst="roundRect">
            <a:avLst/>
          </a:prstGeom>
          <a:solidFill>
            <a:srgbClr val="0D0D0D"/>
          </a:solidFill>
          <a:ln w="12700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BAE539-6066-46E9-ACEA-42D96A38EE68}"/>
              </a:ext>
            </a:extLst>
          </p:cNvPr>
          <p:cNvSpPr txBox="1"/>
          <p:nvPr/>
        </p:nvSpPr>
        <p:spPr>
          <a:xfrm>
            <a:off x="1016000" y="2476500"/>
            <a:ext cx="4508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</a:rPr>
              <a:t>APEX BLACK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6CB268-40CD-4D14-8363-3007CDB403D5}"/>
              </a:ext>
            </a:extLst>
          </p:cNvPr>
          <p:cNvSpPr txBox="1"/>
          <p:nvPr/>
        </p:nvSpPr>
        <p:spPr>
          <a:xfrm>
            <a:off x="1016000" y="3556000"/>
            <a:ext cx="4508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000">
                <a:solidFill>
                  <a:srgbClr val="888888"/>
                </a:solidFill>
              </a:rPr>
              <a:t>#0D0D0D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7BCA2C6-FFA5-44D2-8CC4-0FE2F08CD01C}"/>
              </a:ext>
            </a:extLst>
          </p:cNvPr>
          <p:cNvSpPr/>
          <p:nvPr/>
        </p:nvSpPr>
        <p:spPr>
          <a:xfrm>
            <a:off x="6032500" y="2286000"/>
            <a:ext cx="5016500" cy="1905000"/>
          </a:xfrm>
          <a:prstGeom prst="round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F1B2B6-E9FE-4ECB-A1D0-0D26DF5690B9}"/>
              </a:ext>
            </a:extLst>
          </p:cNvPr>
          <p:cNvSpPr txBox="1"/>
          <p:nvPr/>
        </p:nvSpPr>
        <p:spPr>
          <a:xfrm>
            <a:off x="6286500" y="2476500"/>
            <a:ext cx="4508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</a:rPr>
              <a:t>FERRARI RED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258E4B-4566-4727-B2FE-AEF5FC743C87}"/>
              </a:ext>
            </a:extLst>
          </p:cNvPr>
          <p:cNvSpPr txBox="1"/>
          <p:nvPr/>
        </p:nvSpPr>
        <p:spPr>
          <a:xfrm>
            <a:off x="6286500" y="3556000"/>
            <a:ext cx="4508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000">
                <a:solidFill>
                  <a:srgbClr val="FFFFFF"/>
                </a:solidFill>
              </a:rPr>
              <a:t>#E8000D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8CF2105-D3A8-4459-9215-A4447D4412A9}"/>
              </a:ext>
            </a:extLst>
          </p:cNvPr>
          <p:cNvSpPr/>
          <p:nvPr/>
        </p:nvSpPr>
        <p:spPr>
          <a:xfrm>
            <a:off x="11303000" y="2286000"/>
            <a:ext cx="5016500" cy="1905000"/>
          </a:xfrm>
          <a:prstGeom prst="roundRect">
            <a:avLst/>
          </a:prstGeom>
          <a:solidFill>
            <a:srgbClr val="1A1A2E"/>
          </a:solidFill>
          <a:ln w="12700" cap="flat" cmpd="sng" algn="ctr">
            <a:solidFill>
              <a:srgbClr val="33335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395E4E-F9C8-437F-BF48-8F651EB018AD}"/>
              </a:ext>
            </a:extLst>
          </p:cNvPr>
          <p:cNvSpPr txBox="1"/>
          <p:nvPr/>
        </p:nvSpPr>
        <p:spPr>
          <a:xfrm>
            <a:off x="11557000" y="2476500"/>
            <a:ext cx="4508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</a:rPr>
              <a:t>MIDNIGHT NAVY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53344B-0F08-4BEF-B8A5-B72BD8D457B2}"/>
              </a:ext>
            </a:extLst>
          </p:cNvPr>
          <p:cNvSpPr txBox="1"/>
          <p:nvPr/>
        </p:nvSpPr>
        <p:spPr>
          <a:xfrm>
            <a:off x="11557000" y="3556000"/>
            <a:ext cx="4508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000">
                <a:solidFill>
                  <a:srgbClr val="888888"/>
                </a:solidFill>
              </a:rPr>
              <a:t>#1A1A2E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44106C-0BC5-4D74-BF2E-ECAAF4A26A1A}"/>
              </a:ext>
            </a:extLst>
          </p:cNvPr>
          <p:cNvSpPr txBox="1"/>
          <p:nvPr/>
        </p:nvSpPr>
        <p:spPr>
          <a:xfrm>
            <a:off x="762000" y="46355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E8000D"/>
                </a:solidFill>
              </a:rPr>
              <a:t>TYPOGRAPHY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1B7EFE5-8DCD-4E9B-9FB6-4351659F98EE}"/>
              </a:ext>
            </a:extLst>
          </p:cNvPr>
          <p:cNvSpPr/>
          <p:nvPr/>
        </p:nvSpPr>
        <p:spPr>
          <a:xfrm>
            <a:off x="762000" y="5080000"/>
            <a:ext cx="5016500" cy="2413000"/>
          </a:xfrm>
          <a:prstGeom prst="roundRect">
            <a:avLst/>
          </a:prstGeom>
          <a:solidFill>
            <a:srgbClr val="1A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3DA44F-6729-4131-BA53-8083C60BFC37}"/>
              </a:ext>
            </a:extLst>
          </p:cNvPr>
          <p:cNvSpPr txBox="1"/>
          <p:nvPr/>
        </p:nvSpPr>
        <p:spPr>
          <a:xfrm>
            <a:off x="1016000" y="52705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4400" b="1">
                <a:solidFill>
                  <a:srgbClr val="E8000D"/>
                </a:solidFill>
              </a:rPr>
              <a:t>Aa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1F4EE3-3E23-4098-9F70-B829B6C1891D}"/>
              </a:ext>
            </a:extLst>
          </p:cNvPr>
          <p:cNvSpPr txBox="1"/>
          <p:nvPr/>
        </p:nvSpPr>
        <p:spPr>
          <a:xfrm>
            <a:off x="1016000" y="6159500"/>
            <a:ext cx="4508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</a:rPr>
              <a:t>RAJDHANI BOLD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93C14-7D7D-4A79-9970-E7B4E07FC839}"/>
              </a:ext>
            </a:extLst>
          </p:cNvPr>
          <p:cNvSpPr txBox="1"/>
          <p:nvPr/>
        </p:nvSpPr>
        <p:spPr>
          <a:xfrm>
            <a:off x="1016000" y="6604000"/>
            <a:ext cx="4508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>
                <a:solidFill>
                  <a:srgbClr val="888888"/>
                </a:solidFill>
              </a:rPr>
              <a:t>Headlines &amp; Titles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36D582F-FD55-49D6-8946-264D01DEFFB9}"/>
              </a:ext>
            </a:extLst>
          </p:cNvPr>
          <p:cNvSpPr/>
          <p:nvPr/>
        </p:nvSpPr>
        <p:spPr>
          <a:xfrm>
            <a:off x="6032500" y="5080000"/>
            <a:ext cx="5016500" cy="2413000"/>
          </a:xfrm>
          <a:prstGeom prst="roundRect">
            <a:avLst/>
          </a:prstGeom>
          <a:solidFill>
            <a:srgbClr val="1A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6437A2-E3BB-4A02-A3D5-2C0FFBE7E59B}"/>
              </a:ext>
            </a:extLst>
          </p:cNvPr>
          <p:cNvSpPr txBox="1"/>
          <p:nvPr/>
        </p:nvSpPr>
        <p:spPr>
          <a:xfrm>
            <a:off x="6286500" y="52705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4400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3B7ABD-16F2-436D-9475-401DF1EB3994}"/>
              </a:ext>
            </a:extLst>
          </p:cNvPr>
          <p:cNvSpPr txBox="1"/>
          <p:nvPr/>
        </p:nvSpPr>
        <p:spPr>
          <a:xfrm>
            <a:off x="6286500" y="6159500"/>
            <a:ext cx="4508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</a:rPr>
              <a:t>INTER REGULAR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73E70F-697C-443C-8306-401C9ABCE9C7}"/>
              </a:ext>
            </a:extLst>
          </p:cNvPr>
          <p:cNvSpPr txBox="1"/>
          <p:nvPr/>
        </p:nvSpPr>
        <p:spPr>
          <a:xfrm>
            <a:off x="6286500" y="6604000"/>
            <a:ext cx="4508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>
                <a:solidFill>
                  <a:srgbClr val="888888"/>
                </a:solidFill>
              </a:rPr>
              <a:t>Body &amp; Descriptions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8E5D5D5-FE3E-4F99-8C1C-AA14864A5C1F}"/>
              </a:ext>
            </a:extLst>
          </p:cNvPr>
          <p:cNvSpPr/>
          <p:nvPr/>
        </p:nvSpPr>
        <p:spPr>
          <a:xfrm>
            <a:off x="11303000" y="5080000"/>
            <a:ext cx="5016500" cy="2413000"/>
          </a:xfrm>
          <a:prstGeom prst="roundRect">
            <a:avLst/>
          </a:prstGeom>
          <a:solidFill>
            <a:srgbClr val="1A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E09E03-7A7A-448B-947B-BF846229810B}"/>
              </a:ext>
            </a:extLst>
          </p:cNvPr>
          <p:cNvSpPr txBox="1"/>
          <p:nvPr/>
        </p:nvSpPr>
        <p:spPr>
          <a:xfrm>
            <a:off x="11557000" y="5270500"/>
            <a:ext cx="127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4400" b="1">
                <a:solidFill>
                  <a:srgbClr val="E8000D"/>
                </a:solidFill>
              </a:rPr>
              <a:t>Aa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D85057-3F7C-49CC-BF1F-E23D7ABC8AD2}"/>
              </a:ext>
            </a:extLst>
          </p:cNvPr>
          <p:cNvSpPr txBox="1"/>
          <p:nvPr/>
        </p:nvSpPr>
        <p:spPr>
          <a:xfrm>
            <a:off x="11557000" y="6159500"/>
            <a:ext cx="4508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</a:rPr>
              <a:t>ORBITRON BOLD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F30305-A50A-47A3-A2DF-80307EB302A0}"/>
              </a:ext>
            </a:extLst>
          </p:cNvPr>
          <p:cNvSpPr txBox="1"/>
          <p:nvPr/>
        </p:nvSpPr>
        <p:spPr>
          <a:xfrm>
            <a:off x="11557000" y="6604000"/>
            <a:ext cx="4508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>
                <a:solidFill>
                  <a:srgbClr val="888888"/>
                </a:solidFill>
              </a:rPr>
              <a:t>Data &amp; Metrics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CC7F7F-DCF4-42C3-8922-EE732271E3A0}"/>
              </a:ext>
            </a:extLst>
          </p:cNvPr>
          <p:cNvSpPr txBox="1"/>
          <p:nvPr/>
        </p:nvSpPr>
        <p:spPr>
          <a:xfrm>
            <a:off x="762000" y="8001000"/>
            <a:ext cx="16764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666666"/>
                </a:solidFill>
              </a:rPr>
              <a:t>Built for speed. Built for trust. Every visual choice signals precision and authority.</a:t>
            </a:r>
            <a:endParaRPr lang="en-IN" i="1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72A6AA7-A35E-4ED3-A868-B318A3140F8E}"/>
              </a:ext>
            </a:extLst>
          </p:cNvPr>
          <p:cNvSpPr/>
          <p:nvPr/>
        </p:nvSpPr>
        <p:spPr>
          <a:xfrm>
            <a:off x="762000" y="635000"/>
            <a:ext cx="1016000" cy="635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800B5-8158-4563-A1EF-A83F572EDD31}"/>
              </a:ext>
            </a:extLst>
          </p:cNvPr>
          <p:cNvSpPr txBox="1"/>
          <p:nvPr/>
        </p:nvSpPr>
        <p:spPr>
          <a:xfrm>
            <a:off x="762000" y="825500"/>
            <a:ext cx="8890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3600" b="1">
                <a:solidFill>
                  <a:srgbClr val="FFFFFF"/>
                </a:solidFill>
              </a:rPr>
              <a:t>BUILT AND DEPLOYED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6AA368-45C9-41E6-8C4A-6307A9055128}"/>
              </a:ext>
            </a:extLst>
          </p:cNvPr>
          <p:cNvSpPr txBox="1"/>
          <p:nvPr/>
        </p:nvSpPr>
        <p:spPr>
          <a:xfrm>
            <a:off x="762000" y="1498600"/>
            <a:ext cx="8890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888888"/>
                </a:solidFill>
              </a:rPr>
              <a:t>Four live platforms. Shipped, not slideware.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CF8B1DC-3F60-4B29-9CB3-84E5C9157F9D}"/>
              </a:ext>
            </a:extLst>
          </p:cNvPr>
          <p:cNvSpPr/>
          <p:nvPr/>
        </p:nvSpPr>
        <p:spPr>
          <a:xfrm>
            <a:off x="762000" y="2032000"/>
            <a:ext cx="8064500" cy="1778000"/>
          </a:xfrm>
          <a:prstGeom prst="roundRect">
            <a:avLst/>
          </a:prstGeom>
          <a:solidFill>
            <a:srgbClr val="1A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B4742E-1EC8-4DF4-A0D7-0F6A1CE34BCA}"/>
              </a:ext>
            </a:extLst>
          </p:cNvPr>
          <p:cNvSpPr txBox="1"/>
          <p:nvPr/>
        </p:nvSpPr>
        <p:spPr>
          <a:xfrm>
            <a:off x="952500" y="2184400"/>
            <a:ext cx="6985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3800" b="1">
                <a:solidFill>
                  <a:srgbClr val="E8000D"/>
                </a:solidFill>
              </a:rPr>
              <a:t>01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692B53-69B1-447E-895F-45A67F85D52F}"/>
              </a:ext>
            </a:extLst>
          </p:cNvPr>
          <p:cNvSpPr txBox="1"/>
          <p:nvPr/>
        </p:nvSpPr>
        <p:spPr>
          <a:xfrm>
            <a:off x="1778000" y="2184400"/>
            <a:ext cx="3175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E8000D"/>
                </a:solidFill>
              </a:rPr>
              <a:t>MARKETING WEBSITE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BBA8C2-057F-4371-9F96-6C7E5FA1EAB0}"/>
              </a:ext>
            </a:extLst>
          </p:cNvPr>
          <p:cNvSpPr txBox="1"/>
          <p:nvPr/>
        </p:nvSpPr>
        <p:spPr>
          <a:xfrm>
            <a:off x="1778000" y="2514600"/>
            <a:ext cx="5080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800" b="1">
                <a:solidFill>
                  <a:srgbClr val="FFFFFF"/>
                </a:solidFill>
              </a:rPr>
              <a:t>Apexly Marketing Site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599ACD-A0FF-44DF-96AE-EE2DC88E0625}"/>
              </a:ext>
            </a:extLst>
          </p:cNvPr>
          <p:cNvSpPr txBox="1"/>
          <p:nvPr/>
        </p:nvSpPr>
        <p:spPr>
          <a:xfrm>
            <a:off x="1778000" y="2895600"/>
            <a:ext cx="6858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AAAAAA"/>
                </a:solidFill>
              </a:rPr>
              <a:t>Brand landing page built with Next.js. Communicates UVP, showcases predictions, captures B2B leads.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7F8432-8040-4F38-99C8-D99C0AAAC12A}"/>
              </a:ext>
            </a:extLst>
          </p:cNvPr>
          <p:cNvSpPr txBox="1"/>
          <p:nvPr/>
        </p:nvSpPr>
        <p:spPr>
          <a:xfrm>
            <a:off x="1778000" y="3403600"/>
            <a:ext cx="635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100">
                <a:solidFill>
                  <a:srgbClr val="E8000D"/>
                </a:solidFill>
              </a:rPr>
              <a:t>v0-apexly-marketing-website.vercel.app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1DDD668-BE1A-488E-ABD0-9DFCDDB75061}"/>
              </a:ext>
            </a:extLst>
          </p:cNvPr>
          <p:cNvSpPr/>
          <p:nvPr/>
        </p:nvSpPr>
        <p:spPr>
          <a:xfrm>
            <a:off x="9461500" y="2032000"/>
            <a:ext cx="8064500" cy="1778000"/>
          </a:xfrm>
          <a:prstGeom prst="roundRect">
            <a:avLst/>
          </a:prstGeom>
          <a:solidFill>
            <a:srgbClr val="1A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15F3CE-300A-4567-A3C7-0BE12ED7732F}"/>
              </a:ext>
            </a:extLst>
          </p:cNvPr>
          <p:cNvSpPr txBox="1"/>
          <p:nvPr/>
        </p:nvSpPr>
        <p:spPr>
          <a:xfrm>
            <a:off x="9652000" y="2184400"/>
            <a:ext cx="6985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3800" b="1">
                <a:solidFill>
                  <a:srgbClr val="E8000D"/>
                </a:solidFill>
              </a:rPr>
              <a:t>02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A7A730-DCE2-4C16-ACF6-A5C0F8C0326D}"/>
              </a:ext>
            </a:extLst>
          </p:cNvPr>
          <p:cNvSpPr txBox="1"/>
          <p:nvPr/>
        </p:nvSpPr>
        <p:spPr>
          <a:xfrm>
            <a:off x="10477500" y="2184400"/>
            <a:ext cx="3175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E8000D"/>
                </a:solidFill>
              </a:rPr>
              <a:t>LIVE PREDICTION DEMO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F7260B-A6C6-45CE-B70C-02E5B14C1256}"/>
              </a:ext>
            </a:extLst>
          </p:cNvPr>
          <p:cNvSpPr txBox="1"/>
          <p:nvPr/>
        </p:nvSpPr>
        <p:spPr>
          <a:xfrm>
            <a:off x="10477500" y="2514600"/>
            <a:ext cx="5080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800" b="1">
                <a:solidFill>
                  <a:srgbClr val="FFFFFF"/>
                </a:solidFill>
              </a:rPr>
              <a:t>Apexly Prediction Engine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1758F4-615A-4738-B0FE-757A6BE0ECAC}"/>
              </a:ext>
            </a:extLst>
          </p:cNvPr>
          <p:cNvSpPr txBox="1"/>
          <p:nvPr/>
        </p:nvSpPr>
        <p:spPr>
          <a:xfrm>
            <a:off x="10477500" y="2895600"/>
            <a:ext cx="6858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AAAAAA"/>
                </a:solidFill>
              </a:rPr>
              <a:t>Hugging Face deployment. Real-time F1 predictions with confidence percentages and risk assessments.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D962E5-0B9C-4674-BF81-89CA97B940AD}"/>
              </a:ext>
            </a:extLst>
          </p:cNvPr>
          <p:cNvSpPr txBox="1"/>
          <p:nvPr/>
        </p:nvSpPr>
        <p:spPr>
          <a:xfrm>
            <a:off x="10477500" y="3403600"/>
            <a:ext cx="635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100">
                <a:solidFill>
                  <a:srgbClr val="E8000D"/>
                </a:solidFill>
              </a:rPr>
              <a:t>harshvinay-apexly-prediction.hf.space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9EE09B8-280E-4E00-81A1-0801595CD6D5}"/>
              </a:ext>
            </a:extLst>
          </p:cNvPr>
          <p:cNvSpPr/>
          <p:nvPr/>
        </p:nvSpPr>
        <p:spPr>
          <a:xfrm>
            <a:off x="762000" y="4064000"/>
            <a:ext cx="8064500" cy="1778000"/>
          </a:xfrm>
          <a:prstGeom prst="roundRect">
            <a:avLst/>
          </a:prstGeom>
          <a:solidFill>
            <a:srgbClr val="1A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0A0137-6075-4E46-A741-0E308737ED59}"/>
              </a:ext>
            </a:extLst>
          </p:cNvPr>
          <p:cNvSpPr txBox="1"/>
          <p:nvPr/>
        </p:nvSpPr>
        <p:spPr>
          <a:xfrm>
            <a:off x="952500" y="4216400"/>
            <a:ext cx="6985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3800" b="1">
                <a:solidFill>
                  <a:srgbClr val="E8000D"/>
                </a:solidFill>
              </a:rPr>
              <a:t>03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FF4E52-7A21-4586-A428-D1A33B1068C8}"/>
              </a:ext>
            </a:extLst>
          </p:cNvPr>
          <p:cNvSpPr txBox="1"/>
          <p:nvPr/>
        </p:nvSpPr>
        <p:spPr>
          <a:xfrm>
            <a:off x="1778000" y="4216400"/>
            <a:ext cx="3175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E8000D"/>
                </a:solidFill>
              </a:rPr>
              <a:t>LINKEDIN PRESENCE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9C7D2-5FDF-4629-BECF-6801ADD295E7}"/>
              </a:ext>
            </a:extLst>
          </p:cNvPr>
          <p:cNvSpPr txBox="1"/>
          <p:nvPr/>
        </p:nvSpPr>
        <p:spPr>
          <a:xfrm>
            <a:off x="1778000" y="4546600"/>
            <a:ext cx="5080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800" b="1">
                <a:solidFill>
                  <a:srgbClr val="FFFFFF"/>
                </a:solidFill>
              </a:rPr>
              <a:t>Why I Stopped Building for F1 Fans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AF3CA5-5E99-4FCB-9CC4-724D14B471C5}"/>
              </a:ext>
            </a:extLst>
          </p:cNvPr>
          <p:cNvSpPr txBox="1"/>
          <p:nvPr/>
        </p:nvSpPr>
        <p:spPr>
          <a:xfrm>
            <a:off x="1778000" y="4927600"/>
            <a:ext cx="6858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AAAAAA"/>
                </a:solidFill>
              </a:rPr>
              <a:t>Published article on the pivot from fan tool to B2B platform. Thought leadership establishing Apexly’s strategic positioning.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232317-EB8D-4899-B6FE-A4E6BA21B1CB}"/>
              </a:ext>
            </a:extLst>
          </p:cNvPr>
          <p:cNvSpPr txBox="1"/>
          <p:nvPr/>
        </p:nvSpPr>
        <p:spPr>
          <a:xfrm>
            <a:off x="1778000" y="5435600"/>
            <a:ext cx="6350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100">
                <a:solidFill>
                  <a:srgbClr val="E8000D"/>
                </a:solidFill>
              </a:rPr>
              <a:t>linkedin.com/in/harshvinay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CE778F-9284-4BFB-A40E-760B5D16FDC5}"/>
              </a:ext>
            </a:extLst>
          </p:cNvPr>
          <p:cNvSpPr/>
          <p:nvPr/>
        </p:nvSpPr>
        <p:spPr>
          <a:xfrm>
            <a:off x="0" y="9652000"/>
            <a:ext cx="18288000" cy="6350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454BCC-75E0-4EA7-AC0C-44665C0981E2}"/>
              </a:ext>
            </a:extLst>
          </p:cNvPr>
          <p:cNvSpPr txBox="1"/>
          <p:nvPr/>
        </p:nvSpPr>
        <p:spPr>
          <a:xfrm>
            <a:off x="2540000" y="9715500"/>
            <a:ext cx="13208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ALL PLATFORMS LIVE AND ACCESSIBLE NOW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61500" y="4064000"/>
            <a:ext cx="8064500" cy="177800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652000" y="4216400"/>
            <a:ext cx="698500" cy="571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IN" sz="3800" b="1">
                <a:solidFill>
                  <a:srgbClr val="E8000D"/>
                </a:solidFill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77500" y="42164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IN" sz="1400" b="1">
                <a:solidFill>
                  <a:srgbClr val="E8000D"/>
                </a:solidFill>
              </a:rPr>
              <a:t>CONTENT PLATFORM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77500" y="45085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IN" sz="1800" b="1">
                <a:solidFill>
                  <a:srgbClr val="FFFFFF"/>
                </a:solidFill>
              </a:rPr>
              <a:t>Apexly Insights (Substack)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77500" y="4864100"/>
            <a:ext cx="685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200">
                <a:solidFill>
                  <a:srgbClr val="AAAAAA"/>
                </a:solidFill>
              </a:rPr>
              <a:t>Race weekend previews, prediction breakdowns, and behind-the-scenes AI development. Building audience and thought leadership.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77500" y="5435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IN" sz="1100">
                <a:solidFill>
                  <a:srgbClr val="E8000D"/>
                </a:solidFill>
              </a:rPr>
              <a:t>harshvinay.substack.com</a:t>
            </a:r>
          </a:p>
        </p:txBody>
      </p:sp>
    </p:spTree>
    <p:extLst>
      <p:ext uri="{BB962C8B-B14F-4D97-AF65-F5344CB8AC3E}">
        <p14:creationId xmlns:p14="http://schemas.microsoft.com/office/powerpoint/2010/main" val="2964016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ccent"/>
          <p:cNvSpPr/>
          <p:nvPr/>
        </p:nvSpPr>
        <p:spPr>
          <a:xfrm>
            <a:off x="762000" y="635000"/>
            <a:ext cx="1016000" cy="63500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IN"/>
          </a:p>
        </p:txBody>
      </p:sp>
      <p:sp>
        <p:nvSpPr>
          <p:cNvPr id="13" name="Title"/>
          <p:cNvSpPr/>
          <p:nvPr/>
        </p:nvSpPr>
        <p:spPr>
          <a:xfrm>
            <a:off x="762000" y="825500"/>
            <a:ext cx="13970000" cy="571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BRAND NARRATIVE FRAMEWORKS</a:t>
            </a:r>
          </a:p>
        </p:txBody>
      </p:sp>
      <p:sp>
        <p:nvSpPr>
          <p:cNvPr id="14" name="Subtitle"/>
          <p:cNvSpPr/>
          <p:nvPr/>
        </p:nvSpPr>
        <p:spPr>
          <a:xfrm>
            <a:off x="762000" y="1422400"/>
            <a:ext cx="1016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400" dirty="0">
                <a:solidFill>
                  <a:srgbClr val="888888"/>
                </a:solidFill>
              </a:rPr>
              <a:t>Two complementary stories that position Apexly for different audiences</a:t>
            </a:r>
          </a:p>
        </p:txBody>
      </p:sp>
      <p:sp>
        <p:nvSpPr>
          <p:cNvPr id="101" name="S1 Bg"/>
          <p:cNvSpPr/>
          <p:nvPr/>
        </p:nvSpPr>
        <p:spPr>
          <a:xfrm>
            <a:off x="762000" y="1968500"/>
            <a:ext cx="8128000" cy="70485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IN"/>
          </a:p>
        </p:txBody>
      </p:sp>
      <p:sp>
        <p:nvSpPr>
          <p:cNvPr id="102" name="S1 Label"/>
          <p:cNvSpPr/>
          <p:nvPr/>
        </p:nvSpPr>
        <p:spPr>
          <a:xfrm>
            <a:off x="1016000" y="21590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100" b="1" dirty="0">
                <a:solidFill>
                  <a:srgbClr val="E8000D"/>
                </a:solidFill>
              </a:rPr>
              <a:t>STORY 1: THE QUEST</a:t>
            </a:r>
          </a:p>
        </p:txBody>
      </p:sp>
      <p:sp>
        <p:nvSpPr>
          <p:cNvPr id="103" name="S1 Title"/>
          <p:cNvSpPr/>
          <p:nvPr/>
        </p:nvSpPr>
        <p:spPr>
          <a:xfrm>
            <a:off x="1016000" y="24765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800" b="1" dirty="0">
                <a:solidFill>
                  <a:srgbClr val="FFFFFF"/>
                </a:solidFill>
              </a:rPr>
              <a:t>From Fan Tool to B2B Platform</a:t>
            </a:r>
          </a:p>
        </p:txBody>
      </p:sp>
      <p:sp>
        <p:nvSpPr>
          <p:cNvPr id="110" name="S1 Dot"/>
          <p:cNvSpPr/>
          <p:nvPr/>
        </p:nvSpPr>
        <p:spPr>
          <a:xfrm>
            <a:off x="1079500" y="3048000"/>
            <a:ext cx="152400" cy="152400"/>
          </a:xfrm>
          <a:prstGeom prst="ellipse">
            <a:avLst/>
          </a:prstGeom>
          <a:solidFill>
            <a:srgbClr val="E8000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IN"/>
          </a:p>
        </p:txBody>
      </p:sp>
      <p:sp>
        <p:nvSpPr>
          <p:cNvPr id="111" name="S1 StepT"/>
          <p:cNvSpPr/>
          <p:nvPr/>
        </p:nvSpPr>
        <p:spPr>
          <a:xfrm>
            <a:off x="1371600" y="30099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200" b="1" dirty="0">
                <a:solidFill>
                  <a:srgbClr val="E8000D"/>
                </a:solidFill>
              </a:rPr>
              <a:t>THE SPARK</a:t>
            </a:r>
          </a:p>
        </p:txBody>
      </p:sp>
      <p:sp>
        <p:nvSpPr>
          <p:cNvPr id="112" name="S1 StepD"/>
          <p:cNvSpPr/>
          <p:nvPr/>
        </p:nvSpPr>
        <p:spPr>
          <a:xfrm>
            <a:off x="1371600" y="3276600"/>
            <a:ext cx="7137400" cy="69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100" dirty="0">
                <a:solidFill>
                  <a:srgbClr val="CCCCCC"/>
                </a:solidFill>
              </a:rPr>
              <a:t>Started building an F1 prediction model as a passion project — analyzing lap times, tire strategies, and weather data.</a:t>
            </a:r>
          </a:p>
        </p:txBody>
      </p:sp>
      <p:sp>
        <p:nvSpPr>
          <p:cNvPr id="113" name="S1 Dot"/>
          <p:cNvSpPr/>
          <p:nvPr/>
        </p:nvSpPr>
        <p:spPr>
          <a:xfrm>
            <a:off x="1079500" y="4191000"/>
            <a:ext cx="152400" cy="152400"/>
          </a:xfrm>
          <a:prstGeom prst="ellipse">
            <a:avLst/>
          </a:prstGeom>
          <a:solidFill>
            <a:srgbClr val="E8000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IN"/>
          </a:p>
        </p:txBody>
      </p:sp>
      <p:sp>
        <p:nvSpPr>
          <p:cNvPr id="114" name="S1 StepT"/>
          <p:cNvSpPr/>
          <p:nvPr/>
        </p:nvSpPr>
        <p:spPr>
          <a:xfrm>
            <a:off x="1371600" y="41529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200" b="1" dirty="0">
                <a:solidFill>
                  <a:srgbClr val="E8000D"/>
                </a:solidFill>
              </a:rPr>
              <a:t>THE DISCOVERY</a:t>
            </a:r>
          </a:p>
        </p:txBody>
      </p:sp>
      <p:sp>
        <p:nvSpPr>
          <p:cNvPr id="115" name="S1 StepD"/>
          <p:cNvSpPr/>
          <p:nvPr/>
        </p:nvSpPr>
        <p:spPr>
          <a:xfrm>
            <a:off x="1371600" y="4419600"/>
            <a:ext cx="7137400" cy="69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100" dirty="0">
                <a:solidFill>
                  <a:srgbClr val="CCCCCC"/>
                </a:solidFill>
              </a:rPr>
              <a:t>Discovered that fantasy platform operators had zero risk management tools. Payouts set on gut feel, not data.</a:t>
            </a:r>
          </a:p>
        </p:txBody>
      </p:sp>
      <p:sp>
        <p:nvSpPr>
          <p:cNvPr id="116" name="S1 Dot"/>
          <p:cNvSpPr/>
          <p:nvPr/>
        </p:nvSpPr>
        <p:spPr>
          <a:xfrm>
            <a:off x="1079500" y="5334000"/>
            <a:ext cx="152400" cy="152400"/>
          </a:xfrm>
          <a:prstGeom prst="ellipse">
            <a:avLst/>
          </a:prstGeom>
          <a:solidFill>
            <a:srgbClr val="E8000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IN"/>
          </a:p>
        </p:txBody>
      </p:sp>
      <p:sp>
        <p:nvSpPr>
          <p:cNvPr id="117" name="S1 StepT"/>
          <p:cNvSpPr/>
          <p:nvPr/>
        </p:nvSpPr>
        <p:spPr>
          <a:xfrm>
            <a:off x="1371600" y="52959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200" b="1" dirty="0">
                <a:solidFill>
                  <a:srgbClr val="E8000D"/>
                </a:solidFill>
              </a:rPr>
              <a:t>THE PIVOT</a:t>
            </a:r>
          </a:p>
        </p:txBody>
      </p:sp>
      <p:sp>
        <p:nvSpPr>
          <p:cNvPr id="118" name="S1 StepD"/>
          <p:cNvSpPr/>
          <p:nvPr/>
        </p:nvSpPr>
        <p:spPr>
          <a:xfrm>
            <a:off x="1371600" y="5562600"/>
            <a:ext cx="7137400" cy="69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100" dirty="0">
                <a:solidFill>
                  <a:srgbClr val="CCCCCC"/>
                </a:solidFill>
              </a:rPr>
              <a:t>Shifted from fan tool to B2B product. Added confidence percentages, operator dashboards, and API access.</a:t>
            </a:r>
          </a:p>
        </p:txBody>
      </p:sp>
      <p:sp>
        <p:nvSpPr>
          <p:cNvPr id="119" name="S1 Dot"/>
          <p:cNvSpPr/>
          <p:nvPr/>
        </p:nvSpPr>
        <p:spPr>
          <a:xfrm>
            <a:off x="1079500" y="6477000"/>
            <a:ext cx="152400" cy="152400"/>
          </a:xfrm>
          <a:prstGeom prst="ellipse">
            <a:avLst/>
          </a:prstGeom>
          <a:solidFill>
            <a:srgbClr val="E8000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IN"/>
          </a:p>
        </p:txBody>
      </p:sp>
      <p:sp>
        <p:nvSpPr>
          <p:cNvPr id="120" name="S1 StepT"/>
          <p:cNvSpPr/>
          <p:nvPr/>
        </p:nvSpPr>
        <p:spPr>
          <a:xfrm>
            <a:off x="1371600" y="64389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200" b="1" dirty="0">
                <a:solidFill>
                  <a:srgbClr val="E8000D"/>
                </a:solidFill>
              </a:rPr>
              <a:t>THE MISSION</a:t>
            </a:r>
          </a:p>
        </p:txBody>
      </p:sp>
      <p:sp>
        <p:nvSpPr>
          <p:cNvPr id="121" name="S1 StepD"/>
          <p:cNvSpPr/>
          <p:nvPr/>
        </p:nvSpPr>
        <p:spPr>
          <a:xfrm>
            <a:off x="1371600" y="6705600"/>
            <a:ext cx="7137400" cy="69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100" dirty="0">
                <a:solidFill>
                  <a:srgbClr val="CCCCCC"/>
                </a:solidFill>
              </a:rPr>
              <a:t>Apexly was born — the AI prediction engine that gives operators the edge. We predict for profit.</a:t>
            </a:r>
          </a:p>
        </p:txBody>
      </p:sp>
      <p:sp>
        <p:nvSpPr>
          <p:cNvPr id="130" name="S1 Line"/>
          <p:cNvSpPr/>
          <p:nvPr/>
        </p:nvSpPr>
        <p:spPr>
          <a:xfrm>
            <a:off x="1143000" y="3200400"/>
            <a:ext cx="25400" cy="3429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IN"/>
          </a:p>
        </p:txBody>
      </p:sp>
      <p:sp>
        <p:nvSpPr>
          <p:cNvPr id="131" name="S1 Quote"/>
          <p:cNvSpPr/>
          <p:nvPr/>
        </p:nvSpPr>
        <p:spPr>
          <a:xfrm>
            <a:off x="1016000" y="76835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100" i="1" dirty="0">
                <a:solidFill>
                  <a:srgbClr val="666666"/>
                </a:solidFill>
              </a:rPr>
              <a:t>“Every great brand starts with a problem nobody else is solving.”</a:t>
            </a:r>
          </a:p>
        </p:txBody>
      </p:sp>
      <p:sp>
        <p:nvSpPr>
          <p:cNvPr id="201" name="S2 Bg"/>
          <p:cNvSpPr/>
          <p:nvPr/>
        </p:nvSpPr>
        <p:spPr>
          <a:xfrm>
            <a:off x="9398000" y="1968500"/>
            <a:ext cx="8128000" cy="70485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IN"/>
          </a:p>
        </p:txBody>
      </p:sp>
      <p:sp>
        <p:nvSpPr>
          <p:cNvPr id="202" name="S2 Label"/>
          <p:cNvSpPr/>
          <p:nvPr/>
        </p:nvSpPr>
        <p:spPr>
          <a:xfrm>
            <a:off x="9652000" y="2159000"/>
            <a:ext cx="444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100" b="1" dirty="0">
                <a:solidFill>
                  <a:srgbClr val="E8000D"/>
                </a:solidFill>
              </a:rPr>
              <a:t>STORY 2: OVERCOMING THE MONSTER</a:t>
            </a:r>
          </a:p>
        </p:txBody>
      </p:sp>
      <p:sp>
        <p:nvSpPr>
          <p:cNvPr id="203" name="S2 Title"/>
          <p:cNvSpPr/>
          <p:nvPr/>
        </p:nvSpPr>
        <p:spPr>
          <a:xfrm>
            <a:off x="9652000" y="24765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800" b="1" dirty="0">
                <a:solidFill>
                  <a:srgbClr val="FFFFFF"/>
                </a:solidFill>
              </a:rPr>
              <a:t>A Platform Operator’s Journey</a:t>
            </a:r>
          </a:p>
        </p:txBody>
      </p:sp>
      <p:sp>
        <p:nvSpPr>
          <p:cNvPr id="210" name="S2 Dot"/>
          <p:cNvSpPr/>
          <p:nvPr/>
        </p:nvSpPr>
        <p:spPr>
          <a:xfrm>
            <a:off x="9715500" y="3048000"/>
            <a:ext cx="152400" cy="152400"/>
          </a:xfrm>
          <a:prstGeom prst="ellipse">
            <a:avLst/>
          </a:prstGeom>
          <a:solidFill>
            <a:srgbClr val="E8000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IN"/>
          </a:p>
        </p:txBody>
      </p:sp>
      <p:sp>
        <p:nvSpPr>
          <p:cNvPr id="211" name="S2 StepT"/>
          <p:cNvSpPr/>
          <p:nvPr/>
        </p:nvSpPr>
        <p:spPr>
          <a:xfrm>
            <a:off x="10007600" y="30099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200" b="1" dirty="0">
                <a:solidFill>
                  <a:srgbClr val="E8000D"/>
                </a:solidFill>
              </a:rPr>
              <a:t>THE MONSTER</a:t>
            </a:r>
          </a:p>
        </p:txBody>
      </p:sp>
      <p:sp>
        <p:nvSpPr>
          <p:cNvPr id="212" name="S2 StepD"/>
          <p:cNvSpPr/>
          <p:nvPr/>
        </p:nvSpPr>
        <p:spPr>
          <a:xfrm>
            <a:off x="10007600" y="3276600"/>
            <a:ext cx="7137400" cy="69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100" dirty="0">
                <a:solidFill>
                  <a:srgbClr val="CCCCCC"/>
                </a:solidFill>
              </a:rPr>
              <a:t>A fantasy platform operator faces margin losses every race weekend. Payouts are unpredictable, risk unmanaged.</a:t>
            </a:r>
          </a:p>
        </p:txBody>
      </p:sp>
      <p:sp>
        <p:nvSpPr>
          <p:cNvPr id="213" name="S2 Dot"/>
          <p:cNvSpPr/>
          <p:nvPr/>
        </p:nvSpPr>
        <p:spPr>
          <a:xfrm>
            <a:off x="9715500" y="4191000"/>
            <a:ext cx="152400" cy="152400"/>
          </a:xfrm>
          <a:prstGeom prst="ellipse">
            <a:avLst/>
          </a:prstGeom>
          <a:solidFill>
            <a:srgbClr val="E8000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IN"/>
          </a:p>
        </p:txBody>
      </p:sp>
      <p:sp>
        <p:nvSpPr>
          <p:cNvPr id="214" name="S2 StepT"/>
          <p:cNvSpPr/>
          <p:nvPr/>
        </p:nvSpPr>
        <p:spPr>
          <a:xfrm>
            <a:off x="10007600" y="41529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200" b="1" dirty="0">
                <a:solidFill>
                  <a:srgbClr val="E8000D"/>
                </a:solidFill>
              </a:rPr>
              <a:t>THE STRUGGLE</a:t>
            </a:r>
          </a:p>
        </p:txBody>
      </p:sp>
      <p:sp>
        <p:nvSpPr>
          <p:cNvPr id="215" name="S2 StepD"/>
          <p:cNvSpPr/>
          <p:nvPr/>
        </p:nvSpPr>
        <p:spPr>
          <a:xfrm>
            <a:off x="10007600" y="4419600"/>
            <a:ext cx="7137400" cy="69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100" dirty="0">
                <a:solidFill>
                  <a:srgbClr val="CCCCCC"/>
                </a:solidFill>
              </a:rPr>
              <a:t>Tried manual odds-setting, hired analysts, built in-house models. Nothing worked at race-weekend speed.</a:t>
            </a:r>
          </a:p>
        </p:txBody>
      </p:sp>
      <p:sp>
        <p:nvSpPr>
          <p:cNvPr id="216" name="S2 Dot"/>
          <p:cNvSpPr/>
          <p:nvPr/>
        </p:nvSpPr>
        <p:spPr>
          <a:xfrm>
            <a:off x="9715500" y="5334000"/>
            <a:ext cx="152400" cy="152400"/>
          </a:xfrm>
          <a:prstGeom prst="ellipse">
            <a:avLst/>
          </a:prstGeom>
          <a:solidFill>
            <a:srgbClr val="E8000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IN"/>
          </a:p>
        </p:txBody>
      </p:sp>
      <p:sp>
        <p:nvSpPr>
          <p:cNvPr id="217" name="S2 StepT"/>
          <p:cNvSpPr/>
          <p:nvPr/>
        </p:nvSpPr>
        <p:spPr>
          <a:xfrm>
            <a:off x="10007600" y="52959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200" b="1" dirty="0">
                <a:solidFill>
                  <a:srgbClr val="E8000D"/>
                </a:solidFill>
              </a:rPr>
              <a:t>THE WEAPON</a:t>
            </a:r>
          </a:p>
        </p:txBody>
      </p:sp>
      <p:sp>
        <p:nvSpPr>
          <p:cNvPr id="218" name="S2 StepD"/>
          <p:cNvSpPr/>
          <p:nvPr/>
        </p:nvSpPr>
        <p:spPr>
          <a:xfrm>
            <a:off x="10007600" y="5562600"/>
            <a:ext cx="7137400" cy="69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100" dirty="0">
                <a:solidFill>
                  <a:srgbClr val="CCCCCC"/>
                </a:solidFill>
              </a:rPr>
              <a:t>Discovers Apexly — AI-powered confidence percentages and real-time risk scoring. Integrates via API before the next GP.</a:t>
            </a:r>
          </a:p>
        </p:txBody>
      </p:sp>
      <p:sp>
        <p:nvSpPr>
          <p:cNvPr id="219" name="S2 Dot"/>
          <p:cNvSpPr/>
          <p:nvPr/>
        </p:nvSpPr>
        <p:spPr>
          <a:xfrm>
            <a:off x="9715500" y="6477000"/>
            <a:ext cx="152400" cy="152400"/>
          </a:xfrm>
          <a:prstGeom prst="ellipse">
            <a:avLst/>
          </a:prstGeom>
          <a:solidFill>
            <a:srgbClr val="E8000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IN"/>
          </a:p>
        </p:txBody>
      </p:sp>
      <p:sp>
        <p:nvSpPr>
          <p:cNvPr id="220" name="S2 StepT"/>
          <p:cNvSpPr/>
          <p:nvPr/>
        </p:nvSpPr>
        <p:spPr>
          <a:xfrm>
            <a:off x="10007600" y="64389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200" b="1" dirty="0">
                <a:solidFill>
                  <a:srgbClr val="E8000D"/>
                </a:solidFill>
              </a:rPr>
              <a:t>THE VICTORY</a:t>
            </a:r>
          </a:p>
        </p:txBody>
      </p:sp>
      <p:sp>
        <p:nvSpPr>
          <p:cNvPr id="221" name="S2 StepD"/>
          <p:cNvSpPr/>
          <p:nvPr/>
        </p:nvSpPr>
        <p:spPr>
          <a:xfrm>
            <a:off x="10007600" y="6705600"/>
            <a:ext cx="7137400" cy="69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100" dirty="0">
                <a:solidFill>
                  <a:srgbClr val="CCCCCC"/>
                </a:solidFill>
              </a:rPr>
              <a:t>Margins protected. Race weekends become profit centers. The monster of unpredictability is slain with data.</a:t>
            </a:r>
          </a:p>
        </p:txBody>
      </p:sp>
      <p:sp>
        <p:nvSpPr>
          <p:cNvPr id="230" name="S2 Line"/>
          <p:cNvSpPr/>
          <p:nvPr/>
        </p:nvSpPr>
        <p:spPr>
          <a:xfrm>
            <a:off x="9779000" y="3200400"/>
            <a:ext cx="25400" cy="3429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IN"/>
          </a:p>
        </p:txBody>
      </p:sp>
      <p:sp>
        <p:nvSpPr>
          <p:cNvPr id="231" name="S2 Quote"/>
          <p:cNvSpPr/>
          <p:nvPr/>
        </p:nvSpPr>
        <p:spPr>
          <a:xfrm>
            <a:off x="9652000" y="76835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sz="1100" i="1" dirty="0">
                <a:solidFill>
                  <a:srgbClr val="666666"/>
                </a:solidFill>
              </a:rPr>
              <a:t>“The monster isn’t the competition. It’s the margin you lose every weekend without the right data.”</a:t>
            </a:r>
          </a:p>
        </p:txBody>
      </p:sp>
      <p:sp>
        <p:nvSpPr>
          <p:cNvPr id="250" name="Footer Bar"/>
          <p:cNvSpPr/>
          <p:nvPr/>
        </p:nvSpPr>
        <p:spPr>
          <a:xfrm>
            <a:off x="0" y="9652000"/>
            <a:ext cx="18288000" cy="635000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IN"/>
          </a:p>
        </p:txBody>
      </p:sp>
      <p:sp>
        <p:nvSpPr>
          <p:cNvPr id="251" name="Footer Text"/>
          <p:cNvSpPr/>
          <p:nvPr/>
        </p:nvSpPr>
        <p:spPr>
          <a:xfrm>
            <a:off x="2540000" y="9715500"/>
            <a:ext cx="13208000" cy="444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ORIGIN STORY + USE CASE: TWO LENSES, ONE BRAND</a:t>
            </a:r>
          </a:p>
        </p:txBody>
      </p:sp>
    </p:spTree>
    <p:extLst>
      <p:ext uri="{BB962C8B-B14F-4D97-AF65-F5344CB8AC3E}">
        <p14:creationId xmlns:p14="http://schemas.microsoft.com/office/powerpoint/2010/main" val="3190385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8720BA20-736E-4850-A8E5-23124AD5531D}"/>
              </a:ext>
            </a:extLst>
          </p:cNvPr>
          <p:cNvSpPr/>
          <p:nvPr/>
        </p:nvSpPr>
        <p:spPr>
          <a:xfrm>
            <a:off x="762000" y="635000"/>
            <a:ext cx="1016000" cy="635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E7CA6F-86AB-440D-A0E0-BB35E81B6123}"/>
              </a:ext>
            </a:extLst>
          </p:cNvPr>
          <p:cNvSpPr txBox="1"/>
          <p:nvPr/>
        </p:nvSpPr>
        <p:spPr>
          <a:xfrm>
            <a:off x="762000" y="825500"/>
            <a:ext cx="7620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3600" b="1">
                <a:solidFill>
                  <a:srgbClr val="FFFFFF"/>
                </a:solidFill>
              </a:rPr>
              <a:t>APEXLY IN ACTION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36B6F0E-6783-4CF6-A6C0-A1F041D95DC4}"/>
              </a:ext>
            </a:extLst>
          </p:cNvPr>
          <p:cNvSpPr/>
          <p:nvPr/>
        </p:nvSpPr>
        <p:spPr>
          <a:xfrm>
            <a:off x="762000" y="1587500"/>
            <a:ext cx="3302000" cy="508000"/>
          </a:xfrm>
          <a:prstGeom prst="round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LIVE DEMO — 4 MINUTES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19B6ECF-4E6A-4CC5-BF87-46D37E55C17E}"/>
              </a:ext>
            </a:extLst>
          </p:cNvPr>
          <p:cNvSpPr/>
          <p:nvPr/>
        </p:nvSpPr>
        <p:spPr>
          <a:xfrm>
            <a:off x="762000" y="2540000"/>
            <a:ext cx="5080000" cy="4445000"/>
          </a:xfrm>
          <a:prstGeom prst="roundRect">
            <a:avLst/>
          </a:prstGeom>
          <a:solidFill>
            <a:srgbClr val="1A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CFF09D-C182-4C9A-9DEC-9F2974928FEA}"/>
              </a:ext>
            </a:extLst>
          </p:cNvPr>
          <p:cNvSpPr txBox="1"/>
          <p:nvPr/>
        </p:nvSpPr>
        <p:spPr>
          <a:xfrm>
            <a:off x="1016000" y="2794000"/>
            <a:ext cx="1270000" cy="80021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4600" b="1">
                <a:solidFill>
                  <a:srgbClr val="E8000D"/>
                </a:solidFill>
              </a:rPr>
              <a:t>01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2A7765-72A8-493C-9298-74359E4F8435}"/>
              </a:ext>
            </a:extLst>
          </p:cNvPr>
          <p:cNvSpPr/>
          <p:nvPr/>
        </p:nvSpPr>
        <p:spPr>
          <a:xfrm>
            <a:off x="1016000" y="3657600"/>
            <a:ext cx="762000" cy="381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1A7C84-0DAE-49B6-81F5-E30E2A22834B}"/>
              </a:ext>
            </a:extLst>
          </p:cNvPr>
          <p:cNvSpPr txBox="1"/>
          <p:nvPr/>
        </p:nvSpPr>
        <p:spPr>
          <a:xfrm>
            <a:off x="1016000" y="3873500"/>
            <a:ext cx="45720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</a:rPr>
              <a:t>REAL-TIME PREDICTION
GENERATION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C0EB96-3B3B-4FF2-9D25-188F45195135}"/>
              </a:ext>
            </a:extLst>
          </p:cNvPr>
          <p:cNvSpPr txBox="1"/>
          <p:nvPr/>
        </p:nvSpPr>
        <p:spPr>
          <a:xfrm>
            <a:off x="1016000" y="5016500"/>
            <a:ext cx="4572000" cy="7848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AAAAAA"/>
                </a:solidFill>
              </a:rPr>
              <a:t>Watch the AI analyze live race data and generate driver finishing position predictions in real time. Powered by GPT-4o-mini and OpenF1 API.</a:t>
            </a:r>
            <a:endParaRPr lang="en-IN" sz="1500">
              <a:solidFill>
                <a:srgbClr val="AAAAAA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F7297B2-E16B-4955-8B7B-0E80220CD976}"/>
              </a:ext>
            </a:extLst>
          </p:cNvPr>
          <p:cNvSpPr/>
          <p:nvPr/>
        </p:nvSpPr>
        <p:spPr>
          <a:xfrm>
            <a:off x="6350000" y="2540000"/>
            <a:ext cx="5080000" cy="4445000"/>
          </a:xfrm>
          <a:prstGeom prst="roundRect">
            <a:avLst/>
          </a:prstGeom>
          <a:solidFill>
            <a:srgbClr val="1A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944FE9-BF3F-48C4-9FA7-68876D0686A2}"/>
              </a:ext>
            </a:extLst>
          </p:cNvPr>
          <p:cNvSpPr txBox="1"/>
          <p:nvPr/>
        </p:nvSpPr>
        <p:spPr>
          <a:xfrm>
            <a:off x="6604000" y="2794000"/>
            <a:ext cx="1270000" cy="80021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4600" b="1">
                <a:solidFill>
                  <a:srgbClr val="E8000D"/>
                </a:solidFill>
              </a:rPr>
              <a:t>02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8135B33-60E4-4AEA-9558-A5B2C08B0EF0}"/>
              </a:ext>
            </a:extLst>
          </p:cNvPr>
          <p:cNvSpPr/>
          <p:nvPr/>
        </p:nvSpPr>
        <p:spPr>
          <a:xfrm>
            <a:off x="6604000" y="3657600"/>
            <a:ext cx="762000" cy="381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C94F4A-55FE-4AE5-A32B-DAA5F475CBBC}"/>
              </a:ext>
            </a:extLst>
          </p:cNvPr>
          <p:cNvSpPr txBox="1"/>
          <p:nvPr/>
        </p:nvSpPr>
        <p:spPr>
          <a:xfrm>
            <a:off x="6604000" y="3873500"/>
            <a:ext cx="45720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</a:rPr>
              <a:t>CONFIDENCE
PERCENTAGES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4AE5AC-ED48-470E-8EDE-EC3B85C32F7F}"/>
              </a:ext>
            </a:extLst>
          </p:cNvPr>
          <p:cNvSpPr txBox="1"/>
          <p:nvPr/>
        </p:nvSpPr>
        <p:spPr>
          <a:xfrm>
            <a:off x="6604000" y="5016500"/>
            <a:ext cx="4572000" cy="7848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AAAAAA"/>
                </a:solidFill>
              </a:rPr>
              <a:t>Every prediction includes a confidence score. Operators see exactly how certain the model is — not just who wins, but how sure we are.</a:t>
            </a:r>
            <a:endParaRPr lang="en-IN" sz="1500">
              <a:solidFill>
                <a:srgbClr val="AAAAAA"/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4A1EF3D-EF99-4D79-9B05-952D1AB8AF88}"/>
              </a:ext>
            </a:extLst>
          </p:cNvPr>
          <p:cNvSpPr/>
          <p:nvPr/>
        </p:nvSpPr>
        <p:spPr>
          <a:xfrm>
            <a:off x="11938000" y="2540000"/>
            <a:ext cx="5080000" cy="4445000"/>
          </a:xfrm>
          <a:prstGeom prst="roundRect">
            <a:avLst/>
          </a:prstGeom>
          <a:solidFill>
            <a:srgbClr val="1A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64BB45-B64C-42D5-BD3B-9348469D9708}"/>
              </a:ext>
            </a:extLst>
          </p:cNvPr>
          <p:cNvSpPr txBox="1"/>
          <p:nvPr/>
        </p:nvSpPr>
        <p:spPr>
          <a:xfrm>
            <a:off x="12192000" y="2794000"/>
            <a:ext cx="1270000" cy="80021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4600" b="1">
                <a:solidFill>
                  <a:srgbClr val="E8000D"/>
                </a:solidFill>
              </a:rPr>
              <a:t>03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191971D-4AF6-4A6B-BFBD-18D2ADA11BDD}"/>
              </a:ext>
            </a:extLst>
          </p:cNvPr>
          <p:cNvSpPr/>
          <p:nvPr/>
        </p:nvSpPr>
        <p:spPr>
          <a:xfrm>
            <a:off x="12192000" y="3657600"/>
            <a:ext cx="762000" cy="381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8617C2-B01F-4DA7-A684-BE5E328F66FD}"/>
              </a:ext>
            </a:extLst>
          </p:cNvPr>
          <p:cNvSpPr txBox="1"/>
          <p:nvPr/>
        </p:nvSpPr>
        <p:spPr>
          <a:xfrm>
            <a:off x="12192000" y="3873500"/>
            <a:ext cx="4572000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</a:rPr>
              <a:t>RISK ASSESSMENT
FOR OPERATORS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5A730C-36C7-40A9-8FD7-2D2562E0DD0C}"/>
              </a:ext>
            </a:extLst>
          </p:cNvPr>
          <p:cNvSpPr txBox="1"/>
          <p:nvPr/>
        </p:nvSpPr>
        <p:spPr>
          <a:xfrm>
            <a:off x="12192000" y="5016500"/>
            <a:ext cx="4572000" cy="7848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AAAAAA"/>
                </a:solidFill>
              </a:rPr>
              <a:t>Translate predictions into actionable risk data. Fantasy platform operators see which payouts are safe and which need adjustment.</a:t>
            </a:r>
            <a:endParaRPr lang="en-IN" sz="1500">
              <a:solidFill>
                <a:srgbClr val="AAAAAA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CAC6470-60D7-40CB-AB48-D113ED9782B0}"/>
              </a:ext>
            </a:extLst>
          </p:cNvPr>
          <p:cNvSpPr/>
          <p:nvPr/>
        </p:nvSpPr>
        <p:spPr>
          <a:xfrm>
            <a:off x="3810000" y="7620000"/>
            <a:ext cx="10668000" cy="635000"/>
          </a:xfrm>
          <a:prstGeom prst="roundRect">
            <a:avLst/>
          </a:prstGeom>
          <a:solidFill>
            <a:srgbClr val="1A1A2E"/>
          </a:solidFill>
          <a:ln w="25400" cap="flat" cmpd="sng" algn="ctr">
            <a:solidFill>
              <a:srgbClr val="E8000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9DD451B-6EBA-4BCC-8308-171620F788F2}"/>
              </a:ext>
            </a:extLst>
          </p:cNvPr>
          <p:cNvSpPr txBox="1"/>
          <p:nvPr/>
        </p:nvSpPr>
        <p:spPr>
          <a:xfrm>
            <a:off x="4064000" y="7708900"/>
            <a:ext cx="1016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200" b="1">
                <a:solidFill>
                  <a:srgbClr val="E8000D"/>
                </a:solidFill>
              </a:rPr>
              <a:t>harshvinay-apexly-prediction.hf.space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FDED0F-3662-4ED1-8279-C14C0DDF0283}"/>
              </a:ext>
            </a:extLst>
          </p:cNvPr>
          <p:cNvSpPr txBox="1"/>
          <p:nvPr/>
        </p:nvSpPr>
        <p:spPr>
          <a:xfrm>
            <a:off x="762000" y="8763000"/>
            <a:ext cx="16764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666666"/>
                </a:solidFill>
              </a:rPr>
              <a:t>"See it work. That’s the best pitch we can make."</a:t>
            </a:r>
            <a:endParaRPr lang="en-IN" i="1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704973C-A102-4BB8-9653-6716E0E9BD76}"/>
              </a:ext>
            </a:extLst>
          </p:cNvPr>
          <p:cNvSpPr/>
          <p:nvPr/>
        </p:nvSpPr>
        <p:spPr>
          <a:xfrm>
            <a:off x="762000" y="635000"/>
            <a:ext cx="1016000" cy="635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19184F-5012-4481-BA23-E05EAB91A32E}"/>
              </a:ext>
            </a:extLst>
          </p:cNvPr>
          <p:cNvSpPr txBox="1"/>
          <p:nvPr/>
        </p:nvSpPr>
        <p:spPr>
          <a:xfrm>
            <a:off x="762000" y="825500"/>
            <a:ext cx="8890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3600" b="1">
                <a:solidFill>
                  <a:srgbClr val="FFFFFF"/>
                </a:solidFill>
              </a:rPr>
              <a:t>THE AI BEHIND APEXLY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3DD2FE-A0D2-4753-9962-07A8F923DF73}"/>
              </a:ext>
            </a:extLst>
          </p:cNvPr>
          <p:cNvSpPr txBox="1"/>
          <p:nvPr/>
        </p:nvSpPr>
        <p:spPr>
          <a:xfrm>
            <a:off x="762000" y="14986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b="1">
                <a:solidFill>
                  <a:srgbClr val="E8000D"/>
                </a:solidFill>
              </a:rPr>
              <a:t>Dual-AI Architecture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2CD3BD3-88AC-4C44-A645-DF9B80BB6B63}"/>
              </a:ext>
            </a:extLst>
          </p:cNvPr>
          <p:cNvSpPr/>
          <p:nvPr/>
        </p:nvSpPr>
        <p:spPr>
          <a:xfrm>
            <a:off x="762000" y="2159000"/>
            <a:ext cx="8128000" cy="3619500"/>
          </a:xfrm>
          <a:prstGeom prst="roundRect">
            <a:avLst/>
          </a:prstGeom>
          <a:solidFill>
            <a:srgbClr val="1A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1D2689-DB56-4A18-804F-6D92032C55F8}"/>
              </a:ext>
            </a:extLst>
          </p:cNvPr>
          <p:cNvSpPr txBox="1"/>
          <p:nvPr/>
        </p:nvSpPr>
        <p:spPr>
          <a:xfrm>
            <a:off x="1016000" y="2286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E8000D"/>
                </a:solidFill>
              </a:rPr>
              <a:t>AI ENGINE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2EE63F-0386-49A6-8FE9-ABBE6F33E85E}"/>
              </a:ext>
            </a:extLst>
          </p:cNvPr>
          <p:cNvSpPr txBox="1"/>
          <p:nvPr/>
        </p:nvSpPr>
        <p:spPr>
          <a:xfrm>
            <a:off x="1016000" y="2667000"/>
            <a:ext cx="762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800" b="1">
                <a:solidFill>
                  <a:srgbClr val="FFFFFF"/>
                </a:solidFill>
              </a:rPr>
              <a:t>GPT-4o-mini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110581-C356-4DF0-90C9-BF63FFEBA509}"/>
              </a:ext>
            </a:extLst>
          </p:cNvPr>
          <p:cNvSpPr txBox="1"/>
          <p:nvPr/>
        </p:nvSpPr>
        <p:spPr>
          <a:xfrm>
            <a:off x="1016000" y="3302000"/>
            <a:ext cx="762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CCCCCC"/>
                </a:solidFill>
              </a:rPr>
              <a:t>▸  Race predictions with confidence percentages</a:t>
            </a:r>
            <a:endParaRPr lang="en-IN" sz="1500">
              <a:solidFill>
                <a:srgbClr val="CCCCCC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E0460A-AA01-4D12-84CA-A28C0A616742}"/>
              </a:ext>
            </a:extLst>
          </p:cNvPr>
          <p:cNvSpPr txBox="1"/>
          <p:nvPr/>
        </p:nvSpPr>
        <p:spPr>
          <a:xfrm>
            <a:off x="1016000" y="3683000"/>
            <a:ext cx="762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>
                <a:solidFill>
                  <a:srgbClr val="CCCCCC"/>
                </a:solidFill>
              </a:rPr>
              <a:t>▸  Sentiment analysis from F1 media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42F4A9-D499-4627-B90B-703C1D72019B}"/>
              </a:ext>
            </a:extLst>
          </p:cNvPr>
          <p:cNvSpPr txBox="1"/>
          <p:nvPr/>
        </p:nvSpPr>
        <p:spPr>
          <a:xfrm>
            <a:off x="1016000" y="4064000"/>
            <a:ext cx="762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CCCCCC"/>
                </a:solidFill>
              </a:rPr>
              <a:t>▸  Natural language risk summaries for operators</a:t>
            </a:r>
            <a:endParaRPr lang="en-IN" sz="1500">
              <a:solidFill>
                <a:srgbClr val="CCCCCC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BE02C1-8A97-4118-9A62-A25E88586A6B}"/>
              </a:ext>
            </a:extLst>
          </p:cNvPr>
          <p:cNvSpPr txBox="1"/>
          <p:nvPr/>
        </p:nvSpPr>
        <p:spPr>
          <a:xfrm>
            <a:off x="1016000" y="4445000"/>
            <a:ext cx="762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CCCCCC"/>
                </a:solidFill>
              </a:rPr>
              <a:t>▸  Contextual reasoning across race conditions</a:t>
            </a:r>
            <a:endParaRPr lang="en-IN" sz="1500">
              <a:solidFill>
                <a:srgbClr val="CCCCCC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20835A5-BD83-43F0-8512-EA113EFBCDAB}"/>
              </a:ext>
            </a:extLst>
          </p:cNvPr>
          <p:cNvSpPr/>
          <p:nvPr/>
        </p:nvSpPr>
        <p:spPr>
          <a:xfrm>
            <a:off x="9398000" y="2159000"/>
            <a:ext cx="8128000" cy="3619500"/>
          </a:xfrm>
          <a:prstGeom prst="roundRect">
            <a:avLst/>
          </a:prstGeom>
          <a:solidFill>
            <a:srgbClr val="1A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1EA61E-B46F-47D7-9699-924B81580AC4}"/>
              </a:ext>
            </a:extLst>
          </p:cNvPr>
          <p:cNvSpPr txBox="1"/>
          <p:nvPr/>
        </p:nvSpPr>
        <p:spPr>
          <a:xfrm>
            <a:off x="9652000" y="2286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E8000D"/>
                </a:solidFill>
              </a:rPr>
              <a:t>DATA SOURCES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370514-B074-4C40-AB80-B6540851B60B}"/>
              </a:ext>
            </a:extLst>
          </p:cNvPr>
          <p:cNvSpPr txBox="1"/>
          <p:nvPr/>
        </p:nvSpPr>
        <p:spPr>
          <a:xfrm>
            <a:off x="9652000" y="2667000"/>
            <a:ext cx="762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800" b="1">
                <a:solidFill>
                  <a:srgbClr val="FFFFFF"/>
                </a:solidFill>
              </a:rPr>
              <a:t>26,759+ Historical Records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13C6A8-1688-4927-913C-0299CF254A02}"/>
              </a:ext>
            </a:extLst>
          </p:cNvPr>
          <p:cNvSpPr txBox="1"/>
          <p:nvPr/>
        </p:nvSpPr>
        <p:spPr>
          <a:xfrm>
            <a:off x="9652000" y="3302000"/>
            <a:ext cx="762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CCCCCC"/>
                </a:solidFill>
              </a:rPr>
              <a:t>▸  OpenF1 API — real-time telemetry and session data</a:t>
            </a:r>
            <a:endParaRPr lang="en-IN" sz="1500">
              <a:solidFill>
                <a:srgbClr val="CCCCCC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5D6909-C3D5-4FF4-B982-56B871C19B1C}"/>
              </a:ext>
            </a:extLst>
          </p:cNvPr>
          <p:cNvSpPr txBox="1"/>
          <p:nvPr/>
        </p:nvSpPr>
        <p:spPr>
          <a:xfrm>
            <a:off x="9652000" y="3683000"/>
            <a:ext cx="762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CCCCCC"/>
                </a:solidFill>
              </a:rPr>
              <a:t>▸  Motorsport.com RSS — news and sentiment inputs</a:t>
            </a:r>
            <a:endParaRPr lang="en-IN" sz="1500">
              <a:solidFill>
                <a:srgbClr val="CCCCCC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C7883F-6724-45D4-A1E3-77AB35C9800C}"/>
              </a:ext>
            </a:extLst>
          </p:cNvPr>
          <p:cNvSpPr txBox="1"/>
          <p:nvPr/>
        </p:nvSpPr>
        <p:spPr>
          <a:xfrm>
            <a:off x="9652000" y="4064000"/>
            <a:ext cx="762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CCCCCC"/>
                </a:solidFill>
              </a:rPr>
              <a:t>▸  10+ years of F1 race results and driver statistics</a:t>
            </a:r>
            <a:endParaRPr lang="en-IN" sz="1500">
              <a:solidFill>
                <a:srgbClr val="CCCCCC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3C659D-77F8-49BE-AD3A-7F4542ECC301}"/>
              </a:ext>
            </a:extLst>
          </p:cNvPr>
          <p:cNvSpPr txBox="1"/>
          <p:nvPr/>
        </p:nvSpPr>
        <p:spPr>
          <a:xfrm>
            <a:off x="9652000" y="4445000"/>
            <a:ext cx="7620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CCCCCC"/>
                </a:solidFill>
              </a:rPr>
              <a:t>▸  Live weather, qualifying, and practice data</a:t>
            </a:r>
            <a:endParaRPr lang="en-IN" sz="1500">
              <a:solidFill>
                <a:srgbClr val="CCCCCC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FB2FBFA-909D-4EF4-B95A-3604CF2F9526}"/>
              </a:ext>
            </a:extLst>
          </p:cNvPr>
          <p:cNvSpPr/>
          <p:nvPr/>
        </p:nvSpPr>
        <p:spPr>
          <a:xfrm>
            <a:off x="762000" y="6159500"/>
            <a:ext cx="16764000" cy="1905000"/>
          </a:xfrm>
          <a:prstGeom prst="roundRect">
            <a:avLst/>
          </a:prstGeom>
          <a:solidFill>
            <a:srgbClr val="1A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4DEED0-4F83-4CA4-AE79-6E495EFD2181}"/>
              </a:ext>
            </a:extLst>
          </p:cNvPr>
          <p:cNvSpPr txBox="1"/>
          <p:nvPr/>
        </p:nvSpPr>
        <p:spPr>
          <a:xfrm>
            <a:off x="1016000" y="63246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E8000D"/>
                </a:solidFill>
              </a:rPr>
              <a:t>AUTOMATION ENGINE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F72801-836D-4F30-8950-F7B970745BC3}"/>
              </a:ext>
            </a:extLst>
          </p:cNvPr>
          <p:cNvSpPr txBox="1"/>
          <p:nvPr/>
        </p:nvSpPr>
        <p:spPr>
          <a:xfrm>
            <a:off x="1016000" y="6667500"/>
            <a:ext cx="7620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600" b="1">
                <a:solidFill>
                  <a:srgbClr val="FFFFFF"/>
                </a:solidFill>
              </a:rPr>
              <a:t>n8n Workflow Automation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5E9107-22F6-48D4-82D4-7345F98A500D}"/>
              </a:ext>
            </a:extLst>
          </p:cNvPr>
          <p:cNvSpPr txBox="1"/>
          <p:nvPr/>
        </p:nvSpPr>
        <p:spPr>
          <a:xfrm>
            <a:off x="1016000" y="7175500"/>
            <a:ext cx="15875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>
                <a:solidFill>
                  <a:srgbClr val="CCCCCC"/>
                </a:solidFill>
              </a:rPr>
              <a:t>Automated pipeline: Data ingestion → GPT-4o-mini analysis → Prediction generation → Confidence scoring → Operator dashboard update. Runs every race weekend without manual intervention.</a:t>
            </a:r>
          </a:p>
        </p:txBody>
      </p: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629ECCA3-4C96-4917-AC00-1D1890357093}"/>
              </a:ext>
            </a:extLst>
          </p:cNvPr>
          <p:cNvSpPr/>
          <p:nvPr/>
        </p:nvSpPr>
        <p:spPr>
          <a:xfrm>
            <a:off x="1016000" y="8636000"/>
            <a:ext cx="2794000" cy="508000"/>
          </a:xfrm>
          <a:prstGeom prst="chevron">
            <a:avLst/>
          </a:prstGeom>
          <a:solidFill>
            <a:srgbClr val="1A1A2E"/>
          </a:solidFill>
          <a:ln w="12700" cap="flat" cmpd="sng" algn="ctr">
            <a:solidFill>
              <a:srgbClr val="E8000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DATA IN</a:t>
            </a:r>
          </a:p>
        </p:txBody>
      </p:sp>
      <p:sp>
        <p:nvSpPr>
          <p:cNvPr id="44" name="Arrow: Chevron 43">
            <a:extLst>
              <a:ext uri="{FF2B5EF4-FFF2-40B4-BE49-F238E27FC236}">
                <a16:creationId xmlns:a16="http://schemas.microsoft.com/office/drawing/2014/main" id="{AD366558-3035-4321-805C-DD9C07E96755}"/>
              </a:ext>
            </a:extLst>
          </p:cNvPr>
          <p:cNvSpPr/>
          <p:nvPr/>
        </p:nvSpPr>
        <p:spPr>
          <a:xfrm>
            <a:off x="4318000" y="8636000"/>
            <a:ext cx="2794000" cy="508000"/>
          </a:xfrm>
          <a:prstGeom prst="chevron">
            <a:avLst/>
          </a:prstGeom>
          <a:solidFill>
            <a:srgbClr val="E8000D"/>
          </a:solidFill>
          <a:ln w="12700" cap="flat" cmpd="sng" algn="ctr">
            <a:solidFill>
              <a:srgbClr val="E8000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GPT-4o-mini</a:t>
            </a:r>
          </a:p>
        </p:txBody>
      </p:sp>
      <p:sp>
        <p:nvSpPr>
          <p:cNvPr id="45" name="Arrow: Chevron 44">
            <a:extLst>
              <a:ext uri="{FF2B5EF4-FFF2-40B4-BE49-F238E27FC236}">
                <a16:creationId xmlns:a16="http://schemas.microsoft.com/office/drawing/2014/main" id="{346B6E07-BA3B-4FDF-BC38-F95CA982F67E}"/>
              </a:ext>
            </a:extLst>
          </p:cNvPr>
          <p:cNvSpPr/>
          <p:nvPr/>
        </p:nvSpPr>
        <p:spPr>
          <a:xfrm>
            <a:off x="7620000" y="8636000"/>
            <a:ext cx="2794000" cy="508000"/>
          </a:xfrm>
          <a:prstGeom prst="chevron">
            <a:avLst/>
          </a:prstGeom>
          <a:solidFill>
            <a:srgbClr val="1A1A2E"/>
          </a:solidFill>
          <a:ln w="12700" cap="flat" cmpd="sng" algn="ctr">
            <a:solidFill>
              <a:srgbClr val="E8000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PREDICTIONS</a:t>
            </a:r>
          </a:p>
        </p:txBody>
      </p:sp>
      <p:sp>
        <p:nvSpPr>
          <p:cNvPr id="46" name="Arrow: Chevron 45">
            <a:extLst>
              <a:ext uri="{FF2B5EF4-FFF2-40B4-BE49-F238E27FC236}">
                <a16:creationId xmlns:a16="http://schemas.microsoft.com/office/drawing/2014/main" id="{1E007B5C-0772-4BD6-84F4-F019D9EAE465}"/>
              </a:ext>
            </a:extLst>
          </p:cNvPr>
          <p:cNvSpPr/>
          <p:nvPr/>
        </p:nvSpPr>
        <p:spPr>
          <a:xfrm>
            <a:off x="10922000" y="8636000"/>
            <a:ext cx="2794000" cy="508000"/>
          </a:xfrm>
          <a:prstGeom prst="chevron">
            <a:avLst/>
          </a:prstGeom>
          <a:solidFill>
            <a:srgbClr val="1A1A2E"/>
          </a:solidFill>
          <a:ln w="12700" cap="flat" cmpd="sng" algn="ctr">
            <a:solidFill>
              <a:srgbClr val="E8000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CONFIDENCE %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06B7CB8-2B49-474D-A384-76C638E857D5}"/>
              </a:ext>
            </a:extLst>
          </p:cNvPr>
          <p:cNvSpPr/>
          <p:nvPr/>
        </p:nvSpPr>
        <p:spPr>
          <a:xfrm>
            <a:off x="14224000" y="8636000"/>
            <a:ext cx="2794000" cy="508000"/>
          </a:xfrm>
          <a:prstGeom prst="roundRect">
            <a:avLst/>
          </a:prstGeom>
          <a:solidFill>
            <a:srgbClr val="1A1A2E"/>
          </a:solidFill>
          <a:ln w="12700" cap="flat" cmpd="sng" algn="ctr">
            <a:solidFill>
              <a:srgbClr val="E8000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7249146-75E1-4D5C-9B87-28FB3F529423}"/>
              </a:ext>
            </a:extLst>
          </p:cNvPr>
          <p:cNvSpPr/>
          <p:nvPr/>
        </p:nvSpPr>
        <p:spPr>
          <a:xfrm>
            <a:off x="0" y="0"/>
            <a:ext cx="18288000" cy="1016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1F7B0E-EBA7-44EC-A558-56B56CDAC197}"/>
              </a:ext>
            </a:extLst>
          </p:cNvPr>
          <p:cNvSpPr txBox="1"/>
          <p:nvPr/>
        </p:nvSpPr>
        <p:spPr>
          <a:xfrm>
            <a:off x="2540000" y="2794000"/>
            <a:ext cx="13208000" cy="132343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8000" b="1">
                <a:solidFill>
                  <a:srgbClr val="E8000D"/>
                </a:solidFill>
              </a:rPr>
              <a:t>APEXLY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1427DC-BF1E-4E33-AACF-A0FC4B3BE734}"/>
              </a:ext>
            </a:extLst>
          </p:cNvPr>
          <p:cNvSpPr txBox="1"/>
          <p:nvPr/>
        </p:nvSpPr>
        <p:spPr>
          <a:xfrm>
            <a:off x="2540000" y="4191000"/>
            <a:ext cx="13208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>
                <a:solidFill>
                  <a:srgbClr val="FFFFFF"/>
                </a:solidFill>
              </a:rPr>
              <a:t>The AI Edge F1 Fantasy Platforms Have Been Missing</a:t>
            </a:r>
            <a:endParaRPr lang="en-IN" sz="24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BCEFD4-7CAE-4FB8-BB7C-5EED97B3FFE3}"/>
              </a:ext>
            </a:extLst>
          </p:cNvPr>
          <p:cNvSpPr/>
          <p:nvPr/>
        </p:nvSpPr>
        <p:spPr>
          <a:xfrm>
            <a:off x="7239000" y="5143500"/>
            <a:ext cx="3810000" cy="254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9FA908-A109-4FF9-B570-F0D9AAAA26AB}"/>
              </a:ext>
            </a:extLst>
          </p:cNvPr>
          <p:cNvSpPr txBox="1"/>
          <p:nvPr/>
        </p:nvSpPr>
        <p:spPr>
          <a:xfrm>
            <a:off x="2540000" y="5461000"/>
            <a:ext cx="13208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</a:rPr>
              <a:t>Harsh Gujarati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5A9CC5-9048-4B82-B0F4-487246C89C66}"/>
              </a:ext>
            </a:extLst>
          </p:cNvPr>
          <p:cNvSpPr txBox="1"/>
          <p:nvPr/>
        </p:nvSpPr>
        <p:spPr>
          <a:xfrm>
            <a:off x="2540000" y="5943600"/>
            <a:ext cx="1320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MS Information Systems  |  Northeastern University  |  INFO 7375: AI &amp; Branding</a:t>
            </a:r>
            <a:endParaRPr lang="en-IN" sz="1600">
              <a:solidFill>
                <a:srgbClr val="88888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652B26-4969-4D1B-8236-2636290A5E3C}"/>
              </a:ext>
            </a:extLst>
          </p:cNvPr>
          <p:cNvSpPr/>
          <p:nvPr/>
        </p:nvSpPr>
        <p:spPr>
          <a:xfrm>
            <a:off x="3810000" y="6921500"/>
            <a:ext cx="10668000" cy="12700"/>
          </a:xfrm>
          <a:prstGeom prst="rect">
            <a:avLst/>
          </a:prstGeom>
          <a:solidFill>
            <a:srgbClr val="33333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65422E-F0FB-4184-A305-D0F360D9709C}"/>
              </a:ext>
            </a:extLst>
          </p:cNvPr>
          <p:cNvSpPr txBox="1"/>
          <p:nvPr/>
        </p:nvSpPr>
        <p:spPr>
          <a:xfrm>
            <a:off x="2540000" y="7239000"/>
            <a:ext cx="1320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000">
                <a:solidFill>
                  <a:srgbClr val="E8000D"/>
                </a:solidFill>
              </a:rPr>
              <a:t>v0-apexly-marketing-website.vercel.app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2020A0-78EA-4E40-8653-B5C229C21F53}"/>
              </a:ext>
            </a:extLst>
          </p:cNvPr>
          <p:cNvSpPr txBox="1"/>
          <p:nvPr/>
        </p:nvSpPr>
        <p:spPr>
          <a:xfrm>
            <a:off x="2540000" y="7620000"/>
            <a:ext cx="1320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000">
                <a:solidFill>
                  <a:srgbClr val="E8000D"/>
                </a:solidFill>
              </a:rPr>
              <a:t>harshvinay-apexly-prediction.hf.space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43182F-05AD-4301-A04D-FD289EA2BAAD}"/>
              </a:ext>
            </a:extLst>
          </p:cNvPr>
          <p:cNvSpPr/>
          <p:nvPr/>
        </p:nvSpPr>
        <p:spPr>
          <a:xfrm>
            <a:off x="0" y="9525000"/>
            <a:ext cx="18288000" cy="762000"/>
          </a:xfrm>
          <a:prstGeom prst="rect">
            <a:avLst/>
          </a:prstGeom>
          <a:solidFill>
            <a:srgbClr val="E8000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D11761-15FB-4B0D-B10E-F09A4B59C41A}"/>
              </a:ext>
            </a:extLst>
          </p:cNvPr>
          <p:cNvSpPr txBox="1"/>
          <p:nvPr/>
        </p:nvSpPr>
        <p:spPr>
          <a:xfrm>
            <a:off x="1270000" y="9626600"/>
            <a:ext cx="1574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THE HOUSE ALWAYS WINS. WE JUST MAKE SURE OF IT.</a:t>
            </a:r>
            <a:endParaRPr lang="en-IN" sz="20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0F0C12D-D7CC-42A1-B569-171AB194AAB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2838a08-dddc-444a-93cb-4eeb436e654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1076</Words>
  <Application>Microsoft Office PowerPoint</Application>
  <PresentationFormat>Custom</PresentationFormat>
  <Paragraphs>161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Horizon</vt:lpstr>
      <vt:lpstr>Neue Machina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HarshVinay_MadisonPitch</dc:title>
  <cp:lastModifiedBy>Harsh Vinay Gujarati</cp:lastModifiedBy>
  <cp:revision>6</cp:revision>
  <dcterms:created xsi:type="dcterms:W3CDTF">2006-08-16T00:00:00Z</dcterms:created>
  <dcterms:modified xsi:type="dcterms:W3CDTF">2026-04-18T01:52:17Z</dcterms:modified>
  <dc:identifier>DAHHKLSi8Ek</dc:identifier>
</cp:coreProperties>
</file>