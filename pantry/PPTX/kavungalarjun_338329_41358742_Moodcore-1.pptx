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bold.fntdata"/><Relationship Id="rId6" Type="http://schemas.openxmlformats.org/officeDocument/2006/relationships/slide" Target="slides/slide1.xml"/><Relationship Id="rId18"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6dbc37e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6dbc37e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6dbc37e5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6dbc37e5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8b29d2f64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8b29d2f64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8b29d2f64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8b29d2f64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8b29d2f64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8b29d2f64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8b29d2f64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d8b29d2f64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6dbc37e5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6dbc37e5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7142e198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7142e198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8b29d2f64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8b29d2f64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8b29d2f64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d8b29d2f64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6dbc37e5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6dbc37e5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Moodcore</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By Arjun Kavungal</a:t>
            </a:r>
            <a:endParaRPr/>
          </a:p>
        </p:txBody>
      </p:sp>
      <p:pic>
        <p:nvPicPr>
          <p:cNvPr id="69" name="Google Shape;69;p13"/>
          <p:cNvPicPr preferRelativeResize="0"/>
          <p:nvPr/>
        </p:nvPicPr>
        <p:blipFill>
          <a:blip r:embed="rId3">
            <a:alphaModFix/>
          </a:blip>
          <a:stretch>
            <a:fillRect/>
          </a:stretch>
        </p:blipFill>
        <p:spPr>
          <a:xfrm>
            <a:off x="4911625" y="1482562"/>
            <a:ext cx="2838100" cy="2604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Brand </a:t>
            </a:r>
            <a:endParaRPr/>
          </a:p>
        </p:txBody>
      </p:sp>
      <p:sp>
        <p:nvSpPr>
          <p:cNvPr id="75" name="Google Shape;75;p1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sz="1100">
                <a:solidFill>
                  <a:schemeClr val="dk1"/>
                </a:solidFill>
              </a:rPr>
              <a:t>Brand Name:</a:t>
            </a:r>
            <a:r>
              <a:rPr lang="en" sz="1100">
                <a:solidFill>
                  <a:schemeClr val="dk1"/>
                </a:solidFill>
              </a:rPr>
              <a:t> </a:t>
            </a:r>
            <a:r>
              <a:rPr i="1" lang="en" sz="1100">
                <a:solidFill>
                  <a:schemeClr val="dk1"/>
                </a:solidFill>
              </a:rPr>
              <a:t>Moodcore</a:t>
            </a:r>
            <a:endParaRPr i="1"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Positioning Statement:</a:t>
            </a:r>
            <a:endParaRPr b="1" sz="1100">
              <a:solidFill>
                <a:schemeClr val="dk1"/>
              </a:solidFill>
            </a:endParaRPr>
          </a:p>
          <a:p>
            <a:pPr indent="0" lvl="0" marL="0" rtl="0" algn="l">
              <a:spcBef>
                <a:spcPts val="1200"/>
              </a:spcBef>
              <a:spcAft>
                <a:spcPts val="0"/>
              </a:spcAft>
              <a:buNone/>
            </a:pPr>
            <a:r>
              <a:rPr lang="en" sz="1100">
                <a:solidFill>
                  <a:schemeClr val="dk1"/>
                </a:solidFill>
              </a:rPr>
              <a:t>Moodcore delivers real-time, predictive supplier risk intelligence by combining AI, data analysis, and sentiment data to anticipate disruptions before they occur.</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One-Slide Brand Essence:</a:t>
            </a:r>
            <a:endParaRPr b="1" sz="1100">
              <a:solidFill>
                <a:schemeClr val="dk1"/>
              </a:solidFill>
            </a:endParaRPr>
          </a:p>
          <a:p>
            <a:pPr indent="0" lvl="0" marL="0" rtl="0" algn="l">
              <a:spcBef>
                <a:spcPts val="1200"/>
              </a:spcBef>
              <a:spcAft>
                <a:spcPts val="0"/>
              </a:spcAft>
              <a:buNone/>
            </a:pPr>
            <a:r>
              <a:rPr lang="en" sz="1100">
                <a:solidFill>
                  <a:schemeClr val="dk1"/>
                </a:solidFill>
              </a:rPr>
              <a:t>Moodcore exists to turn fragmented, delayed data into proactive, decision-ready intelligence. It removes the gap between data engineering and business strategy by providing clear, explainable insights into complex sentiment data.</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Tool Name + Description:</a:t>
            </a:r>
            <a:endParaRPr b="1" sz="1100">
              <a:solidFill>
                <a:schemeClr val="dk1"/>
              </a:solidFill>
            </a:endParaRPr>
          </a:p>
          <a:p>
            <a:pPr indent="0" lvl="0" marL="0" rtl="0" algn="l">
              <a:spcBef>
                <a:spcPts val="1200"/>
              </a:spcBef>
              <a:spcAft>
                <a:spcPts val="1200"/>
              </a:spcAft>
              <a:buNone/>
            </a:pPr>
            <a:r>
              <a:rPr i="1" lang="en" sz="1100">
                <a:solidFill>
                  <a:schemeClr val="dk1"/>
                </a:solidFill>
              </a:rPr>
              <a:t>Moodcore</a:t>
            </a:r>
            <a:r>
              <a:rPr lang="en" sz="1100">
                <a:solidFill>
                  <a:schemeClr val="dk1"/>
                </a:solidFill>
              </a:rPr>
              <a:t> - An AI-powered platform that analyzes data and external sentiment signals to predict and visualize sentiment in real time.</a:t>
            </a:r>
            <a:endParaRPr sz="11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60950" y="384000"/>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Brand Strategy</a:t>
            </a:r>
            <a:endParaRPr/>
          </a:p>
        </p:txBody>
      </p:sp>
      <p:sp>
        <p:nvSpPr>
          <p:cNvPr id="81" name="Google Shape;81;p15"/>
          <p:cNvSpPr txBox="1"/>
          <p:nvPr>
            <p:ph idx="1" type="body"/>
          </p:nvPr>
        </p:nvSpPr>
        <p:spPr>
          <a:xfrm>
            <a:off x="460950" y="1786050"/>
            <a:ext cx="8222100" cy="3357300"/>
          </a:xfrm>
          <a:prstGeom prst="rect">
            <a:avLst/>
          </a:prstGeom>
        </p:spPr>
        <p:txBody>
          <a:bodyPr anchorCtr="0" anchor="t" bIns="91425" lIns="91425" spcFirstLastPara="1" rIns="91425" wrap="square" tIns="91425">
            <a:normAutofit fontScale="40000" lnSpcReduction="10000"/>
          </a:bodyPr>
          <a:lstStyle/>
          <a:p>
            <a:pPr indent="0" lvl="0" marL="0" rtl="0" algn="l">
              <a:spcBef>
                <a:spcPts val="1200"/>
              </a:spcBef>
              <a:spcAft>
                <a:spcPts val="0"/>
              </a:spcAft>
              <a:buClr>
                <a:schemeClr val="dk1"/>
              </a:buClr>
              <a:buSzPct val="53798"/>
              <a:buFont typeface="Arial"/>
              <a:buNone/>
            </a:pPr>
            <a:r>
              <a:rPr b="1" lang="en" sz="2045">
                <a:solidFill>
                  <a:schemeClr val="dk1"/>
                </a:solidFill>
              </a:rPr>
              <a:t>Target Audience:</a:t>
            </a:r>
            <a:endParaRPr b="1" sz="2045">
              <a:solidFill>
                <a:schemeClr val="dk1"/>
              </a:solidFill>
            </a:endParaRPr>
          </a:p>
          <a:p>
            <a:pPr indent="-280535" lvl="0" marL="457200" rtl="0" algn="l">
              <a:spcBef>
                <a:spcPts val="1200"/>
              </a:spcBef>
              <a:spcAft>
                <a:spcPts val="0"/>
              </a:spcAft>
              <a:buClr>
                <a:schemeClr val="dk1"/>
              </a:buClr>
              <a:buSzPct val="100000"/>
              <a:buChar char="●"/>
            </a:pPr>
            <a:r>
              <a:rPr lang="en" sz="2045">
                <a:solidFill>
                  <a:schemeClr val="dk1"/>
                </a:solidFill>
              </a:rPr>
              <a:t>Small</a:t>
            </a:r>
            <a:r>
              <a:rPr lang="en" sz="2045">
                <a:solidFill>
                  <a:schemeClr val="dk1"/>
                </a:solidFill>
              </a:rPr>
              <a:t> to medium sized businesses</a:t>
            </a:r>
            <a:endParaRPr sz="2045">
              <a:solidFill>
                <a:schemeClr val="dk1"/>
              </a:solidFill>
            </a:endParaRPr>
          </a:p>
          <a:p>
            <a:pPr indent="0" lvl="0" marL="0" rtl="0" algn="l">
              <a:spcBef>
                <a:spcPts val="1200"/>
              </a:spcBef>
              <a:spcAft>
                <a:spcPts val="0"/>
              </a:spcAft>
              <a:buClr>
                <a:schemeClr val="dk1"/>
              </a:buClr>
              <a:buSzPct val="53798"/>
              <a:buFont typeface="Arial"/>
              <a:buNone/>
            </a:pPr>
            <a:r>
              <a:rPr b="1" lang="en" sz="2045">
                <a:solidFill>
                  <a:schemeClr val="dk1"/>
                </a:solidFill>
              </a:rPr>
              <a:t>Unique Value Proposition (UVP):</a:t>
            </a:r>
            <a:br>
              <a:rPr b="1" lang="en" sz="2045">
                <a:solidFill>
                  <a:schemeClr val="dk1"/>
                </a:solidFill>
              </a:rPr>
            </a:br>
            <a:r>
              <a:rPr lang="en" sz="2045">
                <a:solidFill>
                  <a:schemeClr val="dk1"/>
                </a:solidFill>
              </a:rPr>
              <a:t> Transforms complex supplier ecosystems into real-time, predictive risk insights using AI and network-based analysis.</a:t>
            </a:r>
            <a:endParaRPr sz="2045">
              <a:solidFill>
                <a:schemeClr val="dk1"/>
              </a:solidFill>
            </a:endParaRPr>
          </a:p>
          <a:p>
            <a:pPr indent="0" lvl="0" marL="0" rtl="0" algn="l">
              <a:spcBef>
                <a:spcPts val="1200"/>
              </a:spcBef>
              <a:spcAft>
                <a:spcPts val="0"/>
              </a:spcAft>
              <a:buClr>
                <a:schemeClr val="dk1"/>
              </a:buClr>
              <a:buSzPct val="53798"/>
              <a:buFont typeface="Arial"/>
              <a:buNone/>
            </a:pPr>
            <a:r>
              <a:rPr b="1" lang="en" sz="2045">
                <a:solidFill>
                  <a:schemeClr val="dk1"/>
                </a:solidFill>
              </a:rPr>
              <a:t>Brand Pillars:</a:t>
            </a:r>
            <a:endParaRPr b="1" sz="2045">
              <a:solidFill>
                <a:schemeClr val="dk1"/>
              </a:solidFill>
            </a:endParaRPr>
          </a:p>
          <a:p>
            <a:pPr indent="-280535" lvl="0" marL="457200" rtl="0" algn="l">
              <a:spcBef>
                <a:spcPts val="1200"/>
              </a:spcBef>
              <a:spcAft>
                <a:spcPts val="0"/>
              </a:spcAft>
              <a:buClr>
                <a:schemeClr val="dk1"/>
              </a:buClr>
              <a:buSzPct val="100000"/>
              <a:buChar char="●"/>
            </a:pPr>
            <a:r>
              <a:rPr lang="en" sz="2045">
                <a:solidFill>
                  <a:schemeClr val="dk1"/>
                </a:solidFill>
              </a:rPr>
              <a:t>Predictive Intelligence</a:t>
            </a:r>
            <a:endParaRPr sz="2045">
              <a:solidFill>
                <a:schemeClr val="dk1"/>
              </a:solidFill>
            </a:endParaRPr>
          </a:p>
          <a:p>
            <a:pPr indent="-280535" lvl="0" marL="457200" rtl="0" algn="l">
              <a:spcBef>
                <a:spcPts val="0"/>
              </a:spcBef>
              <a:spcAft>
                <a:spcPts val="0"/>
              </a:spcAft>
              <a:buClr>
                <a:schemeClr val="dk1"/>
              </a:buClr>
              <a:buSzPct val="100000"/>
              <a:buChar char="●"/>
            </a:pPr>
            <a:r>
              <a:rPr lang="en" sz="2045">
                <a:solidFill>
                  <a:schemeClr val="dk1"/>
                </a:solidFill>
              </a:rPr>
              <a:t>Data Integrity &amp; Trust</a:t>
            </a:r>
            <a:endParaRPr sz="2045">
              <a:solidFill>
                <a:schemeClr val="dk1"/>
              </a:solidFill>
            </a:endParaRPr>
          </a:p>
          <a:p>
            <a:pPr indent="-280535" lvl="0" marL="457200" rtl="0" algn="l">
              <a:spcBef>
                <a:spcPts val="0"/>
              </a:spcBef>
              <a:spcAft>
                <a:spcPts val="0"/>
              </a:spcAft>
              <a:buClr>
                <a:schemeClr val="dk1"/>
              </a:buClr>
              <a:buSzPct val="100000"/>
              <a:buChar char="●"/>
            </a:pPr>
            <a:r>
              <a:rPr lang="en" sz="2045">
                <a:solidFill>
                  <a:schemeClr val="dk1"/>
                </a:solidFill>
              </a:rPr>
              <a:t>Actionable Insights</a:t>
            </a:r>
            <a:endParaRPr sz="2045">
              <a:solidFill>
                <a:schemeClr val="dk1"/>
              </a:solidFill>
            </a:endParaRPr>
          </a:p>
          <a:p>
            <a:pPr indent="-280535" lvl="0" marL="457200" rtl="0" algn="l">
              <a:spcBef>
                <a:spcPts val="0"/>
              </a:spcBef>
              <a:spcAft>
                <a:spcPts val="0"/>
              </a:spcAft>
              <a:buClr>
                <a:schemeClr val="dk1"/>
              </a:buClr>
              <a:buSzPct val="100000"/>
              <a:buChar char="●"/>
            </a:pPr>
            <a:r>
              <a:rPr lang="en" sz="2045">
                <a:solidFill>
                  <a:schemeClr val="dk1"/>
                </a:solidFill>
              </a:rPr>
              <a:t>Scalable Architecture</a:t>
            </a:r>
            <a:endParaRPr sz="2045">
              <a:solidFill>
                <a:schemeClr val="dk1"/>
              </a:solidFill>
            </a:endParaRPr>
          </a:p>
          <a:p>
            <a:pPr indent="0" lvl="0" marL="0" rtl="0" algn="l">
              <a:spcBef>
                <a:spcPts val="1200"/>
              </a:spcBef>
              <a:spcAft>
                <a:spcPts val="0"/>
              </a:spcAft>
              <a:buClr>
                <a:schemeClr val="dk1"/>
              </a:buClr>
              <a:buSzPct val="53798"/>
              <a:buFont typeface="Arial"/>
              <a:buNone/>
            </a:pPr>
            <a:r>
              <a:rPr b="1" lang="en" sz="2045">
                <a:solidFill>
                  <a:schemeClr val="dk1"/>
                </a:solidFill>
              </a:rPr>
              <a:t>Competitive Positioning:</a:t>
            </a:r>
            <a:br>
              <a:rPr b="1" lang="en" sz="2045">
                <a:solidFill>
                  <a:schemeClr val="dk1"/>
                </a:solidFill>
              </a:rPr>
            </a:br>
            <a:r>
              <a:rPr lang="en" sz="2045">
                <a:solidFill>
                  <a:schemeClr val="dk1"/>
                </a:solidFill>
              </a:rPr>
              <a:t> Unlike traditional BI tools or generic AI platforms, Moodcore integrates real-time streaming and sentiment analysis to deliver network-aware, predictive risk intelligence rather than static dashboards.</a:t>
            </a:r>
            <a:endParaRPr sz="2045">
              <a:solidFill>
                <a:schemeClr val="dk1"/>
              </a:solidFill>
            </a:endParaRPr>
          </a:p>
          <a:p>
            <a:pPr indent="0" lvl="0" marL="0" rtl="0" algn="l">
              <a:spcBef>
                <a:spcPts val="1200"/>
              </a:spcBef>
              <a:spcAft>
                <a:spcPts val="0"/>
              </a:spcAft>
              <a:buClr>
                <a:schemeClr val="dk1"/>
              </a:buClr>
              <a:buSzPct val="53798"/>
              <a:buFont typeface="Arial"/>
              <a:buNone/>
            </a:pPr>
            <a:r>
              <a:rPr b="1" lang="en" sz="2045">
                <a:solidFill>
                  <a:schemeClr val="dk1"/>
                </a:solidFill>
              </a:rPr>
              <a:t>Differentiation:</a:t>
            </a:r>
            <a:br>
              <a:rPr b="1" lang="en" sz="2045">
                <a:solidFill>
                  <a:schemeClr val="dk1"/>
                </a:solidFill>
              </a:rPr>
            </a:br>
            <a:r>
              <a:rPr lang="en" sz="2045">
                <a:solidFill>
                  <a:schemeClr val="dk1"/>
                </a:solidFill>
              </a:rPr>
              <a:t> Most AI tools analyze sentiment in isolation (social media, branding metrics). Moodcore  connects sentiment directly to context—turning abstract signals into measurable business risk.</a:t>
            </a:r>
            <a:endParaRPr sz="2045">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Competitive positioning</a:t>
            </a:r>
            <a:endParaRPr/>
          </a:p>
        </p:txBody>
      </p:sp>
      <p:sp>
        <p:nvSpPr>
          <p:cNvPr id="87" name="Google Shape;87;p1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rgbClr val="000000"/>
                </a:solidFill>
                <a:latin typeface="Arial"/>
                <a:ea typeface="Arial"/>
                <a:cs typeface="Arial"/>
                <a:sym typeface="Arial"/>
              </a:rPr>
              <a:t>Qualtrics XM</a:t>
            </a:r>
            <a:r>
              <a:rPr lang="en" sz="1100">
                <a:solidFill>
                  <a:srgbClr val="000000"/>
                </a:solidFill>
                <a:latin typeface="Arial"/>
                <a:ea typeface="Arial"/>
                <a:cs typeface="Arial"/>
                <a:sym typeface="Arial"/>
              </a:rPr>
              <a:t> Powerful but hard to use. Starts at $1,500+/month, requires implementation consultants, and takes months to set up. Designed for Fortune 500 research teams — not founders or growth teams who need answers quickly.</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Hootsuite Insights</a:t>
            </a:r>
            <a:r>
              <a:rPr lang="en" sz="1100">
                <a:solidFill>
                  <a:srgbClr val="000000"/>
                </a:solidFill>
                <a:latin typeface="Arial"/>
                <a:ea typeface="Arial"/>
                <a:cs typeface="Arial"/>
                <a:sym typeface="Arial"/>
              </a:rPr>
              <a:t> Sentiment as a checkbox feature. Surface-level scoring that flags "negative" without telling you </a:t>
            </a:r>
            <a:r>
              <a:rPr i="1" lang="en" sz="1100">
                <a:solidFill>
                  <a:srgbClr val="000000"/>
                </a:solidFill>
                <a:latin typeface="Arial"/>
                <a:ea typeface="Arial"/>
                <a:cs typeface="Arial"/>
                <a:sym typeface="Arial"/>
              </a:rPr>
              <a:t>the actual reason.</a:t>
            </a:r>
            <a:endParaRPr i="1"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AWS Comprehend / Google Natural Language API</a:t>
            </a:r>
            <a:r>
              <a:rPr lang="en" sz="1100">
                <a:solidFill>
                  <a:srgbClr val="000000"/>
                </a:solidFill>
                <a:latin typeface="Arial"/>
                <a:ea typeface="Arial"/>
                <a:cs typeface="Arial"/>
                <a:sym typeface="Arial"/>
              </a:rPr>
              <a:t> Raw APIs that require engineering expertise to turn into something useful. No interface, no workflow, no alerts — just infrastructure. This requires additional software engineers.</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b="1" lang="en" sz="1100">
                <a:solidFill>
                  <a:srgbClr val="000000"/>
                </a:solidFill>
                <a:latin typeface="Arial"/>
                <a:ea typeface="Arial"/>
                <a:cs typeface="Arial"/>
                <a:sym typeface="Arial"/>
              </a:rPr>
              <a:t>SurveyMonkey (Genius)</a:t>
            </a:r>
            <a:r>
              <a:rPr lang="en" sz="1100">
                <a:solidFill>
                  <a:srgbClr val="000000"/>
                </a:solidFill>
                <a:latin typeface="Arial"/>
                <a:ea typeface="Arial"/>
                <a:cs typeface="Arial"/>
                <a:sym typeface="Arial"/>
              </a:rPr>
              <a:t> Surveys are only one channel. Sentiment analysis tools that only live inside your survey tool miss everything happening outside it — reviews, tickets, social, DMs.</a:t>
            </a:r>
            <a:endParaRPr sz="11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Scenarios</a:t>
            </a:r>
            <a:endParaRPr/>
          </a:p>
        </p:txBody>
      </p:sp>
      <p:sp>
        <p:nvSpPr>
          <p:cNvPr id="93" name="Google Shape;93;p17"/>
          <p:cNvSpPr txBox="1"/>
          <p:nvPr>
            <p:ph idx="1" type="body"/>
          </p:nvPr>
        </p:nvSpPr>
        <p:spPr>
          <a:xfrm>
            <a:off x="471900" y="1919075"/>
            <a:ext cx="2696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Name: Matt</a:t>
            </a:r>
            <a:endParaRPr/>
          </a:p>
          <a:p>
            <a:pPr indent="0" lvl="0" marL="0" rtl="0" algn="l">
              <a:spcBef>
                <a:spcPts val="1200"/>
              </a:spcBef>
              <a:spcAft>
                <a:spcPts val="0"/>
              </a:spcAft>
              <a:buNone/>
            </a:pPr>
            <a:r>
              <a:rPr lang="en"/>
              <a:t>Role: Business owner</a:t>
            </a:r>
            <a:endParaRPr/>
          </a:p>
          <a:p>
            <a:pPr indent="0" lvl="0" marL="0" rtl="0" algn="l">
              <a:spcBef>
                <a:spcPts val="1200"/>
              </a:spcBef>
              <a:spcAft>
                <a:spcPts val="1200"/>
              </a:spcAft>
              <a:buNone/>
            </a:pPr>
            <a:r>
              <a:rPr lang="en"/>
              <a:t>Pain points: reviews damage his brand before he can analyze them</a:t>
            </a:r>
            <a:endParaRPr/>
          </a:p>
        </p:txBody>
      </p:sp>
      <p:sp>
        <p:nvSpPr>
          <p:cNvPr id="94" name="Google Shape;94;p17"/>
          <p:cNvSpPr txBox="1"/>
          <p:nvPr/>
        </p:nvSpPr>
        <p:spPr>
          <a:xfrm>
            <a:off x="4586775" y="1990400"/>
            <a:ext cx="2749200" cy="25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Roboto"/>
                <a:ea typeface="Roboto"/>
                <a:cs typeface="Roboto"/>
                <a:sym typeface="Roboto"/>
              </a:rPr>
              <a:t>Name: Sid</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n" sz="1800">
                <a:solidFill>
                  <a:schemeClr val="lt2"/>
                </a:solidFill>
                <a:latin typeface="Roboto"/>
                <a:ea typeface="Roboto"/>
                <a:cs typeface="Roboto"/>
                <a:sym typeface="Roboto"/>
              </a:rPr>
              <a:t>Role: Data analyst</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n" sz="1800">
                <a:solidFill>
                  <a:schemeClr val="lt2"/>
                </a:solidFill>
                <a:latin typeface="Roboto"/>
                <a:ea typeface="Roboto"/>
                <a:cs typeface="Roboto"/>
                <a:sym typeface="Roboto"/>
              </a:rPr>
              <a:t>Pain points: Too much feedback coming in from different channels — reviews, surveys, support tickets, social media, all at once</a:t>
            </a:r>
            <a:endParaRPr sz="1800">
              <a:solidFill>
                <a:schemeClr val="lt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Story</a:t>
            </a:r>
            <a:endParaRPr/>
          </a:p>
        </p:txBody>
      </p:sp>
      <p:sp>
        <p:nvSpPr>
          <p:cNvPr id="100" name="Google Shape;100;p1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r>
              <a:rPr lang="en"/>
              <a:t>The monster had a name nobody said out loud: brand analysis. Thousands of customer voices, piling up daily, shapeless and unread. It was eating our team alive - hours lost, decisions delayed, brand damage quietly spreading. We knew it was winning. Feedback was unread for weeks. A bad trend could brew for months before anyone noticed. The monster didn't roar - it just slowly swallowed everything. I decided to fight back. Not with more people or hours - but with automation. A sentiment analysis tool that could read the flood and make sense of it in seconds. It wasn't instant. The model had to learn nuance - sarcasm, context, industry language. There were false positives and missed signals. But we kept modifying it, kept pushing. The monster didn't vanish. But now it's caged. Every morning, the dashboard tells us exactly how customers feel - before it becomes a crisis. We stopped reacting and started modifying.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Story</a:t>
            </a:r>
            <a:endParaRPr/>
          </a:p>
        </p:txBody>
      </p:sp>
      <p:sp>
        <p:nvSpPr>
          <p:cNvPr id="106" name="Google Shape;106;p1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1200"/>
              </a:spcAft>
              <a:buNone/>
            </a:pPr>
            <a:r>
              <a:rPr lang="en"/>
              <a:t>Every day started the same way. Open the spreadsheet, pull the latest reviews, start reading. One by one. Copy, paste, categorize, repeat. I was doing this for hundreds of responses a week - support tickets, survey answers, app store reviews, social comments. It looked like a system. It wasn't. It was just controlled chaos with a color-coded veneer. The real problem wasn't the volume. It was what I was missing inside it. Patterns that only show up across many responses. Subtle shifts in tone that signal something bigger brewing. A product complaint that keeps appearing in slightly different words. I'd finish a three-hour analysis session and still feel like I hadn't seen the full picture. Decisions were getting made on incomplete signals, and I knew it. One missed trend cost us. A wave of frustration had been building quietly in our feedback for weeks - and we didn't catch it until customers started leaving. That was the moment I stopped looking for a better process and started building one. If I couldn't analyze fast enough, the tool would have to analyze for me. That's how Moodcore was created. A sentiment analysis tool that doesn't just sort feedback into positive and negative - it reads between the lines. It catches the exhausted customer, the quietly impressed one, the one about to churn. Automated, nuanced, and built for the kind of clarity that spreadsheets can't give you. The first time it flagged a silent crisis before anyone on my team noticed, I knew we'd built something real. You shouldn't need to read thousands of words to understand how your customers feel. Moodcore does that work so you can spend your time on what actually matters - acting on it.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Visual Identity Showcase </a:t>
            </a:r>
            <a:endParaRPr/>
          </a:p>
        </p:txBody>
      </p:sp>
      <p:sp>
        <p:nvSpPr>
          <p:cNvPr id="112" name="Google Shape;112;p20"/>
          <p:cNvSpPr txBox="1"/>
          <p:nvPr>
            <p:ph idx="1" type="body"/>
          </p:nvPr>
        </p:nvSpPr>
        <p:spPr>
          <a:xfrm>
            <a:off x="311700" y="1832375"/>
            <a:ext cx="3624300" cy="3416400"/>
          </a:xfrm>
          <a:prstGeom prst="rect">
            <a:avLst/>
          </a:prstGeom>
        </p:spPr>
        <p:txBody>
          <a:bodyPr anchorCtr="0" anchor="t" bIns="91425" lIns="91425" spcFirstLastPara="1" rIns="91425" wrap="square" tIns="91425">
            <a:normAutofit fontScale="55000" lnSpcReduction="20000"/>
          </a:bodyPr>
          <a:lstStyle/>
          <a:p>
            <a:pPr indent="0" lvl="0" marL="0" rtl="0" algn="l">
              <a:spcBef>
                <a:spcPts val="1800"/>
              </a:spcBef>
              <a:spcAft>
                <a:spcPts val="0"/>
              </a:spcAft>
              <a:buClr>
                <a:schemeClr val="dk1"/>
              </a:buClr>
              <a:buSzPct val="48357"/>
              <a:buFont typeface="Arial"/>
              <a:buNone/>
            </a:pPr>
            <a:r>
              <a:rPr b="1" lang="en" sz="2275">
                <a:solidFill>
                  <a:schemeClr val="dk1"/>
                </a:solidFill>
              </a:rPr>
              <a:t>3. Visual Identity Showcase (2 minutes)</a:t>
            </a:r>
            <a:endParaRPr b="1" sz="2275">
              <a:solidFill>
                <a:schemeClr val="dk1"/>
              </a:solidFill>
            </a:endParaRPr>
          </a:p>
          <a:p>
            <a:pPr indent="0" lvl="0" marL="0" rtl="0" algn="l">
              <a:spcBef>
                <a:spcPts val="1200"/>
              </a:spcBef>
              <a:spcAft>
                <a:spcPts val="0"/>
              </a:spcAft>
              <a:buClr>
                <a:schemeClr val="dk1"/>
              </a:buClr>
              <a:buSzPct val="65681"/>
              <a:buFont typeface="Arial"/>
              <a:buNone/>
            </a:pPr>
            <a:r>
              <a:rPr b="1" lang="en" sz="1675">
                <a:solidFill>
                  <a:schemeClr val="dk1"/>
                </a:solidFill>
              </a:rPr>
              <a:t>Logo Variations:</a:t>
            </a:r>
            <a:br>
              <a:rPr b="1" lang="en" sz="1675">
                <a:solidFill>
                  <a:schemeClr val="dk1"/>
                </a:solidFill>
              </a:rPr>
            </a:br>
            <a:r>
              <a:rPr lang="en" sz="1675">
                <a:solidFill>
                  <a:schemeClr val="dk1"/>
                </a:solidFill>
              </a:rPr>
              <a:t> Main logo, icon-only version (dashboard)), and dark/light mode variants.</a:t>
            </a:r>
            <a:endParaRPr sz="1675">
              <a:solidFill>
                <a:schemeClr val="dk1"/>
              </a:solidFill>
            </a:endParaRPr>
          </a:p>
          <a:p>
            <a:pPr indent="0" lvl="0" marL="0" rtl="0" algn="l">
              <a:spcBef>
                <a:spcPts val="1200"/>
              </a:spcBef>
              <a:spcAft>
                <a:spcPts val="0"/>
              </a:spcAft>
              <a:buClr>
                <a:schemeClr val="dk1"/>
              </a:buClr>
              <a:buSzPct val="65681"/>
              <a:buFont typeface="Arial"/>
              <a:buNone/>
            </a:pPr>
            <a:r>
              <a:rPr b="1" lang="en" sz="1675">
                <a:solidFill>
                  <a:schemeClr val="dk1"/>
                </a:solidFill>
              </a:rPr>
              <a:t>Color Palette:</a:t>
            </a:r>
            <a:endParaRPr b="1" sz="1675">
              <a:solidFill>
                <a:schemeClr val="dk1"/>
              </a:solidFill>
            </a:endParaRPr>
          </a:p>
          <a:p>
            <a:pPr indent="-287091" lvl="0" marL="457200" rtl="0" algn="l">
              <a:spcBef>
                <a:spcPts val="1200"/>
              </a:spcBef>
              <a:spcAft>
                <a:spcPts val="0"/>
              </a:spcAft>
              <a:buClr>
                <a:schemeClr val="dk1"/>
              </a:buClr>
              <a:buSzPct val="100000"/>
              <a:buChar char="●"/>
            </a:pPr>
            <a:r>
              <a:rPr lang="en" sz="1675">
                <a:solidFill>
                  <a:schemeClr val="dk1"/>
                </a:solidFill>
              </a:rPr>
              <a:t>Blue #0000FF</a:t>
            </a:r>
            <a:endParaRPr sz="1675">
              <a:solidFill>
                <a:schemeClr val="dk1"/>
              </a:solidFill>
            </a:endParaRPr>
          </a:p>
          <a:p>
            <a:pPr indent="-287091" lvl="0" marL="457200" rtl="0" algn="l">
              <a:spcBef>
                <a:spcPts val="0"/>
              </a:spcBef>
              <a:spcAft>
                <a:spcPts val="0"/>
              </a:spcAft>
              <a:buClr>
                <a:schemeClr val="dk1"/>
              </a:buClr>
              <a:buSzPct val="100000"/>
              <a:buChar char="●"/>
            </a:pPr>
            <a:r>
              <a:rPr lang="en" sz="1675">
                <a:solidFill>
                  <a:schemeClr val="dk1"/>
                </a:solidFill>
              </a:rPr>
              <a:t>orange  #FFAA44</a:t>
            </a:r>
            <a:endParaRPr sz="1675">
              <a:solidFill>
                <a:schemeClr val="dk1"/>
              </a:solidFill>
            </a:endParaRPr>
          </a:p>
          <a:p>
            <a:pPr indent="-287091" lvl="0" marL="457200" rtl="0" algn="l">
              <a:spcBef>
                <a:spcPts val="0"/>
              </a:spcBef>
              <a:spcAft>
                <a:spcPts val="0"/>
              </a:spcAft>
              <a:buClr>
                <a:schemeClr val="dk1"/>
              </a:buClr>
              <a:buSzPct val="100000"/>
              <a:buChar char="●"/>
            </a:pPr>
            <a:r>
              <a:rPr lang="en" sz="1675">
                <a:solidFill>
                  <a:schemeClr val="dk1"/>
                </a:solidFill>
              </a:rPr>
              <a:t>gray #AAAAAA</a:t>
            </a:r>
            <a:endParaRPr sz="1675">
              <a:solidFill>
                <a:schemeClr val="dk1"/>
              </a:solidFill>
            </a:endParaRPr>
          </a:p>
          <a:p>
            <a:pPr indent="0" lvl="0" marL="0" rtl="0" algn="l">
              <a:spcBef>
                <a:spcPts val="1200"/>
              </a:spcBef>
              <a:spcAft>
                <a:spcPts val="0"/>
              </a:spcAft>
              <a:buClr>
                <a:schemeClr val="dk1"/>
              </a:buClr>
              <a:buSzPct val="65681"/>
              <a:buFont typeface="Arial"/>
              <a:buNone/>
            </a:pPr>
            <a:r>
              <a:rPr b="1" lang="en" sz="1675">
                <a:solidFill>
                  <a:schemeClr val="dk1"/>
                </a:solidFill>
              </a:rPr>
              <a:t>Typography:</a:t>
            </a:r>
            <a:endParaRPr b="1" sz="1675">
              <a:solidFill>
                <a:schemeClr val="dk1"/>
              </a:solidFill>
            </a:endParaRPr>
          </a:p>
          <a:p>
            <a:pPr indent="-287091" lvl="0" marL="457200" rtl="0" algn="l">
              <a:spcBef>
                <a:spcPts val="1200"/>
              </a:spcBef>
              <a:spcAft>
                <a:spcPts val="0"/>
              </a:spcAft>
              <a:buClr>
                <a:schemeClr val="dk1"/>
              </a:buClr>
              <a:buSzPct val="100000"/>
              <a:buChar char="●"/>
            </a:pPr>
            <a:r>
              <a:rPr lang="en" sz="1675">
                <a:solidFill>
                  <a:schemeClr val="dk1"/>
                </a:solidFill>
              </a:rPr>
              <a:t>sans-serif </a:t>
            </a:r>
            <a:endParaRPr sz="1675">
              <a:solidFill>
                <a:schemeClr val="dk1"/>
              </a:solidFill>
            </a:endParaRPr>
          </a:p>
          <a:p>
            <a:pPr indent="-287091" lvl="0" marL="457200" rtl="0" algn="l">
              <a:spcBef>
                <a:spcPts val="0"/>
              </a:spcBef>
              <a:spcAft>
                <a:spcPts val="0"/>
              </a:spcAft>
              <a:buClr>
                <a:schemeClr val="dk1"/>
              </a:buClr>
              <a:buSzPct val="100000"/>
              <a:buChar char="●"/>
            </a:pPr>
            <a:r>
              <a:rPr lang="en" sz="1675">
                <a:solidFill>
                  <a:schemeClr val="dk1"/>
                </a:solidFill>
              </a:rPr>
              <a:t>Strong hierarchy for dashboards </a:t>
            </a:r>
            <a:endParaRPr sz="1675">
              <a:solidFill>
                <a:schemeClr val="dk1"/>
              </a:solidFill>
            </a:endParaRPr>
          </a:p>
          <a:p>
            <a:pPr indent="-287091" lvl="0" marL="457200" rtl="0" algn="l">
              <a:spcBef>
                <a:spcPts val="0"/>
              </a:spcBef>
              <a:spcAft>
                <a:spcPts val="0"/>
              </a:spcAft>
              <a:buClr>
                <a:schemeClr val="dk1"/>
              </a:buClr>
              <a:buSzPct val="100000"/>
              <a:buChar char="●"/>
            </a:pPr>
            <a:r>
              <a:rPr lang="en" sz="1675">
                <a:solidFill>
                  <a:schemeClr val="dk1"/>
                </a:solidFill>
              </a:rPr>
              <a:t>Header is 36 pt</a:t>
            </a:r>
            <a:endParaRPr sz="1675">
              <a:solidFill>
                <a:schemeClr val="dk1"/>
              </a:solidFill>
            </a:endParaRPr>
          </a:p>
          <a:p>
            <a:pPr indent="-287091" lvl="0" marL="457200" rtl="0" algn="l">
              <a:spcBef>
                <a:spcPts val="0"/>
              </a:spcBef>
              <a:spcAft>
                <a:spcPts val="0"/>
              </a:spcAft>
              <a:buClr>
                <a:schemeClr val="dk1"/>
              </a:buClr>
              <a:buSzPct val="100000"/>
              <a:buChar char="●"/>
            </a:pPr>
            <a:r>
              <a:rPr lang="en" sz="1675">
                <a:solidFill>
                  <a:schemeClr val="dk1"/>
                </a:solidFill>
              </a:rPr>
              <a:t>Subheader is 24 pt</a:t>
            </a:r>
            <a:endParaRPr sz="1675">
              <a:solidFill>
                <a:schemeClr val="dk1"/>
              </a:solidFill>
            </a:endParaRPr>
          </a:p>
          <a:p>
            <a:pPr indent="0" lvl="0" marL="0" rtl="0" algn="l">
              <a:spcBef>
                <a:spcPts val="1200"/>
              </a:spcBef>
              <a:spcAft>
                <a:spcPts val="0"/>
              </a:spcAft>
              <a:buClr>
                <a:schemeClr val="dk1"/>
              </a:buClr>
              <a:buSzPct val="100000"/>
              <a:buFont typeface="Arial"/>
              <a:buNone/>
            </a:pPr>
            <a:r>
              <a:t/>
            </a:r>
            <a:endParaRPr sz="1100">
              <a:solidFill>
                <a:schemeClr val="dk1"/>
              </a:solidFill>
            </a:endParaRPr>
          </a:p>
          <a:p>
            <a:pPr indent="0" lvl="0" marL="0" rtl="0" algn="l">
              <a:spcBef>
                <a:spcPts val="1200"/>
              </a:spcBef>
              <a:spcAft>
                <a:spcPts val="1200"/>
              </a:spcAft>
              <a:buNone/>
            </a:pPr>
            <a:r>
              <a:t/>
            </a:r>
            <a:endParaRPr/>
          </a:p>
        </p:txBody>
      </p:sp>
      <p:sp>
        <p:nvSpPr>
          <p:cNvPr id="113" name="Google Shape;113;p20"/>
          <p:cNvSpPr txBox="1"/>
          <p:nvPr/>
        </p:nvSpPr>
        <p:spPr>
          <a:xfrm>
            <a:off x="4350775" y="1820075"/>
            <a:ext cx="4165500" cy="344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Website Walkthrough:</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Homepage: clear value proposition + live dashboard preview</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Dashboard: brand scoring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Insights page: real-time alerts and sentiment signals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Social Media Examples: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Data-driven posts (sentiment trends, insights)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Short explainers on brand damage and analytics</a:t>
            </a:r>
            <a:endParaRPr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b="1" lang="en" sz="1100">
                <a:solidFill>
                  <a:schemeClr val="dk1"/>
                </a:solidFill>
              </a:rPr>
              <a:t>Interface Extension:</a:t>
            </a:r>
            <a:br>
              <a:rPr b="1" lang="en" sz="1100">
                <a:solidFill>
                  <a:schemeClr val="dk1"/>
                </a:solidFill>
              </a:rPr>
            </a:br>
            <a:r>
              <a:rPr lang="en" sz="1100">
                <a:solidFill>
                  <a:schemeClr val="dk1"/>
                </a:solidFill>
              </a:rPr>
              <a:t> The brand identity carries into the tool with clean dashboards, high-contrast risk indicators, and network visualizations that reflect the similar colors and design logic as the brand system.</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Social media</a:t>
            </a:r>
            <a:endParaRPr/>
          </a:p>
        </p:txBody>
      </p:sp>
      <p:sp>
        <p:nvSpPr>
          <p:cNvPr id="119" name="Google Shape;119;p21"/>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0" name="Google Shape;120;p21"/>
          <p:cNvPicPr preferRelativeResize="0"/>
          <p:nvPr/>
        </p:nvPicPr>
        <p:blipFill>
          <a:blip r:embed="rId3">
            <a:alphaModFix/>
          </a:blip>
          <a:stretch>
            <a:fillRect/>
          </a:stretch>
        </p:blipFill>
        <p:spPr>
          <a:xfrm>
            <a:off x="352425" y="1317738"/>
            <a:ext cx="8439150" cy="3667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26" name="Google Shape;126;p22"/>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7" name="Google Shape;127;p22"/>
          <p:cNvPicPr preferRelativeResize="0"/>
          <p:nvPr/>
        </p:nvPicPr>
        <p:blipFill>
          <a:blip r:embed="rId3">
            <a:alphaModFix/>
          </a:blip>
          <a:stretch>
            <a:fillRect/>
          </a:stretch>
        </p:blipFill>
        <p:spPr>
          <a:xfrm>
            <a:off x="682363" y="1626963"/>
            <a:ext cx="7572375" cy="2924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33" name="Google Shape;133;p23"/>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4" name="Google Shape;134;p23"/>
          <p:cNvPicPr preferRelativeResize="0"/>
          <p:nvPr/>
        </p:nvPicPr>
        <p:blipFill>
          <a:blip r:embed="rId3">
            <a:alphaModFix/>
          </a:blip>
          <a:stretch>
            <a:fillRect/>
          </a:stretch>
        </p:blipFill>
        <p:spPr>
          <a:xfrm>
            <a:off x="66675" y="23813"/>
            <a:ext cx="9010650" cy="5095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Brand Storytelling </a:t>
            </a:r>
            <a:endParaRPr/>
          </a:p>
        </p:txBody>
      </p:sp>
      <p:sp>
        <p:nvSpPr>
          <p:cNvPr id="140" name="Google Shape;140;p2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62500" lnSpcReduction="10000"/>
          </a:bodyPr>
          <a:lstStyle/>
          <a:p>
            <a:pPr indent="0" lvl="0" marL="0" rtl="0" algn="l">
              <a:spcBef>
                <a:spcPts val="1200"/>
              </a:spcBef>
              <a:spcAft>
                <a:spcPts val="0"/>
              </a:spcAft>
              <a:buClr>
                <a:schemeClr val="dk1"/>
              </a:buClr>
              <a:buSzPct val="100000"/>
              <a:buFont typeface="Arial"/>
              <a:buNone/>
            </a:pPr>
            <a:r>
              <a:rPr lang="en" sz="1100">
                <a:solidFill>
                  <a:schemeClr val="dk1"/>
                </a:solidFill>
              </a:rPr>
              <a:t>A company relied on reviews for their reputation. Everything looked stable—on paper. But beneath the surface, a bad review destroyed their brand. No alerts were triggered because traditional systems only tracked keywords. Within weeks, brand damage cascaded upward, reducing customers  and costing millions.</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Moodcore changes this. By combining context  with real-time sentiment analysis, it detects hidden vulnerabilities before they escalate—giving organizations the power to act early instead of react late.</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Narrative Framework:</a:t>
            </a:r>
            <a:br>
              <a:rPr b="1" lang="en" sz="1100">
                <a:solidFill>
                  <a:schemeClr val="dk1"/>
                </a:solidFill>
              </a:rPr>
            </a:br>
            <a:r>
              <a:rPr lang="en" sz="1100">
                <a:solidFill>
                  <a:schemeClr val="dk1"/>
                </a:solidFill>
              </a:rPr>
              <a:t> </a:t>
            </a:r>
            <a:r>
              <a:rPr i="1" lang="en" sz="1100">
                <a:solidFill>
                  <a:schemeClr val="dk1"/>
                </a:solidFill>
              </a:rPr>
              <a:t>Problem → Tension → Resolution</a:t>
            </a:r>
            <a:br>
              <a:rPr i="1" lang="en" sz="1100">
                <a:solidFill>
                  <a:schemeClr val="dk1"/>
                </a:solidFill>
              </a:rPr>
            </a:br>
            <a:r>
              <a:rPr lang="en" sz="1100">
                <a:solidFill>
                  <a:schemeClr val="dk1"/>
                </a:solidFill>
              </a:rPr>
              <a:t> Chosen because it clearly demonstrates the cost of inactivity and positions the tool as the solution to a real, high-stakes problem.</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Connection to Brand Values:</a:t>
            </a:r>
            <a:endParaRPr b="1" sz="1100">
              <a:solidFill>
                <a:schemeClr val="dk1"/>
              </a:solidFill>
            </a:endParaRPr>
          </a:p>
          <a:p>
            <a:pPr indent="-272256" lvl="0" marL="457200" rtl="0" algn="l">
              <a:spcBef>
                <a:spcPts val="1200"/>
              </a:spcBef>
              <a:spcAft>
                <a:spcPts val="0"/>
              </a:spcAft>
              <a:buClr>
                <a:schemeClr val="dk1"/>
              </a:buClr>
              <a:buSzPct val="100000"/>
              <a:buChar char="●"/>
            </a:pPr>
            <a:r>
              <a:rPr lang="en" sz="1100">
                <a:solidFill>
                  <a:schemeClr val="dk1"/>
                </a:solidFill>
              </a:rPr>
              <a:t>Predictive Intelligence → detects issues early</a:t>
            </a:r>
            <a:endParaRPr sz="1100">
              <a:solidFill>
                <a:schemeClr val="dk1"/>
              </a:solidFill>
            </a:endParaRPr>
          </a:p>
          <a:p>
            <a:pPr indent="-272256" lvl="0" marL="457200" rtl="0" algn="l">
              <a:spcBef>
                <a:spcPts val="0"/>
              </a:spcBef>
              <a:spcAft>
                <a:spcPts val="0"/>
              </a:spcAft>
              <a:buClr>
                <a:schemeClr val="dk1"/>
              </a:buClr>
              <a:buSzPct val="100000"/>
              <a:buChar char="●"/>
            </a:pPr>
            <a:r>
              <a:rPr lang="en" sz="1100">
                <a:solidFill>
                  <a:schemeClr val="dk1"/>
                </a:solidFill>
              </a:rPr>
              <a:t>Network Visibility → uncovers hidden dependencies</a:t>
            </a:r>
            <a:endParaRPr sz="1100">
              <a:solidFill>
                <a:schemeClr val="dk1"/>
              </a:solidFill>
            </a:endParaRPr>
          </a:p>
          <a:p>
            <a:pPr indent="-272256" lvl="0" marL="457200" rtl="0" algn="l">
              <a:spcBef>
                <a:spcPts val="0"/>
              </a:spcBef>
              <a:spcAft>
                <a:spcPts val="0"/>
              </a:spcAft>
              <a:buClr>
                <a:schemeClr val="dk1"/>
              </a:buClr>
              <a:buSzPct val="100000"/>
              <a:buChar char="●"/>
            </a:pPr>
            <a:r>
              <a:rPr lang="en" sz="1100">
                <a:solidFill>
                  <a:schemeClr val="dk1"/>
                </a:solidFill>
              </a:rPr>
              <a:t>Actionable Insights → allows proactive decisions</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Focus:</a:t>
            </a:r>
            <a:br>
              <a:rPr b="1" lang="en" sz="1100">
                <a:solidFill>
                  <a:schemeClr val="dk1"/>
                </a:solidFill>
              </a:rPr>
            </a:br>
            <a:r>
              <a:rPr lang="en" sz="1100">
                <a:solidFill>
                  <a:schemeClr val="dk1"/>
                </a:solidFill>
              </a:rPr>
              <a:t> The problem is invisible, cascading brand risk. The solution is real-time, connected intelligence for enterprise decision-makers.</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