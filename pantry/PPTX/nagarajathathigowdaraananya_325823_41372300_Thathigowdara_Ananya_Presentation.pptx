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7" name="Google Shape;2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7" name="Google Shape;2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1" name="Google Shape;3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6" name="Google Shape;34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9" name="Google Shape;38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8" name="Google Shape;4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4" name="Google Shape;4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6" name="Google Shape;5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4" name="Google Shape;5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0" name="Google Shape;5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39" name="Google Shape;63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78" name="Google Shape;67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nanya1ani" TargetMode="External"/><Relationship Id="rId3" Type="http://schemas.openxmlformats.org/officeDocument/2006/relationships/hyperlink" Target="https://v0-portfolio-website-deploy.vercel.app/index.html" TargetMode="External"/><Relationship Id="rId7" Type="http://schemas.openxmlformats.org/officeDocument/2006/relationships/hyperlink" Target="https://www.linkedin.com/in/ananya-n-thathigowdar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ubstack.com/@ananyant16/note/p-193132133?r=83nx8a&amp;utm_source=notes-share-action&amp;utm_medium=web" TargetMode="External"/><Relationship Id="rId5" Type="http://schemas.openxmlformats.org/officeDocument/2006/relationships/hyperlink" Target="https://substack.com/@ananyant16/note/p-193853244?r=83nx8a&amp;utm_source=notes-share-action&amp;utm_medium=web" TargetMode="External"/><Relationship Id="rId4" Type="http://schemas.openxmlformats.org/officeDocument/2006/relationships/hyperlink" Target="https://meda-clinical-tool.streamlit.app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0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0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12064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12064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12064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12064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12064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512064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512064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12064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12064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512064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024128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1024128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024128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1024128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24128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24128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024128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024128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1024128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024128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536192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1536192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1536192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1536192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536192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536192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536192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536192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536192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536192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048256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048256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048256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048256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2048256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048256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048256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048256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048256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048256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56032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2560320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560320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560320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560320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560320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560320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2560320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560320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560320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072384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072384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072384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072384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072384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072384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072384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072384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072384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072384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584448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584448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584448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584448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584448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584448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584448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584448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584448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584448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096512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096512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096512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096512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096512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096512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096512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096512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096512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096512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608576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608576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608576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608576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608576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608576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608576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4608576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608576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608576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12064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20640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5120640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5120640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5120640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120640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20640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5120640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5120640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120640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632704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632704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5632704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5632704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5632704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632704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5632704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5632704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632704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5632704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144768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6144768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144768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6144768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6144768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6144768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6144768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6144768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6144768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6144768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6656832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6656832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6656832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6656832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6656832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6656832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6656832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6656832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6656832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6656832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7168896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7168896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7168896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7168896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7168896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168896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7168896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7168896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7168896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7168896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768096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7680960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7680960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7680960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7680960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7680960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7680960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7680960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7680960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7680960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8193024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8193024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8193024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8193024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8193024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8193024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8193024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8193024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8193024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8193024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8705088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8705088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8705088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8705088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8705088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8705088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8705088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8705088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8705088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8705088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9217152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9217152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9217152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9217152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9217152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9217152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9217152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9217152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"/>
          <p:cNvSpPr/>
          <p:nvPr/>
        </p:nvSpPr>
        <p:spPr>
          <a:xfrm>
            <a:off x="9217152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9217152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9729216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"/>
          <p:cNvSpPr/>
          <p:nvPr/>
        </p:nvSpPr>
        <p:spPr>
          <a:xfrm>
            <a:off x="9729216" y="56692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"/>
          <p:cNvSpPr/>
          <p:nvPr/>
        </p:nvSpPr>
        <p:spPr>
          <a:xfrm>
            <a:off x="9729216" y="113385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"/>
          <p:cNvSpPr/>
          <p:nvPr/>
        </p:nvSpPr>
        <p:spPr>
          <a:xfrm>
            <a:off x="9729216" y="170078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"/>
          <p:cNvSpPr/>
          <p:nvPr/>
        </p:nvSpPr>
        <p:spPr>
          <a:xfrm>
            <a:off x="9729216" y="226771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"/>
          <p:cNvSpPr/>
          <p:nvPr/>
        </p:nvSpPr>
        <p:spPr>
          <a:xfrm>
            <a:off x="9729216" y="2834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"/>
          <p:cNvSpPr/>
          <p:nvPr/>
        </p:nvSpPr>
        <p:spPr>
          <a:xfrm>
            <a:off x="9729216" y="3401568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9729216" y="3968496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9729216" y="4535424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9729216" y="5102352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34901"/>
            </a:srgbClr>
          </a:solidFill>
          <a:ln w="12700" cap="flat" cmpd="sng">
            <a:solidFill>
              <a:srgbClr val="2C3E6B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"/>
          <p:cNvSpPr/>
          <p:nvPr/>
        </p:nvSpPr>
        <p:spPr>
          <a:xfrm>
            <a:off x="411480" y="457200"/>
            <a:ext cx="859536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7800"/>
              <a:buFont typeface="Georgia"/>
              <a:buNone/>
            </a:pPr>
            <a:r>
              <a:rPr lang="en-US" sz="78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ANANYA</a:t>
            </a:r>
            <a:endParaRPr sz="7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411480" y="178308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3600"/>
              <a:buFont typeface="Georgia"/>
              <a:buNone/>
            </a:pPr>
            <a:r>
              <a:rPr lang="en-US" sz="3600" b="0" i="0" u="none" strike="noStrike" cap="none">
                <a:solidFill>
                  <a:srgbClr val="7A8BA0"/>
                </a:solidFill>
                <a:latin typeface="Georgia"/>
                <a:ea typeface="Georgia"/>
                <a:cs typeface="Georgia"/>
                <a:sym typeface="Georgia"/>
              </a:rPr>
              <a:t>THATHIGOWDARA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411480" y="2724912"/>
            <a:ext cx="43891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"/>
          <p:cNvSpPr/>
          <p:nvPr/>
        </p:nvSpPr>
        <p:spPr>
          <a:xfrm>
            <a:off x="411480" y="2871216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DATA ENGINEER  ·  BI SPECIALIST  ·  AI BUILDER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411480" y="3328416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EAF0FB"/>
                </a:solidFill>
                <a:latin typeface="Georgia"/>
                <a:ea typeface="Georgia"/>
                <a:cs typeface="Georgia"/>
                <a:sym typeface="Georgia"/>
              </a:rPr>
              <a:t>"I turn messy, high-volume data into clean pipelines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EAF0FB"/>
                </a:solidFill>
                <a:latin typeface="Georgia"/>
                <a:ea typeface="Georgia"/>
                <a:cs typeface="Georgia"/>
                <a:sym typeface="Georgia"/>
              </a:rPr>
              <a:t>and clear answers — from architecture to the boardroom."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411480" y="4462272"/>
            <a:ext cx="8549640" cy="512064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"/>
          <p:cNvSpPr/>
          <p:nvPr/>
        </p:nvSpPr>
        <p:spPr>
          <a:xfrm>
            <a:off x="548640" y="446227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🌐  LIVE:  Portfolio Website  ·  MEDA Clinical AI Tool  ·  Substack: ananyant16  ·  LinkedIn: </a:t>
            </a:r>
            <a:r>
              <a:rPr lang="en-US" sz="900" b="0" i="0" u="none" strike="noStrike" cap="none" dirty="0" err="1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ananya</a:t>
            </a:r>
            <a:r>
              <a:rPr lang="en-US" sz="900" b="0" i="0" u="none" strike="noStrike" cap="none" dirty="0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-n-</a:t>
            </a:r>
            <a:r>
              <a:rPr lang="en-US" sz="900" b="0" i="0" u="none" strike="noStrike" cap="none" dirty="0" err="1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thathigowdara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01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228600" y="256032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02  BRAND STRATEGY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201168" y="566928"/>
            <a:ext cx="28346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Brand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Strategy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201168" y="1920240"/>
            <a:ext cx="25603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201168" y="20299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Target · Position · Audience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201168" y="2395728"/>
            <a:ext cx="2834640" cy="239572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292608" y="248716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UNIQUE VALUE PROPOSITION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292608" y="2816352"/>
            <a:ext cx="2651760" cy="181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Full-stack data professional who architects the pipeline AND owns the narrative it produces. Unlike pure analysts or engineers — Ananya delivers value at every layer.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3456432" y="256032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TARGET AUDIENCE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3429000" y="566928"/>
            <a:ext cx="5486400" cy="123444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3429000" y="566928"/>
            <a:ext cx="64008" cy="12344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3602736" y="658368"/>
            <a:ext cx="52303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PERSONA 1 — Data-Driven Hiring Manager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3602736" y="950976"/>
            <a:ext cx="5230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Pain: Candidates claim 'data skills' but can't build real pipelines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3602736" y="1207008"/>
            <a:ext cx="5230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Needs: Full lifecycle ownership — ingestion to executive insight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3602736" y="1463040"/>
            <a:ext cx="5230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Finds Ananya: LinkedIn, GitHub, Northeastern alumni network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3429000" y="1956816"/>
            <a:ext cx="5486400" cy="123444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3429000" y="1956816"/>
            <a:ext cx="64008" cy="1234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4"/>
          <p:cNvSpPr/>
          <p:nvPr/>
        </p:nvSpPr>
        <p:spPr>
          <a:xfrm>
            <a:off x="3602736" y="2048256"/>
            <a:ext cx="52303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PERSONA 2 — Startup CTO / Head of Data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3602736" y="2340864"/>
            <a:ext cx="5230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Pain: Can't budget two hires — needs builder AND analyst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3602736" y="2596896"/>
            <a:ext cx="5230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Needs: Set up Snowflake on Monday, present to board on Friday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3602736" y="2852928"/>
            <a:ext cx="5230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Finds Ananya: GitHub, Wellfound, Twinly track record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3429000" y="3346704"/>
            <a:ext cx="5486400" cy="14813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"/>
          <p:cNvSpPr/>
          <p:nvPr/>
        </p:nvSpPr>
        <p:spPr>
          <a:xfrm>
            <a:off x="3584448" y="3438144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POSITIONING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3584448" y="3730752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1250"/>
              <a:buFont typeface="Georgia"/>
              <a:buNone/>
            </a:pPr>
            <a:r>
              <a:rPr lang="en-US" sz="1250" b="0" i="1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Unlike specialists who do pipelines OR dashboards — Ananya architects the infrastructure and owns the story it tells.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02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365760" y="164592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03  BRAND PILLARS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365760" y="40233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200"/>
              <a:buFont typeface="Georgia"/>
              <a:buNone/>
            </a:pPr>
            <a:r>
              <a:rPr lang="en-US" sz="2200" b="1" i="0" u="none" strike="noStrike" cap="none" dirty="0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Five Pillars of the Brand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292608" y="1188720"/>
            <a:ext cx="1572768" cy="239572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292608" y="1188720"/>
            <a:ext cx="15727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292608" y="1280160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292608" y="151790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Engineering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Rigor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384048" y="2066544"/>
            <a:ext cx="1389888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2M+ records/day. AWS, Airflow, Snowflake, dbt. Real production — not demos.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841248" y="371246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968" y="37581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"/>
          <p:cNvSpPr/>
          <p:nvPr/>
        </p:nvSpPr>
        <p:spPr>
          <a:xfrm>
            <a:off x="2103120" y="1188720"/>
            <a:ext cx="1572768" cy="239572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2103120" y="1188720"/>
            <a:ext cx="15727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2103120" y="1280160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2103120" y="151790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Insight Drives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2194560" y="2066544"/>
            <a:ext cx="1389888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42% query gain. 18% faster decisions. Every metric tells a business story.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2651760" y="371246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6" name="Google Shape;27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97480" y="37581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"/>
          <p:cNvSpPr/>
          <p:nvPr/>
        </p:nvSpPr>
        <p:spPr>
          <a:xfrm>
            <a:off x="3913632" y="1188720"/>
            <a:ext cx="1572768" cy="239572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3913632" y="1188720"/>
            <a:ext cx="15727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3913632" y="1280160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3913632" y="151790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Full-Stack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Versatility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4005072" y="2066544"/>
            <a:ext cx="1389888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Pipelines → dashboards → ML → AI tools. Every layer covered.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4462272" y="371246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7992" y="37581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724144" y="1188720"/>
            <a:ext cx="1572768" cy="239572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5"/>
          <p:cNvSpPr/>
          <p:nvPr/>
        </p:nvSpPr>
        <p:spPr>
          <a:xfrm>
            <a:off x="5724144" y="1188720"/>
            <a:ext cx="15727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5724144" y="1280160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5724144" y="151790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AI-Augmented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Solving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5815584" y="2066544"/>
            <a:ext cx="1389888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 b="0" i="0" u="none" strike="noStrike" cap="none" dirty="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Built MEDA: 90%+ accuracy on 5K+ clinical records. Builds &amp; deploys AI.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6272784" y="371246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8504" y="37581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5"/>
          <p:cNvSpPr/>
          <p:nvPr/>
        </p:nvSpPr>
        <p:spPr>
          <a:xfrm>
            <a:off x="7534656" y="1188720"/>
            <a:ext cx="1572768" cy="239572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5"/>
          <p:cNvSpPr/>
          <p:nvPr/>
        </p:nvSpPr>
        <p:spPr>
          <a:xfrm>
            <a:off x="7534656" y="1188720"/>
            <a:ext cx="15727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5"/>
          <p:cNvSpPr/>
          <p:nvPr/>
        </p:nvSpPr>
        <p:spPr>
          <a:xfrm>
            <a:off x="7534656" y="1280160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7534656" y="151790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Cross-Functional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Comms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7626096" y="2066544"/>
            <a:ext cx="1389888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 product teams at Jio. KPIs for healthcare execs. Tech → strategy.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8083296" y="371246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9016" y="37581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5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03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/>
          <p:nvPr/>
        </p:nvSpPr>
        <p:spPr>
          <a:xfrm>
            <a:off x="365760" y="182880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04  VISUAL IDENTITY SHOWCASE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365760" y="420624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Brand Identity System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365760" y="1060704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COLOR PALETTE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365760" y="1298448"/>
            <a:ext cx="1938528" cy="96012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365760" y="232257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Deep Navy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65760" y="254203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#1A1A2E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365760" y="272491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Primary BG / Authority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2487168" y="1298448"/>
            <a:ext cx="1938528" cy="960120"/>
          </a:xfrm>
          <a:prstGeom prst="rect">
            <a:avLst/>
          </a:prstGeom>
          <a:solidFill>
            <a:srgbClr val="2C3E6B"/>
          </a:solidFill>
          <a:ln w="12700" cap="flat" cmpd="sng">
            <a:solidFill>
              <a:srgbClr val="2C3E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2487168" y="232257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Brand Navy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2487168" y="254203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#2C3E6B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2487168" y="272491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Secondary / Sections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608576" y="1298448"/>
            <a:ext cx="1938528" cy="9601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4608576" y="232257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Signal Red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4608576" y="254203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#C0392B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608576" y="272491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Accent / CTA / Emphasis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6729984" y="1298448"/>
            <a:ext cx="1938528" cy="960120"/>
          </a:xfrm>
          <a:prstGeom prst="rect">
            <a:avLst/>
          </a:prstGeom>
          <a:solidFill>
            <a:srgbClr val="EAF0FB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6729984" y="2322576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Cloud Blue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6729984" y="254203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#EAF0FB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6729984" y="2724912"/>
            <a:ext cx="1938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Data Cards / Light BG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365760" y="3035808"/>
            <a:ext cx="8412480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365760" y="3145536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TYPOGRAPHY SYSTEM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365760" y="3364992"/>
            <a:ext cx="2743200" cy="153619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365760" y="3364992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493776" y="3456432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93776" y="3712464"/>
            <a:ext cx="248716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Ananya Thathigowdara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493776" y="4334256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Georgia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493776" y="455371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Headlines, Name, Titles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3246120" y="3364992"/>
            <a:ext cx="2743200" cy="153619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3246120" y="3364992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6"/>
          <p:cNvSpPr/>
          <p:nvPr/>
        </p:nvSpPr>
        <p:spPr>
          <a:xfrm>
            <a:off x="3374136" y="3456432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3374136" y="3712464"/>
            <a:ext cx="248716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Clean. Professional. Accessible.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3374136" y="4334256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Calibri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3374136" y="455371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Body Copy, UI Text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6126480" y="3364992"/>
            <a:ext cx="2743200" cy="153619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6126480" y="3364992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6254496" y="3456432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MONO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6254496" y="3712464"/>
            <a:ext cx="248716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42% → query.performance.gain()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254496" y="4334256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Courier New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6254496" y="455371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Metrics, Tags, Code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04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365760" y="164592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05  SOCIAL MEDIA PRESENCE — LIVE POSTS + SUBSTACK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365760" y="402336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Brand Voice Across Platforms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320040" y="1078992"/>
            <a:ext cx="2926080" cy="34290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3" name="Google Shape;353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1078992"/>
            <a:ext cx="292608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7"/>
          <p:cNvSpPr/>
          <p:nvPr/>
        </p:nvSpPr>
        <p:spPr>
          <a:xfrm>
            <a:off x="3401568" y="1078992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POST 1 — LINKEDIN INFOGRAPHIC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383280" y="1371600"/>
            <a:ext cx="2633472" cy="713232"/>
          </a:xfrm>
          <a:prstGeom prst="rect">
            <a:avLst/>
          </a:prstGeom>
          <a:solidFill>
            <a:srgbClr val="14142A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3383280" y="1371600"/>
            <a:ext cx="64008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3520440" y="1426464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HOOK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3520440" y="164592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"Most data problems aren't data problems, they're trust problems." — challenges audience assumptions.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3383280" y="2194560"/>
            <a:ext cx="2633472" cy="713232"/>
          </a:xfrm>
          <a:prstGeom prst="rect">
            <a:avLst/>
          </a:prstGeom>
          <a:solidFill>
            <a:srgbClr val="14142A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3383280" y="2194560"/>
            <a:ext cx="64008" cy="71323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7"/>
          <p:cNvSpPr/>
          <p:nvPr/>
        </p:nvSpPr>
        <p:spPr>
          <a:xfrm>
            <a:off x="3520440" y="2249424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6B"/>
              </a:buClr>
              <a:buSzPts val="750"/>
              <a:buFont typeface="Courier New"/>
              <a:buNone/>
            </a:pPr>
            <a:r>
              <a:rPr lang="en-US" sz="750" b="1" i="0" u="none" strike="noStrike" cap="none">
                <a:solidFill>
                  <a:srgbClr val="2C3E6B"/>
                </a:solidFill>
                <a:latin typeface="Courier New"/>
                <a:ea typeface="Courier New"/>
                <a:cs typeface="Courier New"/>
                <a:sym typeface="Courier New"/>
              </a:rPr>
              <a:t>VISUAL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3520440" y="246888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Before/After in brand navy. Signal Red ❌ vs green ✅ — instant scannability.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3383280" y="3017520"/>
            <a:ext cx="2633472" cy="713232"/>
          </a:xfrm>
          <a:prstGeom prst="rect">
            <a:avLst/>
          </a:prstGeom>
          <a:solidFill>
            <a:srgbClr val="14142A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3383280" y="3017520"/>
            <a:ext cx="64008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3520440" y="3072384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METRIC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3520440" y="329184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"2M+ records/day" + "18% faster decisions" — brand rule: every claim is a number.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3383280" y="3840480"/>
            <a:ext cx="2633472" cy="713232"/>
          </a:xfrm>
          <a:prstGeom prst="rect">
            <a:avLst/>
          </a:prstGeom>
          <a:solidFill>
            <a:srgbClr val="14142A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3383280" y="384048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3520440" y="3895344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ourier New"/>
              <a:buNone/>
            </a:pPr>
            <a:r>
              <a:rPr lang="en-US" sz="750" b="1" i="0" u="none" strike="noStrike" cap="non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3520440" y="411480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7 reactions · 3 weeks · Strong organic engagement on a new presence.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6144768" y="1078992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POST 2 + SUBSTACK ARTICLES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6126480" y="1371600"/>
            <a:ext cx="2788920" cy="138988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3" name="Google Shape;373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6480" y="1371600"/>
            <a:ext cx="2788920" cy="1389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7"/>
          <p:cNvSpPr/>
          <p:nvPr/>
        </p:nvSpPr>
        <p:spPr>
          <a:xfrm>
            <a:off x="6126480" y="2907792"/>
            <a:ext cx="2788920" cy="804672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6126480" y="2907792"/>
            <a:ext cx="64008" cy="8046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6272784" y="296265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700"/>
              <a:buFont typeface="Courier New"/>
              <a:buNone/>
            </a:pPr>
            <a:r>
              <a:rPr lang="en-US" sz="700" b="1" i="0" u="none" strike="noStrike" cap="none">
                <a:solidFill>
                  <a:srgbClr val="B39DDB"/>
                </a:solidFill>
                <a:latin typeface="Courier New"/>
                <a:ea typeface="Courier New"/>
                <a:cs typeface="Courier New"/>
                <a:sym typeface="Courier New"/>
              </a:rPr>
              <a:t>SUBSTACK · ARTICLE 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6272784" y="318211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900"/>
              <a:buFont typeface="Georgia"/>
              <a:buNone/>
            </a:pPr>
            <a:r>
              <a:rPr lang="en-US" sz="9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Why Most Data Teams Are Solving the Wrong Problem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6272784" y="3511296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ananyant16.substack.com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6126480" y="3767328"/>
            <a:ext cx="2788920" cy="804672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6126480" y="3767328"/>
            <a:ext cx="64008" cy="8046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6272784" y="382219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700"/>
              <a:buFont typeface="Courier New"/>
              <a:buNone/>
            </a:pPr>
            <a:r>
              <a:rPr lang="en-US" sz="700" b="1" i="0" u="none" strike="noStrike" cap="none">
                <a:solidFill>
                  <a:srgbClr val="B39DDB"/>
                </a:solidFill>
                <a:latin typeface="Courier New"/>
                <a:ea typeface="Courier New"/>
                <a:cs typeface="Courier New"/>
                <a:sym typeface="Courier New"/>
              </a:rPr>
              <a:t>SUBSTACK · ARTICLE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6272784" y="404164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900"/>
              <a:buFont typeface="Georgia"/>
              <a:buNone/>
            </a:pPr>
            <a:r>
              <a:rPr lang="en-US" sz="9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I Used to Make Charts. Then I Realized Nobody Was Using Them.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6272784" y="4389120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ananyant16.substack.com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320040" y="4663440"/>
            <a:ext cx="8595360" cy="329184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457200" y="466344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00"/>
              <a:buFont typeface="Courier New"/>
              <a:buNone/>
            </a:pPr>
            <a:r>
              <a:rPr lang="en-US" sz="800" b="0" i="0" u="none" strike="noStrike" cap="none" dirty="0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LINKEDIN (primary)  ·  2 live posts + engagement   ·   SUBSTACK  ·  2 published articles   ·   GITHUB  ·  portfolio + MEDA repo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05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8"/>
          <p:cNvSpPr/>
          <p:nvPr/>
        </p:nvSpPr>
        <p:spPr>
          <a:xfrm>
            <a:off x="365760" y="164592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06  EXPERIENCE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365760" y="402336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Where I've Built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1298448" y="1042416"/>
            <a:ext cx="45720" cy="37673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8"/>
          <p:cNvSpPr/>
          <p:nvPr/>
        </p:nvSpPr>
        <p:spPr>
          <a:xfrm>
            <a:off x="1170432" y="106070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8"/>
          <p:cNvSpPr/>
          <p:nvPr/>
        </p:nvSpPr>
        <p:spPr>
          <a:xfrm>
            <a:off x="1664208" y="10424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Twinly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4480560" y="1069848"/>
            <a:ext cx="173736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4480560" y="106984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F8F9FF"/>
                </a:solidFill>
                <a:latin typeface="Courier New"/>
                <a:ea typeface="Courier New"/>
                <a:cs typeface="Courier New"/>
                <a:sym typeface="Courier New"/>
              </a:rPr>
              <a:t>Data Engineer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6309360" y="107899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Mar–Aug 2025 · Boston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1664208" y="1371600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2M+ records/day · AWS S3 + Airflow event-driven ETL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1664208" y="1627632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42% query performance gain · Snowflake + dbt warehouse design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1664208" y="1883664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25% reduction in data issues · Power BI monitoring dashboards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1170432" y="232257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"/>
          <p:cNvSpPr/>
          <p:nvPr/>
        </p:nvSpPr>
        <p:spPr>
          <a:xfrm>
            <a:off x="1664208" y="23042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eDocs Solutions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4480560" y="2331720"/>
            <a:ext cx="173736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4480560" y="233172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F8F9FF"/>
                </a:solidFill>
                <a:latin typeface="Courier New"/>
                <a:ea typeface="Courier New"/>
                <a:cs typeface="Courier New"/>
                <a:sym typeface="Courier New"/>
              </a:rPr>
              <a:t>Data Analyst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6309360" y="234086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Aug 2023–Jul 2024 · Mumbai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1664208" y="2633472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21% rework reduction via SQL workflow analysis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1664208" y="2889504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18% faster decision-making for healthcare teams via Power BI (DAX)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664208" y="3145536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14% data quality improvement via Excel, Power Query, t-tests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1170432" y="35661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1664208" y="35478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Jio Platforms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4480560" y="3575304"/>
            <a:ext cx="173736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4480560" y="357530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F8F9FF"/>
                </a:solidFill>
                <a:latin typeface="Courier New"/>
                <a:ea typeface="Courier New"/>
                <a:cs typeface="Courier New"/>
                <a:sym typeface="Courier New"/>
              </a:rPr>
              <a:t>Data Analyst Intern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6309360" y="358444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Mar–Jun 2023 · Remote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1664208" y="3877056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Analyzed 500K+ subscriber records (MongoDB, BigQuery) for churn + pricing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1664208" y="4133088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62% of usage behavior variation explained via Python analysis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1170432" y="44805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8"/>
          <p:cNvSpPr/>
          <p:nvPr/>
        </p:nvSpPr>
        <p:spPr>
          <a:xfrm>
            <a:off x="1664208" y="44622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K-AKA Technology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4480560" y="4489704"/>
            <a:ext cx="173736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4480560" y="448970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F8F9FF"/>
                </a:solidFill>
                <a:latin typeface="Courier New"/>
                <a:ea typeface="Courier New"/>
                <a:cs typeface="Courier New"/>
                <a:sym typeface="Courier New"/>
              </a:rPr>
              <a:t>Business Analyst Intern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6309360" y="449884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Nov 2022–Feb 2023 · Bengaluru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1664208" y="4791456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→  30% faster reporting turnaround · 25% onboarding success improvement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06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9"/>
          <p:cNvSpPr/>
          <p:nvPr/>
        </p:nvSpPr>
        <p:spPr>
          <a:xfrm>
            <a:off x="365760" y="182880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07  SELECTED PROJECTS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365760" y="420624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 I've Built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292608" y="1078992"/>
            <a:ext cx="2798064" cy="382219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292608" y="1078992"/>
            <a:ext cx="2798064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420624" y="1170432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01 / AI · CLINICAL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420624" y="1426464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MEDA — Clinical Decision Support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420624" y="2011680"/>
            <a:ext cx="254203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GPT-3.5 via OpenAI API for clinical medicine assistance. Validated on 5K+ anonymized records across 100+ benchmark scenarios.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420624" y="28346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9" name="Google Shape;43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68" y="28437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9"/>
          <p:cNvSpPr/>
          <p:nvPr/>
        </p:nvSpPr>
        <p:spPr>
          <a:xfrm>
            <a:off x="676656" y="282549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90%+ benchmark accuracy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420624" y="31546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2" name="Google Shape;442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68" y="31638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9"/>
          <p:cNvSpPr/>
          <p:nvPr/>
        </p:nvSpPr>
        <p:spPr>
          <a:xfrm>
            <a:off x="676656" y="314553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60% faster drug lookup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420624" y="34747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5" name="Google Shape;44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68" y="348386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9"/>
          <p:cNvSpPr/>
          <p:nvPr/>
        </p:nvSpPr>
        <p:spPr>
          <a:xfrm>
            <a:off x="676656" y="346557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30% fewer classification errors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420624" y="4572000"/>
            <a:ext cx="2542032" cy="219456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420624" y="4572000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6B"/>
              </a:buClr>
              <a:buSzPts val="700"/>
              <a:buFont typeface="Courier New"/>
              <a:buNone/>
            </a:pPr>
            <a:r>
              <a:rPr lang="en-US" sz="700" b="0" i="0" u="none" strike="noStrike" cap="none">
                <a:solidFill>
                  <a:srgbClr val="2C3E6B"/>
                </a:solidFill>
                <a:latin typeface="Courier New"/>
                <a:ea typeface="Courier New"/>
                <a:cs typeface="Courier New"/>
                <a:sym typeface="Courier New"/>
              </a:rPr>
              <a:t>Python · OpenAI API · Pandas · NumPy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3255264" y="1078992"/>
            <a:ext cx="2798064" cy="382219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3255264" y="1078992"/>
            <a:ext cx="2798064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3383280" y="1170432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02 / ML · ENVIRONMENT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3383280" y="1426464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Port Emissions Forecasting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3383280" y="2011680"/>
            <a:ext cx="254203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ML-based hydrocarbon emission forecasting at ports — multiple linear regression + decision trees in R.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3383280" y="28346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5" name="Google Shape;45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2424" y="28437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9"/>
          <p:cNvSpPr/>
          <p:nvPr/>
        </p:nvSpPr>
        <p:spPr>
          <a:xfrm>
            <a:off x="3639312" y="282549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15% prediction accuracy boost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3383280" y="31546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8" name="Google Shape;45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2424" y="31638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9"/>
          <p:cNvSpPr/>
          <p:nvPr/>
        </p:nvSpPr>
        <p:spPr>
          <a:xfrm>
            <a:off x="3639312" y="314553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Tableau + Power BI visualisation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3383280" y="34747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1" name="Google Shape;46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2424" y="348386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9"/>
          <p:cNvSpPr/>
          <p:nvPr/>
        </p:nvSpPr>
        <p:spPr>
          <a:xfrm>
            <a:off x="3639312" y="346557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Multiple ML models benchmarked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3383280" y="4572000"/>
            <a:ext cx="2542032" cy="219456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3383280" y="4572000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6B"/>
              </a:buClr>
              <a:buSzPts val="700"/>
              <a:buFont typeface="Courier New"/>
              <a:buNone/>
            </a:pPr>
            <a:r>
              <a:rPr lang="en-US" sz="700" b="0" i="0" u="none" strike="noStrike" cap="none">
                <a:solidFill>
                  <a:srgbClr val="2C3E6B"/>
                </a:solidFill>
                <a:latin typeface="Courier New"/>
                <a:ea typeface="Courier New"/>
                <a:cs typeface="Courier New"/>
                <a:sym typeface="Courier New"/>
              </a:rPr>
              <a:t>R · Regression · Decision Trees · Tableau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6217920" y="1078992"/>
            <a:ext cx="2798064" cy="382219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9"/>
          <p:cNvSpPr/>
          <p:nvPr/>
        </p:nvSpPr>
        <p:spPr>
          <a:xfrm>
            <a:off x="6217920" y="1078992"/>
            <a:ext cx="2798064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6345936" y="1170432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03 / ANALYTICS · HEALTH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6345936" y="1426464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Healthcare Cost Prediction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6345936" y="2011680"/>
            <a:ext cx="254203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Predictive cost modeling using Random Forest, Logistic Regression, Gradient Boosting after EDA.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6345936" y="28346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1" name="Google Shape;47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28437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9"/>
          <p:cNvSpPr/>
          <p:nvPr/>
        </p:nvSpPr>
        <p:spPr>
          <a:xfrm>
            <a:off x="6601968" y="282549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ROC score: 0.95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6345936" y="31546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4" name="Google Shape;474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31638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9"/>
          <p:cNvSpPr/>
          <p:nvPr/>
        </p:nvSpPr>
        <p:spPr>
          <a:xfrm>
            <a:off x="6601968" y="314553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Full EDA pipeline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6345936" y="34747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7" name="Google Shape;47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348386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9"/>
          <p:cNvSpPr/>
          <p:nvPr/>
        </p:nvSpPr>
        <p:spPr>
          <a:xfrm>
            <a:off x="6601968" y="346557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Data-driven cost estimation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6345936" y="4572000"/>
            <a:ext cx="2542032" cy="219456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9"/>
          <p:cNvSpPr/>
          <p:nvPr/>
        </p:nvSpPr>
        <p:spPr>
          <a:xfrm>
            <a:off x="6345936" y="4572000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6B"/>
              </a:buClr>
              <a:buSzPts val="700"/>
              <a:buFont typeface="Courier New"/>
              <a:buNone/>
            </a:pPr>
            <a:r>
              <a:rPr lang="en-US" sz="700" b="0" i="0" u="none" strike="noStrike" cap="none">
                <a:solidFill>
                  <a:srgbClr val="2C3E6B"/>
                </a:solidFill>
                <a:latin typeface="Courier New"/>
                <a:ea typeface="Courier New"/>
                <a:cs typeface="Courier New"/>
                <a:sym typeface="Courier New"/>
              </a:rPr>
              <a:t>Python · Random Forest · Gradient Boosting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07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"/>
          <p:cNvSpPr/>
          <p:nvPr/>
        </p:nvSpPr>
        <p:spPr>
          <a:xfrm>
            <a:off x="0" y="0"/>
            <a:ext cx="3401568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237744" y="237744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08  BRAND STORYTELLING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237744" y="56692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Story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237744" y="896112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From Mumbai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to Milliseconds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237744" y="2011680"/>
            <a:ext cx="29260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292608" y="2048256"/>
            <a:ext cx="281635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FRAMEWORK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292608" y="2212848"/>
            <a:ext cx="28163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Hero's Journey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237744" y="2596896"/>
            <a:ext cx="2926080" cy="256032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0"/>
          <p:cNvSpPr/>
          <p:nvPr/>
        </p:nvSpPr>
        <p:spPr>
          <a:xfrm>
            <a:off x="237744" y="25968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Challenge  →  Transformation  →  Return with Solution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237744" y="2980944"/>
            <a:ext cx="2926080" cy="512064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0"/>
          <p:cNvSpPr/>
          <p:nvPr/>
        </p:nvSpPr>
        <p:spPr>
          <a:xfrm>
            <a:off x="310896" y="3017520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750"/>
              <a:buFont typeface="Courier New"/>
              <a:buNone/>
            </a:pPr>
            <a:r>
              <a:rPr lang="en-US" sz="750" b="1" i="0" u="none" strike="noStrike" cap="none">
                <a:solidFill>
                  <a:srgbClr val="B39DDB"/>
                </a:solidFill>
                <a:latin typeface="Courier New"/>
                <a:ea typeface="Courier New"/>
                <a:cs typeface="Courier New"/>
                <a:sym typeface="Courier New"/>
              </a:rPr>
              <a:t>📖  READ ON SUBSTACK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310896" y="3200400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ananyant16.substack.com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237744" y="3621024"/>
            <a:ext cx="2926080" cy="25603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0"/>
          <p:cNvSpPr/>
          <p:nvPr/>
        </p:nvSpPr>
        <p:spPr>
          <a:xfrm>
            <a:off x="237744" y="362102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100-WORD BRAND STORY  ·  DEPLOYABLE AS-IS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3547872" y="274320"/>
            <a:ext cx="5376672" cy="144475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0"/>
          <p:cNvSpPr/>
          <p:nvPr/>
        </p:nvSpPr>
        <p:spPr>
          <a:xfrm>
            <a:off x="3547872" y="274320"/>
            <a:ext cx="64008" cy="144475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0"/>
          <p:cNvSpPr/>
          <p:nvPr/>
        </p:nvSpPr>
        <p:spPr>
          <a:xfrm>
            <a:off x="3712464" y="365760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6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2C3E6B"/>
                </a:solidFill>
                <a:latin typeface="Courier New"/>
                <a:ea typeface="Courier New"/>
                <a:cs typeface="Courier New"/>
                <a:sym typeface="Courier New"/>
              </a:rPr>
              <a:t>CHALLENGE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3712464" y="658368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first dashboard I built was never opened. Two weeks of SQL extracts, cleaned data, workflow diagrams. The team nodded, said 'great,' and went back to their spreadsheets.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3547872" y="1865376"/>
            <a:ext cx="5376672" cy="144475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0"/>
          <p:cNvSpPr/>
          <p:nvPr/>
        </p:nvSpPr>
        <p:spPr>
          <a:xfrm>
            <a:off x="3547872" y="1865376"/>
            <a:ext cx="64008" cy="1444752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0"/>
          <p:cNvSpPr/>
          <p:nvPr/>
        </p:nvSpPr>
        <p:spPr>
          <a:xfrm>
            <a:off x="3712464" y="1956816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3226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A93226"/>
                </a:solidFill>
                <a:latin typeface="Courier New"/>
                <a:ea typeface="Courier New"/>
                <a:cs typeface="Courier New"/>
                <a:sym typeface="Courier New"/>
              </a:rPr>
              <a:t>TRANSFORMATION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3712464" y="2249424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It took three more roles to understand — I had failed at the pipeline, not the visualization. Broken infrastructure means nobody trusts the data. I became the person who fixes the foundation first.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3547872" y="3456432"/>
            <a:ext cx="5376672" cy="144475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0"/>
          <p:cNvSpPr/>
          <p:nvPr/>
        </p:nvSpPr>
        <p:spPr>
          <a:xfrm>
            <a:off x="3547872" y="3456432"/>
            <a:ext cx="64008" cy="14447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3712464" y="3547872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RETURN WITH SOLUTION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3712464" y="384048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 eDocs: 14% data quality improvement → 18% faster decisions. At Twinly: 2M+ records/day, 42% faster queries. Clean pipes. Clear answers. Confident decisions.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08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365760" y="237744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09  BRAND STORY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365760" y="548640"/>
            <a:ext cx="51663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What Medicine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Taught Me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About Data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365760" y="2121408"/>
            <a:ext cx="32004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1"/>
          <p:cNvSpPr/>
          <p:nvPr/>
        </p:nvSpPr>
        <p:spPr>
          <a:xfrm>
            <a:off x="438912" y="2157984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FRAMEWORK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438912" y="232257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Overcoming the Monster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365760" y="2706624"/>
            <a:ext cx="5166360" cy="237744"/>
          </a:xfrm>
          <a:prstGeom prst="rect">
            <a:avLst/>
          </a:prstGeom>
          <a:solidFill>
            <a:srgbClr val="0D0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365760" y="2706624"/>
            <a:ext cx="5166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EAF0FB"/>
                </a:solidFill>
                <a:latin typeface="Courier New"/>
                <a:ea typeface="Courier New"/>
                <a:cs typeface="Courier New"/>
                <a:sym typeface="Courier New"/>
              </a:rPr>
              <a:t>Threat Identified  →  Confrontation  →  Victory  →  New Order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365760" y="3072384"/>
            <a:ext cx="5166360" cy="56692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365760" y="3072384"/>
            <a:ext cx="6400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530352" y="3118104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urier New"/>
              <a:buNone/>
            </a:pPr>
            <a:r>
              <a:rPr lang="en-US" sz="75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THREAT IDENTIFIED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530352" y="331012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At every company — the same monster. Reports that contradicted each other. Dashboards built but never opened. Executives deciding on gut feel because the numbers couldn't be trusted.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365760" y="3730752"/>
            <a:ext cx="5166360" cy="56692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365760" y="3730752"/>
            <a:ext cx="64008" cy="5669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1"/>
          <p:cNvSpPr/>
          <p:nvPr/>
        </p:nvSpPr>
        <p:spPr>
          <a:xfrm>
            <a:off x="530352" y="3776472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750"/>
              <a:buFont typeface="Courier New"/>
              <a:buNone/>
            </a:pPr>
            <a:r>
              <a:rPr lang="en-US" sz="750" b="1" i="0" u="none" strike="noStrike" cap="none">
                <a:solidFill>
                  <a:srgbClr val="E65100"/>
                </a:solidFill>
                <a:latin typeface="Courier New"/>
                <a:ea typeface="Courier New"/>
                <a:cs typeface="Courier New"/>
                <a:sym typeface="Courier New"/>
              </a:rPr>
              <a:t>CONFRONTATION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530352" y="3968496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I came into clinical data as an engineer, not a doctor. That meant I asked questions insiders had stopped asking. In healthcare, data errors hurt people. No 'approximately correct.'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365760" y="4389120"/>
            <a:ext cx="5166360" cy="56692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365760" y="4389120"/>
            <a:ext cx="64008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530352" y="443484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50"/>
              <a:buFont typeface="Courier New"/>
              <a:buNone/>
            </a:pPr>
            <a:r>
              <a:rPr lang="en-US" sz="750" b="1" i="0" u="none" strike="noStrike" cap="none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rPr>
              <a:t>VICTORY → NEW ORDER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530352" y="4626864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 dirty="0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MEDA: 90%+ benchmark accuracy on 5K+ clinical records. 100+ edge cases tested. Zero silent failures. The new order — systems that know their boundaries and never guess.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5907024" y="274320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 dirty="0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MEDA — CLINICAL AI TOOL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1"/>
          <p:cNvSpPr/>
          <p:nvPr/>
        </p:nvSpPr>
        <p:spPr>
          <a:xfrm>
            <a:off x="5907024" y="64008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90%+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5907024" y="1234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BENCHMARK ACCURACY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1"/>
          <p:cNvSpPr/>
          <p:nvPr/>
        </p:nvSpPr>
        <p:spPr>
          <a:xfrm>
            <a:off x="6583680" y="1572768"/>
            <a:ext cx="1645920" cy="18288"/>
          </a:xfrm>
          <a:prstGeom prst="rect">
            <a:avLst/>
          </a:prstGeom>
          <a:solidFill>
            <a:srgbClr val="FFFFFF">
              <a:alpha val="3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5907024" y="171907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5K+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5907024" y="231343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CLINICAL RECORDS VALIDATED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6583680" y="2651760"/>
            <a:ext cx="1645920" cy="18288"/>
          </a:xfrm>
          <a:prstGeom prst="rect">
            <a:avLst/>
          </a:prstGeom>
          <a:solidFill>
            <a:srgbClr val="FFFFFF">
              <a:alpha val="3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5907024" y="2798064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60%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5907024" y="339242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FASTER DRUG LOOKUP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6583680" y="3730752"/>
            <a:ext cx="1645920" cy="18288"/>
          </a:xfrm>
          <a:prstGeom prst="rect">
            <a:avLst/>
          </a:prstGeom>
          <a:solidFill>
            <a:srgbClr val="FFFFFF">
              <a:alpha val="3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5907024" y="3877056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30%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5907024" y="4471416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FEWER CLASSIFICATION ERRORS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09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2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237744" y="237744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10  MADISON AI TOOL — LIVE DEMO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237744" y="548640"/>
            <a:ext cx="3200400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200"/>
              <a:buFont typeface="Georgia"/>
              <a:buNone/>
            </a:pPr>
            <a:r>
              <a:rPr lang="en-US" sz="2200" b="1" i="0" u="none" strike="noStrike" cap="none" dirty="0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MEDA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200"/>
              <a:buFont typeface="Georgia"/>
              <a:buNone/>
            </a:pPr>
            <a:r>
              <a:rPr lang="en-US" sz="2200" b="1" i="0" u="none" strike="noStrike" cap="none" dirty="0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Clinical Decision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2200"/>
              <a:buFont typeface="Georgia"/>
              <a:buNone/>
            </a:pPr>
            <a:r>
              <a:rPr lang="en-US" sz="2200" b="1" i="0" u="none" strike="noStrike" cap="none" dirty="0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Support System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237744" y="2286000"/>
            <a:ext cx="32004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237744" y="2395728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Medicine &amp; Data Assistant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Built with Python · GPT-3.5 · OpenAI API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Deployed on Streamlit Cloud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237744" y="318211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512064" y="316382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Drug interaction lookup with 90%+ benchmark accuracy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237744" y="352958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512064" y="35112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Clinical query processing on 5,000+ anonymized records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237744" y="387705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512064" y="385876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Edge case validation — 100+ benchmark test scenarios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237744" y="422452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512064" y="42062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60% reduction in drug lookup time vs manual process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237744" y="457200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512064" y="45537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Graceful degradation — zero silent failures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3858768" y="237744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HOW THIS CONNECTS TO THE BRAND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3822192" y="566928"/>
            <a:ext cx="5120640" cy="118872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3822192" y="566928"/>
            <a:ext cx="64008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3968496" y="65836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Pillar 4 — AI-Augmented Solving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3968496" y="1005840"/>
            <a:ext cx="48463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Builds, validates, and deploys AI — doesn't just prompt-wrap it.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3822192" y="1938528"/>
            <a:ext cx="5120640" cy="118872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3822192" y="1938528"/>
            <a:ext cx="64008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3968496" y="202996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Pillar 1 — Engineering Rigor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3968496" y="2377440"/>
            <a:ext cx="48463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100+ edge cases. Statistical validation. No assumptions.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3822192" y="3310128"/>
            <a:ext cx="5120640" cy="118872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3822192" y="3310128"/>
            <a:ext cx="64008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3968496" y="340156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Outsider Advantage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3968496" y="3749040"/>
            <a:ext cx="48463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Engineer in a medical domain → more rigorous than insiders.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3822192" y="4645152"/>
            <a:ext cx="512064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3931920" y="4645152"/>
            <a:ext cx="4892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⚡  LIVE NOW — meda-clinical-tool.streamlit.app  ·  Show it running in real time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10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3"/>
          <p:cNvSpPr/>
          <p:nvPr/>
        </p:nvSpPr>
        <p:spPr>
          <a:xfrm>
            <a:off x="365760" y="182880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11  CAREER POSITIONING STRATEGY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365760" y="420624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Where I'm Headed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365760" y="1024128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TARGET ROLES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365760" y="1261872"/>
            <a:ext cx="2029968" cy="117043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365760" y="1261872"/>
            <a:ext cx="20299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475488" y="1353312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Data Engineer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475488" y="1773936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Leverages Twinly production experience directly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2560320" y="1261872"/>
            <a:ext cx="2029968" cy="117043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2560320" y="1261872"/>
            <a:ext cx="20299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2670048" y="1353312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Analytics Engineer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2670048" y="1773936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dbt + Snowflake skill set in high demand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4754880" y="1261872"/>
            <a:ext cx="2029968" cy="117043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3"/>
          <p:cNvSpPr/>
          <p:nvPr/>
        </p:nvSpPr>
        <p:spPr>
          <a:xfrm>
            <a:off x="4754880" y="1261872"/>
            <a:ext cx="20299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3"/>
          <p:cNvSpPr/>
          <p:nvPr/>
        </p:nvSpPr>
        <p:spPr>
          <a:xfrm>
            <a:off x="4864608" y="1353312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Senior Data Analyst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3"/>
          <p:cNvSpPr/>
          <p:nvPr/>
        </p:nvSpPr>
        <p:spPr>
          <a:xfrm>
            <a:off x="4864608" y="1773936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Path to team leadership + BI ownership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6949440" y="1261872"/>
            <a:ext cx="2029968" cy="1170432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3"/>
          <p:cNvSpPr/>
          <p:nvPr/>
        </p:nvSpPr>
        <p:spPr>
          <a:xfrm>
            <a:off x="6949440" y="1261872"/>
            <a:ext cx="20299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3"/>
          <p:cNvSpPr/>
          <p:nvPr/>
        </p:nvSpPr>
        <p:spPr>
          <a:xfrm>
            <a:off x="7059168" y="1353312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Applied Data Scientist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3"/>
          <p:cNvSpPr/>
          <p:nvPr/>
        </p:nvSpPr>
        <p:spPr>
          <a:xfrm>
            <a:off x="7059168" y="1773936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 project portfolio differentiates here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365760" y="2578608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TARGET INDUSTRIES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3"/>
          <p:cNvSpPr/>
          <p:nvPr/>
        </p:nvSpPr>
        <p:spPr>
          <a:xfrm>
            <a:off x="365760" y="2816352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3"/>
          <p:cNvSpPr/>
          <p:nvPr/>
        </p:nvSpPr>
        <p:spPr>
          <a:xfrm>
            <a:off x="640080" y="27980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Healthcare Technology (MEDA + eDocs)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3"/>
          <p:cNvSpPr/>
          <p:nvPr/>
        </p:nvSpPr>
        <p:spPr>
          <a:xfrm>
            <a:off x="365760" y="3218688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3"/>
          <p:cNvSpPr/>
          <p:nvPr/>
        </p:nvSpPr>
        <p:spPr>
          <a:xfrm>
            <a:off x="640080" y="32004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FinTech &amp; Financial Services (quantitative rigor)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3"/>
          <p:cNvSpPr/>
          <p:nvPr/>
        </p:nvSpPr>
        <p:spPr>
          <a:xfrm>
            <a:off x="365760" y="3621024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3"/>
          <p:cNvSpPr/>
          <p:nvPr/>
        </p:nvSpPr>
        <p:spPr>
          <a:xfrm>
            <a:off x="640080" y="36027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SaaS / B2B Tech (Jio + Twinly product experience)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3"/>
          <p:cNvSpPr/>
          <p:nvPr/>
        </p:nvSpPr>
        <p:spPr>
          <a:xfrm>
            <a:off x="365760" y="4023360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3"/>
          <p:cNvSpPr/>
          <p:nvPr/>
        </p:nvSpPr>
        <p:spPr>
          <a:xfrm>
            <a:off x="640080" y="400507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Startups Series A–C (can build from scratch)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3"/>
          <p:cNvSpPr/>
          <p:nvPr/>
        </p:nvSpPr>
        <p:spPr>
          <a:xfrm>
            <a:off x="4572000" y="2578608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KEY DIFFERENTIATORS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3"/>
          <p:cNvSpPr/>
          <p:nvPr/>
        </p:nvSpPr>
        <p:spPr>
          <a:xfrm>
            <a:off x="4572000" y="2816352"/>
            <a:ext cx="4343400" cy="4572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3"/>
          <p:cNvSpPr/>
          <p:nvPr/>
        </p:nvSpPr>
        <p:spPr>
          <a:xfrm>
            <a:off x="4572000" y="2816352"/>
            <a:ext cx="64008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3"/>
          <p:cNvSpPr/>
          <p:nvPr/>
        </p:nvSpPr>
        <p:spPr>
          <a:xfrm>
            <a:off x="4718304" y="287121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Speed + Scale:  2M+ records/day — production load, not a lab exercise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/>
          <p:nvPr/>
        </p:nvSpPr>
        <p:spPr>
          <a:xfrm>
            <a:off x="4572000" y="3346704"/>
            <a:ext cx="4343400" cy="4572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3"/>
          <p:cNvSpPr/>
          <p:nvPr/>
        </p:nvSpPr>
        <p:spPr>
          <a:xfrm>
            <a:off x="4572000" y="3346704"/>
            <a:ext cx="64008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3"/>
          <p:cNvSpPr/>
          <p:nvPr/>
        </p:nvSpPr>
        <p:spPr>
          <a:xfrm>
            <a:off x="4718304" y="340156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Measurable Outcomes:  Every project includes a specific improvement metric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3"/>
          <p:cNvSpPr/>
          <p:nvPr/>
        </p:nvSpPr>
        <p:spPr>
          <a:xfrm>
            <a:off x="4572000" y="3877056"/>
            <a:ext cx="4343400" cy="4572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3"/>
          <p:cNvSpPr/>
          <p:nvPr/>
        </p:nvSpPr>
        <p:spPr>
          <a:xfrm>
            <a:off x="4572000" y="3877056"/>
            <a:ext cx="64008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3"/>
          <p:cNvSpPr/>
          <p:nvPr/>
        </p:nvSpPr>
        <p:spPr>
          <a:xfrm>
            <a:off x="4718304" y="393192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AI Literacy:  Builds and validates AI — not just a user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3"/>
          <p:cNvSpPr/>
          <p:nvPr/>
        </p:nvSpPr>
        <p:spPr>
          <a:xfrm>
            <a:off x="4572000" y="4407408"/>
            <a:ext cx="4343400" cy="4572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3"/>
          <p:cNvSpPr/>
          <p:nvPr/>
        </p:nvSpPr>
        <p:spPr>
          <a:xfrm>
            <a:off x="4572000" y="4407408"/>
            <a:ext cx="64008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3"/>
          <p:cNvSpPr/>
          <p:nvPr/>
        </p:nvSpPr>
        <p:spPr>
          <a:xfrm>
            <a:off x="4718304" y="4462272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International Experience:  Mumbai → Boston shows global adaptability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3"/>
          <p:cNvSpPr/>
          <p:nvPr/>
        </p:nvSpPr>
        <p:spPr>
          <a:xfrm>
            <a:off x="365760" y="4681728"/>
            <a:ext cx="85496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3"/>
          <p:cNvSpPr/>
          <p:nvPr/>
        </p:nvSpPr>
        <p:spPr>
          <a:xfrm>
            <a:off x="502920" y="4681728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GEOGRAPHY:  Boston, MA  ·  Remote-first companies  ·  NYC / Seattle / SF open for senior roles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3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11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4"/>
          <p:cNvSpPr/>
          <p:nvPr/>
        </p:nvSpPr>
        <p:spPr>
          <a:xfrm>
            <a:off x="365760" y="182880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// 12  LIVE BRAND ECOSYSTEM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4"/>
          <p:cNvSpPr/>
          <p:nvPr/>
        </p:nvSpPr>
        <p:spPr>
          <a:xfrm>
            <a:off x="365760" y="420624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Everything Is Live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8BA0"/>
                </a:solidFill>
                <a:latin typeface="Calibri"/>
                <a:ea typeface="Calibri"/>
                <a:cs typeface="Calibri"/>
                <a:sym typeface="Calibri"/>
              </a:rPr>
              <a:t>Every deliverable is live, functional, and accessible right now: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320040" y="1353312"/>
            <a:ext cx="2798064" cy="157276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4"/>
          <p:cNvSpPr/>
          <p:nvPr/>
        </p:nvSpPr>
        <p:spPr>
          <a:xfrm>
            <a:off x="320040" y="1353312"/>
            <a:ext cx="2798064" cy="54864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448056" y="1481328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🌐 PORTFOLIO WEBSITE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448056" y="1773936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6B"/>
              </a:buClr>
              <a:buSzPts val="850"/>
              <a:buFont typeface="Courier New"/>
              <a:buNone/>
            </a:pPr>
            <a:r>
              <a:rPr lang="en-US" sz="850" b="0" i="0" u="none" strike="noStrike" cap="none" dirty="0">
                <a:solidFill>
                  <a:srgbClr val="2C3E6B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Deployed on </a:t>
            </a:r>
            <a:r>
              <a:rPr lang="en-US" sz="850" b="0" i="0" u="none" strike="noStrike" cap="none" dirty="0" err="1">
                <a:solidFill>
                  <a:srgbClr val="2C3E6B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Vercel</a:t>
            </a:r>
            <a:r>
              <a:rPr lang="en-US" sz="850" b="0" i="0" u="none" strike="noStrike" cap="none" dirty="0">
                <a:solidFill>
                  <a:srgbClr val="2C3E6B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 / v0.dev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4"/>
          <p:cNvSpPr/>
          <p:nvPr/>
        </p:nvSpPr>
        <p:spPr>
          <a:xfrm>
            <a:off x="448056" y="2029968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Full brand identity · Experience · Projects · Stories · Contact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4"/>
          <p:cNvSpPr/>
          <p:nvPr/>
        </p:nvSpPr>
        <p:spPr>
          <a:xfrm>
            <a:off x="3282696" y="1353312"/>
            <a:ext cx="2798064" cy="157276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4"/>
          <p:cNvSpPr/>
          <p:nvPr/>
        </p:nvSpPr>
        <p:spPr>
          <a:xfrm>
            <a:off x="3282696" y="1353312"/>
            <a:ext cx="2798064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4"/>
          <p:cNvSpPr/>
          <p:nvPr/>
        </p:nvSpPr>
        <p:spPr>
          <a:xfrm>
            <a:off x="3410712" y="1481328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⚕️ MEDA — AI TOOL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4"/>
          <p:cNvSpPr/>
          <p:nvPr/>
        </p:nvSpPr>
        <p:spPr>
          <a:xfrm>
            <a:off x="3410712" y="1773936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urier New"/>
              <a:buNone/>
            </a:pPr>
            <a:r>
              <a:rPr lang="en-US" sz="850" b="0" i="0" u="none" strike="noStrike" cap="none" dirty="0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meda-clinical-</a:t>
            </a:r>
            <a:r>
              <a:rPr lang="en-US" sz="850" b="0" i="0" u="none" strike="noStrike" cap="none" dirty="0" err="1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tool.streamlit.app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4"/>
          <p:cNvSpPr/>
          <p:nvPr/>
        </p:nvSpPr>
        <p:spPr>
          <a:xfrm>
            <a:off x="3410712" y="2029968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Drug interactions · Symptom assessment · 90%+ accuracy · Live demo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4"/>
          <p:cNvSpPr/>
          <p:nvPr/>
        </p:nvSpPr>
        <p:spPr>
          <a:xfrm>
            <a:off x="6245352" y="1353312"/>
            <a:ext cx="2798064" cy="157276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4"/>
          <p:cNvSpPr/>
          <p:nvPr/>
        </p:nvSpPr>
        <p:spPr>
          <a:xfrm>
            <a:off x="6245352" y="1353312"/>
            <a:ext cx="2798064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4"/>
          <p:cNvSpPr/>
          <p:nvPr/>
        </p:nvSpPr>
        <p:spPr>
          <a:xfrm>
            <a:off x="6373368" y="1481328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✍️ SUBSTACK ARTICLE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4"/>
          <p:cNvSpPr/>
          <p:nvPr/>
        </p:nvSpPr>
        <p:spPr>
          <a:xfrm>
            <a:off x="6373368" y="1773936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850"/>
              <a:buFont typeface="Courier New"/>
              <a:buNone/>
            </a:pPr>
            <a:r>
              <a:rPr lang="en-US" sz="850" b="0" i="0" u="none" strike="noStrike" cap="none" dirty="0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ananyant16.substack.com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4"/>
          <p:cNvSpPr/>
          <p:nvPr/>
        </p:nvSpPr>
        <p:spPr>
          <a:xfrm>
            <a:off x="6373368" y="2029968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Why Most Data Teams Are Solving the Wrong Problem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4"/>
          <p:cNvSpPr/>
          <p:nvPr/>
        </p:nvSpPr>
        <p:spPr>
          <a:xfrm>
            <a:off x="320040" y="3072384"/>
            <a:ext cx="2798064" cy="157276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4"/>
          <p:cNvSpPr/>
          <p:nvPr/>
        </p:nvSpPr>
        <p:spPr>
          <a:xfrm>
            <a:off x="320040" y="3072384"/>
            <a:ext cx="2798064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14"/>
          <p:cNvSpPr/>
          <p:nvPr/>
        </p:nvSpPr>
        <p:spPr>
          <a:xfrm>
            <a:off x="448056" y="3200400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✍️ SUBSTACK ARTICLE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4"/>
          <p:cNvSpPr/>
          <p:nvPr/>
        </p:nvSpPr>
        <p:spPr>
          <a:xfrm>
            <a:off x="448056" y="3493008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850"/>
              <a:buFont typeface="Courier New"/>
              <a:buNone/>
            </a:pPr>
            <a:r>
              <a:rPr lang="en-US" sz="850" b="0" i="0" u="none" strike="noStrike" cap="none" dirty="0">
                <a:solidFill>
                  <a:srgbClr val="8E44AD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ananyant16.substack.com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448056" y="3749040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 Used to Make Charts. Then I Realized Nobody Was Using Them.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4"/>
          <p:cNvSpPr/>
          <p:nvPr/>
        </p:nvSpPr>
        <p:spPr>
          <a:xfrm>
            <a:off x="3282696" y="3072384"/>
            <a:ext cx="2798064" cy="157276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4"/>
          <p:cNvSpPr/>
          <p:nvPr/>
        </p:nvSpPr>
        <p:spPr>
          <a:xfrm>
            <a:off x="3282696" y="3072384"/>
            <a:ext cx="2798064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4"/>
          <p:cNvSpPr/>
          <p:nvPr/>
        </p:nvSpPr>
        <p:spPr>
          <a:xfrm>
            <a:off x="3410712" y="3200400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💼 LINKEDIN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4"/>
          <p:cNvSpPr/>
          <p:nvPr/>
        </p:nvSpPr>
        <p:spPr>
          <a:xfrm>
            <a:off x="3410712" y="3493008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6C2"/>
              </a:buClr>
              <a:buSzPts val="850"/>
              <a:buFont typeface="Courier New"/>
              <a:buNone/>
            </a:pPr>
            <a:r>
              <a:rPr lang="en-US" sz="850" b="0" i="0" u="none" strike="noStrike" cap="none" dirty="0">
                <a:solidFill>
                  <a:srgbClr val="0A66C2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linkedin.com/in/</a:t>
            </a:r>
            <a:r>
              <a:rPr lang="en-US" sz="850" b="0" i="0" u="none" strike="noStrike" cap="none" dirty="0" err="1">
                <a:solidFill>
                  <a:srgbClr val="0A66C2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ananya</a:t>
            </a:r>
            <a:r>
              <a:rPr lang="en-US" sz="850" b="0" i="0" u="none" strike="noStrike" cap="none" dirty="0">
                <a:solidFill>
                  <a:srgbClr val="0A66C2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-n-</a:t>
            </a:r>
            <a:r>
              <a:rPr lang="en-US" sz="850" b="0" i="0" u="none" strike="noStrike" cap="none" dirty="0" err="1">
                <a:solidFill>
                  <a:srgbClr val="0A66C2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thathigowdara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4"/>
          <p:cNvSpPr/>
          <p:nvPr/>
        </p:nvSpPr>
        <p:spPr>
          <a:xfrm>
            <a:off x="3410712" y="3749040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 live posts · Infographic + article share · 10 reactions total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6245352" y="3072384"/>
            <a:ext cx="2798064" cy="1572768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88900" dist="254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4"/>
          <p:cNvSpPr/>
          <p:nvPr/>
        </p:nvSpPr>
        <p:spPr>
          <a:xfrm>
            <a:off x="6245352" y="3072384"/>
            <a:ext cx="2798064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4"/>
          <p:cNvSpPr/>
          <p:nvPr/>
        </p:nvSpPr>
        <p:spPr>
          <a:xfrm>
            <a:off x="6373368" y="3200400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💻 GITHUB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4"/>
          <p:cNvSpPr/>
          <p:nvPr/>
        </p:nvSpPr>
        <p:spPr>
          <a:xfrm>
            <a:off x="6373368" y="3493008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ourier New"/>
              <a:buNone/>
            </a:pPr>
            <a:r>
              <a:rPr lang="en-US" sz="85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github.com/Ananya1ani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4"/>
          <p:cNvSpPr/>
          <p:nvPr/>
        </p:nvSpPr>
        <p:spPr>
          <a:xfrm>
            <a:off x="6373368" y="3749040"/>
            <a:ext cx="254203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 b="0" i="0" u="none" strike="noStrike" cap="none" dirty="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MEDA repo · Portfolio code · Projects documented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82753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8BA0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7A8BA0"/>
                </a:solidFill>
                <a:latin typeface="Courier New"/>
                <a:ea typeface="Courier New"/>
                <a:cs typeface="Courier New"/>
                <a:sym typeface="Courier New"/>
              </a:rPr>
              <a:t>12 / 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5"/>
          <p:cNvSpPr/>
          <p:nvPr/>
        </p:nvSpPr>
        <p:spPr>
          <a:xfrm>
            <a:off x="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5"/>
          <p:cNvSpPr/>
          <p:nvPr/>
        </p:nvSpPr>
        <p:spPr>
          <a:xfrm>
            <a:off x="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54864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54864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54864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54864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54864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5"/>
          <p:cNvSpPr/>
          <p:nvPr/>
        </p:nvSpPr>
        <p:spPr>
          <a:xfrm>
            <a:off x="54864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5"/>
          <p:cNvSpPr/>
          <p:nvPr/>
        </p:nvSpPr>
        <p:spPr>
          <a:xfrm>
            <a:off x="54864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5"/>
          <p:cNvSpPr/>
          <p:nvPr/>
        </p:nvSpPr>
        <p:spPr>
          <a:xfrm>
            <a:off x="54864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15"/>
          <p:cNvSpPr/>
          <p:nvPr/>
        </p:nvSpPr>
        <p:spPr>
          <a:xfrm>
            <a:off x="54864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109728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5"/>
          <p:cNvSpPr/>
          <p:nvPr/>
        </p:nvSpPr>
        <p:spPr>
          <a:xfrm>
            <a:off x="109728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5"/>
          <p:cNvSpPr/>
          <p:nvPr/>
        </p:nvSpPr>
        <p:spPr>
          <a:xfrm>
            <a:off x="109728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109728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5"/>
          <p:cNvSpPr/>
          <p:nvPr/>
        </p:nvSpPr>
        <p:spPr>
          <a:xfrm>
            <a:off x="109728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5"/>
          <p:cNvSpPr/>
          <p:nvPr/>
        </p:nvSpPr>
        <p:spPr>
          <a:xfrm>
            <a:off x="109728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5"/>
          <p:cNvSpPr/>
          <p:nvPr/>
        </p:nvSpPr>
        <p:spPr>
          <a:xfrm>
            <a:off x="109728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5"/>
          <p:cNvSpPr/>
          <p:nvPr/>
        </p:nvSpPr>
        <p:spPr>
          <a:xfrm>
            <a:off x="109728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5"/>
          <p:cNvSpPr/>
          <p:nvPr/>
        </p:nvSpPr>
        <p:spPr>
          <a:xfrm>
            <a:off x="109728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5"/>
          <p:cNvSpPr/>
          <p:nvPr/>
        </p:nvSpPr>
        <p:spPr>
          <a:xfrm>
            <a:off x="164592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5"/>
          <p:cNvSpPr/>
          <p:nvPr/>
        </p:nvSpPr>
        <p:spPr>
          <a:xfrm>
            <a:off x="164592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5"/>
          <p:cNvSpPr/>
          <p:nvPr/>
        </p:nvSpPr>
        <p:spPr>
          <a:xfrm>
            <a:off x="164592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5"/>
          <p:cNvSpPr/>
          <p:nvPr/>
        </p:nvSpPr>
        <p:spPr>
          <a:xfrm>
            <a:off x="164592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15"/>
          <p:cNvSpPr/>
          <p:nvPr/>
        </p:nvSpPr>
        <p:spPr>
          <a:xfrm>
            <a:off x="164592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5"/>
          <p:cNvSpPr/>
          <p:nvPr/>
        </p:nvSpPr>
        <p:spPr>
          <a:xfrm>
            <a:off x="164592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5"/>
          <p:cNvSpPr/>
          <p:nvPr/>
        </p:nvSpPr>
        <p:spPr>
          <a:xfrm>
            <a:off x="164592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5"/>
          <p:cNvSpPr/>
          <p:nvPr/>
        </p:nvSpPr>
        <p:spPr>
          <a:xfrm>
            <a:off x="164592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5"/>
          <p:cNvSpPr/>
          <p:nvPr/>
        </p:nvSpPr>
        <p:spPr>
          <a:xfrm>
            <a:off x="164592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15"/>
          <p:cNvSpPr/>
          <p:nvPr/>
        </p:nvSpPr>
        <p:spPr>
          <a:xfrm>
            <a:off x="219456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5"/>
          <p:cNvSpPr/>
          <p:nvPr/>
        </p:nvSpPr>
        <p:spPr>
          <a:xfrm>
            <a:off x="219456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5"/>
          <p:cNvSpPr/>
          <p:nvPr/>
        </p:nvSpPr>
        <p:spPr>
          <a:xfrm>
            <a:off x="219456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5"/>
          <p:cNvSpPr/>
          <p:nvPr/>
        </p:nvSpPr>
        <p:spPr>
          <a:xfrm>
            <a:off x="219456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15"/>
          <p:cNvSpPr/>
          <p:nvPr/>
        </p:nvSpPr>
        <p:spPr>
          <a:xfrm>
            <a:off x="219456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5"/>
          <p:cNvSpPr/>
          <p:nvPr/>
        </p:nvSpPr>
        <p:spPr>
          <a:xfrm>
            <a:off x="219456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5"/>
          <p:cNvSpPr/>
          <p:nvPr/>
        </p:nvSpPr>
        <p:spPr>
          <a:xfrm>
            <a:off x="219456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15"/>
          <p:cNvSpPr/>
          <p:nvPr/>
        </p:nvSpPr>
        <p:spPr>
          <a:xfrm>
            <a:off x="219456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5"/>
          <p:cNvSpPr/>
          <p:nvPr/>
        </p:nvSpPr>
        <p:spPr>
          <a:xfrm>
            <a:off x="219456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5"/>
          <p:cNvSpPr/>
          <p:nvPr/>
        </p:nvSpPr>
        <p:spPr>
          <a:xfrm>
            <a:off x="274320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5"/>
          <p:cNvSpPr/>
          <p:nvPr/>
        </p:nvSpPr>
        <p:spPr>
          <a:xfrm>
            <a:off x="274320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5"/>
          <p:cNvSpPr/>
          <p:nvPr/>
        </p:nvSpPr>
        <p:spPr>
          <a:xfrm>
            <a:off x="274320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15"/>
          <p:cNvSpPr/>
          <p:nvPr/>
        </p:nvSpPr>
        <p:spPr>
          <a:xfrm>
            <a:off x="274320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5"/>
          <p:cNvSpPr/>
          <p:nvPr/>
        </p:nvSpPr>
        <p:spPr>
          <a:xfrm>
            <a:off x="274320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5"/>
          <p:cNvSpPr/>
          <p:nvPr/>
        </p:nvSpPr>
        <p:spPr>
          <a:xfrm>
            <a:off x="274320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5"/>
          <p:cNvSpPr/>
          <p:nvPr/>
        </p:nvSpPr>
        <p:spPr>
          <a:xfrm>
            <a:off x="274320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5"/>
          <p:cNvSpPr/>
          <p:nvPr/>
        </p:nvSpPr>
        <p:spPr>
          <a:xfrm>
            <a:off x="274320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5"/>
          <p:cNvSpPr/>
          <p:nvPr/>
        </p:nvSpPr>
        <p:spPr>
          <a:xfrm>
            <a:off x="274320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5"/>
          <p:cNvSpPr/>
          <p:nvPr/>
        </p:nvSpPr>
        <p:spPr>
          <a:xfrm>
            <a:off x="329184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5"/>
          <p:cNvSpPr/>
          <p:nvPr/>
        </p:nvSpPr>
        <p:spPr>
          <a:xfrm>
            <a:off x="329184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5"/>
          <p:cNvSpPr/>
          <p:nvPr/>
        </p:nvSpPr>
        <p:spPr>
          <a:xfrm>
            <a:off x="329184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5"/>
          <p:cNvSpPr/>
          <p:nvPr/>
        </p:nvSpPr>
        <p:spPr>
          <a:xfrm>
            <a:off x="329184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5"/>
          <p:cNvSpPr/>
          <p:nvPr/>
        </p:nvSpPr>
        <p:spPr>
          <a:xfrm>
            <a:off x="329184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5"/>
          <p:cNvSpPr/>
          <p:nvPr/>
        </p:nvSpPr>
        <p:spPr>
          <a:xfrm>
            <a:off x="329184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15"/>
          <p:cNvSpPr/>
          <p:nvPr/>
        </p:nvSpPr>
        <p:spPr>
          <a:xfrm>
            <a:off x="329184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5"/>
          <p:cNvSpPr/>
          <p:nvPr/>
        </p:nvSpPr>
        <p:spPr>
          <a:xfrm>
            <a:off x="329184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5"/>
          <p:cNvSpPr/>
          <p:nvPr/>
        </p:nvSpPr>
        <p:spPr>
          <a:xfrm>
            <a:off x="329184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15"/>
          <p:cNvSpPr/>
          <p:nvPr/>
        </p:nvSpPr>
        <p:spPr>
          <a:xfrm>
            <a:off x="384048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5"/>
          <p:cNvSpPr/>
          <p:nvPr/>
        </p:nvSpPr>
        <p:spPr>
          <a:xfrm>
            <a:off x="384048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5"/>
          <p:cNvSpPr/>
          <p:nvPr/>
        </p:nvSpPr>
        <p:spPr>
          <a:xfrm>
            <a:off x="384048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5"/>
          <p:cNvSpPr/>
          <p:nvPr/>
        </p:nvSpPr>
        <p:spPr>
          <a:xfrm>
            <a:off x="384048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5"/>
          <p:cNvSpPr/>
          <p:nvPr/>
        </p:nvSpPr>
        <p:spPr>
          <a:xfrm>
            <a:off x="384048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5"/>
          <p:cNvSpPr/>
          <p:nvPr/>
        </p:nvSpPr>
        <p:spPr>
          <a:xfrm>
            <a:off x="384048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5"/>
          <p:cNvSpPr/>
          <p:nvPr/>
        </p:nvSpPr>
        <p:spPr>
          <a:xfrm>
            <a:off x="384048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5"/>
          <p:cNvSpPr/>
          <p:nvPr/>
        </p:nvSpPr>
        <p:spPr>
          <a:xfrm>
            <a:off x="384048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5"/>
          <p:cNvSpPr/>
          <p:nvPr/>
        </p:nvSpPr>
        <p:spPr>
          <a:xfrm>
            <a:off x="384048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5"/>
          <p:cNvSpPr/>
          <p:nvPr/>
        </p:nvSpPr>
        <p:spPr>
          <a:xfrm>
            <a:off x="438912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5"/>
          <p:cNvSpPr/>
          <p:nvPr/>
        </p:nvSpPr>
        <p:spPr>
          <a:xfrm>
            <a:off x="438912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5"/>
          <p:cNvSpPr/>
          <p:nvPr/>
        </p:nvSpPr>
        <p:spPr>
          <a:xfrm>
            <a:off x="438912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5"/>
          <p:cNvSpPr/>
          <p:nvPr/>
        </p:nvSpPr>
        <p:spPr>
          <a:xfrm>
            <a:off x="438912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5"/>
          <p:cNvSpPr/>
          <p:nvPr/>
        </p:nvSpPr>
        <p:spPr>
          <a:xfrm>
            <a:off x="438912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5"/>
          <p:cNvSpPr/>
          <p:nvPr/>
        </p:nvSpPr>
        <p:spPr>
          <a:xfrm>
            <a:off x="438912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5"/>
          <p:cNvSpPr/>
          <p:nvPr/>
        </p:nvSpPr>
        <p:spPr>
          <a:xfrm>
            <a:off x="438912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5"/>
          <p:cNvSpPr/>
          <p:nvPr/>
        </p:nvSpPr>
        <p:spPr>
          <a:xfrm>
            <a:off x="438912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5"/>
          <p:cNvSpPr/>
          <p:nvPr/>
        </p:nvSpPr>
        <p:spPr>
          <a:xfrm>
            <a:off x="438912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5"/>
          <p:cNvSpPr/>
          <p:nvPr/>
        </p:nvSpPr>
        <p:spPr>
          <a:xfrm>
            <a:off x="493776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5"/>
          <p:cNvSpPr/>
          <p:nvPr/>
        </p:nvSpPr>
        <p:spPr>
          <a:xfrm>
            <a:off x="493776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5"/>
          <p:cNvSpPr/>
          <p:nvPr/>
        </p:nvSpPr>
        <p:spPr>
          <a:xfrm>
            <a:off x="493776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15"/>
          <p:cNvSpPr/>
          <p:nvPr/>
        </p:nvSpPr>
        <p:spPr>
          <a:xfrm>
            <a:off x="493776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5"/>
          <p:cNvSpPr/>
          <p:nvPr/>
        </p:nvSpPr>
        <p:spPr>
          <a:xfrm>
            <a:off x="493776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5"/>
          <p:cNvSpPr/>
          <p:nvPr/>
        </p:nvSpPr>
        <p:spPr>
          <a:xfrm>
            <a:off x="493776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5"/>
          <p:cNvSpPr/>
          <p:nvPr/>
        </p:nvSpPr>
        <p:spPr>
          <a:xfrm>
            <a:off x="493776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5"/>
          <p:cNvSpPr/>
          <p:nvPr/>
        </p:nvSpPr>
        <p:spPr>
          <a:xfrm>
            <a:off x="493776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5"/>
          <p:cNvSpPr/>
          <p:nvPr/>
        </p:nvSpPr>
        <p:spPr>
          <a:xfrm>
            <a:off x="493776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15"/>
          <p:cNvSpPr/>
          <p:nvPr/>
        </p:nvSpPr>
        <p:spPr>
          <a:xfrm>
            <a:off x="548640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5"/>
          <p:cNvSpPr/>
          <p:nvPr/>
        </p:nvSpPr>
        <p:spPr>
          <a:xfrm>
            <a:off x="548640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5"/>
          <p:cNvSpPr/>
          <p:nvPr/>
        </p:nvSpPr>
        <p:spPr>
          <a:xfrm>
            <a:off x="548640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15"/>
          <p:cNvSpPr/>
          <p:nvPr/>
        </p:nvSpPr>
        <p:spPr>
          <a:xfrm>
            <a:off x="548640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5"/>
          <p:cNvSpPr/>
          <p:nvPr/>
        </p:nvSpPr>
        <p:spPr>
          <a:xfrm>
            <a:off x="548640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5"/>
          <p:cNvSpPr/>
          <p:nvPr/>
        </p:nvSpPr>
        <p:spPr>
          <a:xfrm>
            <a:off x="548640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5"/>
          <p:cNvSpPr/>
          <p:nvPr/>
        </p:nvSpPr>
        <p:spPr>
          <a:xfrm>
            <a:off x="548640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5"/>
          <p:cNvSpPr/>
          <p:nvPr/>
        </p:nvSpPr>
        <p:spPr>
          <a:xfrm>
            <a:off x="548640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15"/>
          <p:cNvSpPr/>
          <p:nvPr/>
        </p:nvSpPr>
        <p:spPr>
          <a:xfrm>
            <a:off x="548640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5"/>
          <p:cNvSpPr/>
          <p:nvPr/>
        </p:nvSpPr>
        <p:spPr>
          <a:xfrm>
            <a:off x="603504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15"/>
          <p:cNvSpPr/>
          <p:nvPr/>
        </p:nvSpPr>
        <p:spPr>
          <a:xfrm>
            <a:off x="603504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5"/>
          <p:cNvSpPr/>
          <p:nvPr/>
        </p:nvSpPr>
        <p:spPr>
          <a:xfrm>
            <a:off x="603504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5"/>
          <p:cNvSpPr/>
          <p:nvPr/>
        </p:nvSpPr>
        <p:spPr>
          <a:xfrm>
            <a:off x="603504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15"/>
          <p:cNvSpPr/>
          <p:nvPr/>
        </p:nvSpPr>
        <p:spPr>
          <a:xfrm>
            <a:off x="603504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5"/>
          <p:cNvSpPr/>
          <p:nvPr/>
        </p:nvSpPr>
        <p:spPr>
          <a:xfrm>
            <a:off x="603504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5"/>
          <p:cNvSpPr/>
          <p:nvPr/>
        </p:nvSpPr>
        <p:spPr>
          <a:xfrm>
            <a:off x="603504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5"/>
          <p:cNvSpPr/>
          <p:nvPr/>
        </p:nvSpPr>
        <p:spPr>
          <a:xfrm>
            <a:off x="603504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5"/>
          <p:cNvSpPr/>
          <p:nvPr/>
        </p:nvSpPr>
        <p:spPr>
          <a:xfrm>
            <a:off x="603504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5"/>
          <p:cNvSpPr/>
          <p:nvPr/>
        </p:nvSpPr>
        <p:spPr>
          <a:xfrm>
            <a:off x="658368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5"/>
          <p:cNvSpPr/>
          <p:nvPr/>
        </p:nvSpPr>
        <p:spPr>
          <a:xfrm>
            <a:off x="658368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15"/>
          <p:cNvSpPr/>
          <p:nvPr/>
        </p:nvSpPr>
        <p:spPr>
          <a:xfrm>
            <a:off x="658368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5"/>
          <p:cNvSpPr/>
          <p:nvPr/>
        </p:nvSpPr>
        <p:spPr>
          <a:xfrm>
            <a:off x="658368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5"/>
          <p:cNvSpPr/>
          <p:nvPr/>
        </p:nvSpPr>
        <p:spPr>
          <a:xfrm>
            <a:off x="658368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5"/>
          <p:cNvSpPr/>
          <p:nvPr/>
        </p:nvSpPr>
        <p:spPr>
          <a:xfrm>
            <a:off x="658368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5"/>
          <p:cNvSpPr/>
          <p:nvPr/>
        </p:nvSpPr>
        <p:spPr>
          <a:xfrm>
            <a:off x="658368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5"/>
          <p:cNvSpPr/>
          <p:nvPr/>
        </p:nvSpPr>
        <p:spPr>
          <a:xfrm>
            <a:off x="658368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5"/>
          <p:cNvSpPr/>
          <p:nvPr/>
        </p:nvSpPr>
        <p:spPr>
          <a:xfrm>
            <a:off x="658368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5"/>
          <p:cNvSpPr/>
          <p:nvPr/>
        </p:nvSpPr>
        <p:spPr>
          <a:xfrm>
            <a:off x="713232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5"/>
          <p:cNvSpPr/>
          <p:nvPr/>
        </p:nvSpPr>
        <p:spPr>
          <a:xfrm>
            <a:off x="713232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5"/>
          <p:cNvSpPr/>
          <p:nvPr/>
        </p:nvSpPr>
        <p:spPr>
          <a:xfrm>
            <a:off x="713232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15"/>
          <p:cNvSpPr/>
          <p:nvPr/>
        </p:nvSpPr>
        <p:spPr>
          <a:xfrm>
            <a:off x="713232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15"/>
          <p:cNvSpPr/>
          <p:nvPr/>
        </p:nvSpPr>
        <p:spPr>
          <a:xfrm>
            <a:off x="713232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15"/>
          <p:cNvSpPr/>
          <p:nvPr/>
        </p:nvSpPr>
        <p:spPr>
          <a:xfrm>
            <a:off x="713232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15"/>
          <p:cNvSpPr/>
          <p:nvPr/>
        </p:nvSpPr>
        <p:spPr>
          <a:xfrm>
            <a:off x="713232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15"/>
          <p:cNvSpPr/>
          <p:nvPr/>
        </p:nvSpPr>
        <p:spPr>
          <a:xfrm>
            <a:off x="713232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5"/>
          <p:cNvSpPr/>
          <p:nvPr/>
        </p:nvSpPr>
        <p:spPr>
          <a:xfrm>
            <a:off x="713232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15"/>
          <p:cNvSpPr/>
          <p:nvPr/>
        </p:nvSpPr>
        <p:spPr>
          <a:xfrm>
            <a:off x="768096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15"/>
          <p:cNvSpPr/>
          <p:nvPr/>
        </p:nvSpPr>
        <p:spPr>
          <a:xfrm>
            <a:off x="768096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5"/>
          <p:cNvSpPr/>
          <p:nvPr/>
        </p:nvSpPr>
        <p:spPr>
          <a:xfrm>
            <a:off x="768096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5"/>
          <p:cNvSpPr/>
          <p:nvPr/>
        </p:nvSpPr>
        <p:spPr>
          <a:xfrm>
            <a:off x="768096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5"/>
          <p:cNvSpPr/>
          <p:nvPr/>
        </p:nvSpPr>
        <p:spPr>
          <a:xfrm>
            <a:off x="768096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15"/>
          <p:cNvSpPr/>
          <p:nvPr/>
        </p:nvSpPr>
        <p:spPr>
          <a:xfrm>
            <a:off x="768096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5"/>
          <p:cNvSpPr/>
          <p:nvPr/>
        </p:nvSpPr>
        <p:spPr>
          <a:xfrm>
            <a:off x="768096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5"/>
          <p:cNvSpPr/>
          <p:nvPr/>
        </p:nvSpPr>
        <p:spPr>
          <a:xfrm>
            <a:off x="768096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15"/>
          <p:cNvSpPr/>
          <p:nvPr/>
        </p:nvSpPr>
        <p:spPr>
          <a:xfrm>
            <a:off x="768096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15"/>
          <p:cNvSpPr/>
          <p:nvPr/>
        </p:nvSpPr>
        <p:spPr>
          <a:xfrm>
            <a:off x="822960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15"/>
          <p:cNvSpPr/>
          <p:nvPr/>
        </p:nvSpPr>
        <p:spPr>
          <a:xfrm>
            <a:off x="822960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15"/>
          <p:cNvSpPr/>
          <p:nvPr/>
        </p:nvSpPr>
        <p:spPr>
          <a:xfrm>
            <a:off x="822960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15"/>
          <p:cNvSpPr/>
          <p:nvPr/>
        </p:nvSpPr>
        <p:spPr>
          <a:xfrm>
            <a:off x="822960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15"/>
          <p:cNvSpPr/>
          <p:nvPr/>
        </p:nvSpPr>
        <p:spPr>
          <a:xfrm>
            <a:off x="822960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15"/>
          <p:cNvSpPr/>
          <p:nvPr/>
        </p:nvSpPr>
        <p:spPr>
          <a:xfrm>
            <a:off x="822960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5"/>
          <p:cNvSpPr/>
          <p:nvPr/>
        </p:nvSpPr>
        <p:spPr>
          <a:xfrm>
            <a:off x="822960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5"/>
          <p:cNvSpPr/>
          <p:nvPr/>
        </p:nvSpPr>
        <p:spPr>
          <a:xfrm>
            <a:off x="822960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15"/>
          <p:cNvSpPr/>
          <p:nvPr/>
        </p:nvSpPr>
        <p:spPr>
          <a:xfrm>
            <a:off x="822960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5"/>
          <p:cNvSpPr/>
          <p:nvPr/>
        </p:nvSpPr>
        <p:spPr>
          <a:xfrm>
            <a:off x="877824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15"/>
          <p:cNvSpPr/>
          <p:nvPr/>
        </p:nvSpPr>
        <p:spPr>
          <a:xfrm>
            <a:off x="877824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5"/>
          <p:cNvSpPr/>
          <p:nvPr/>
        </p:nvSpPr>
        <p:spPr>
          <a:xfrm>
            <a:off x="877824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5"/>
          <p:cNvSpPr/>
          <p:nvPr/>
        </p:nvSpPr>
        <p:spPr>
          <a:xfrm>
            <a:off x="877824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5"/>
          <p:cNvSpPr/>
          <p:nvPr/>
        </p:nvSpPr>
        <p:spPr>
          <a:xfrm>
            <a:off x="877824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5"/>
          <p:cNvSpPr/>
          <p:nvPr/>
        </p:nvSpPr>
        <p:spPr>
          <a:xfrm>
            <a:off x="877824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5"/>
          <p:cNvSpPr/>
          <p:nvPr/>
        </p:nvSpPr>
        <p:spPr>
          <a:xfrm>
            <a:off x="877824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5"/>
          <p:cNvSpPr/>
          <p:nvPr/>
        </p:nvSpPr>
        <p:spPr>
          <a:xfrm>
            <a:off x="877824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5"/>
          <p:cNvSpPr/>
          <p:nvPr/>
        </p:nvSpPr>
        <p:spPr>
          <a:xfrm>
            <a:off x="877824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5"/>
          <p:cNvSpPr/>
          <p:nvPr/>
        </p:nvSpPr>
        <p:spPr>
          <a:xfrm>
            <a:off x="9326880" y="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5"/>
          <p:cNvSpPr/>
          <p:nvPr/>
        </p:nvSpPr>
        <p:spPr>
          <a:xfrm>
            <a:off x="9326880" y="6400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5"/>
          <p:cNvSpPr/>
          <p:nvPr/>
        </p:nvSpPr>
        <p:spPr>
          <a:xfrm>
            <a:off x="9326880" y="12801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5"/>
          <p:cNvSpPr/>
          <p:nvPr/>
        </p:nvSpPr>
        <p:spPr>
          <a:xfrm>
            <a:off x="9326880" y="19202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5"/>
          <p:cNvSpPr/>
          <p:nvPr/>
        </p:nvSpPr>
        <p:spPr>
          <a:xfrm>
            <a:off x="9326880" y="256032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9326880" y="320040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15"/>
          <p:cNvSpPr/>
          <p:nvPr/>
        </p:nvSpPr>
        <p:spPr>
          <a:xfrm>
            <a:off x="9326880" y="384048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5"/>
          <p:cNvSpPr/>
          <p:nvPr/>
        </p:nvSpPr>
        <p:spPr>
          <a:xfrm>
            <a:off x="9326880" y="448056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5"/>
          <p:cNvSpPr/>
          <p:nvPr/>
        </p:nvSpPr>
        <p:spPr>
          <a:xfrm>
            <a:off x="9326880" y="5120640"/>
            <a:ext cx="36576" cy="36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3E6B">
              <a:alpha val="40000"/>
            </a:srgbClr>
          </a:solidFill>
          <a:ln w="12700" cap="flat" cmpd="sng">
            <a:solidFill>
              <a:srgbClr val="2C3E6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5"/>
          <p:cNvSpPr/>
          <p:nvPr/>
        </p:nvSpPr>
        <p:spPr>
          <a:xfrm>
            <a:off x="411480" y="411480"/>
            <a:ext cx="85039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5400"/>
              <a:buFont typeface="Georgia"/>
              <a:buNone/>
            </a:pPr>
            <a:r>
              <a:rPr lang="en-US" sz="54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Ready to Build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5400"/>
              <a:buFont typeface="Georgia"/>
              <a:buNone/>
            </a:pPr>
            <a:r>
              <a:rPr lang="en-US" sz="5400" b="1" i="0" u="none" strike="noStrike" cap="none">
                <a:solidFill>
                  <a:srgbClr val="F8F9FF"/>
                </a:solidFill>
                <a:latin typeface="Georgia"/>
                <a:ea typeface="Georgia"/>
                <a:cs typeface="Georgia"/>
                <a:sym typeface="Georgia"/>
              </a:rPr>
              <a:t>Something?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5"/>
          <p:cNvSpPr/>
          <p:nvPr/>
        </p:nvSpPr>
        <p:spPr>
          <a:xfrm>
            <a:off x="411480" y="2304288"/>
            <a:ext cx="5029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5"/>
          <p:cNvSpPr/>
          <p:nvPr/>
        </p:nvSpPr>
        <p:spPr>
          <a:xfrm>
            <a:off x="411480" y="245059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B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Graduating </a:t>
            </a:r>
            <a:r>
              <a:rPr lang="en-US" sz="1200" dirty="0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April</a:t>
            </a:r>
            <a:r>
              <a:rPr lang="en-US" sz="1200" b="0" i="0" u="none" strike="noStrike" cap="none" dirty="0">
                <a:solidFill>
                  <a:srgbClr val="EAF0FB"/>
                </a:solidFill>
                <a:latin typeface="Calibri"/>
                <a:ea typeface="Calibri"/>
                <a:cs typeface="Calibri"/>
                <a:sym typeface="Calibri"/>
              </a:rPr>
              <a:t> 2026  ·  Data Engineering &amp; Analytics  ·  Boston, MA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5"/>
          <p:cNvSpPr/>
          <p:nvPr/>
        </p:nvSpPr>
        <p:spPr>
          <a:xfrm>
            <a:off x="411480" y="2926080"/>
            <a:ext cx="2029968" cy="14173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"/>
          <p:cNvSpPr/>
          <p:nvPr/>
        </p:nvSpPr>
        <p:spPr>
          <a:xfrm>
            <a:off x="411480" y="2926080"/>
            <a:ext cx="20299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15"/>
          <p:cNvSpPr/>
          <p:nvPr/>
        </p:nvSpPr>
        <p:spPr>
          <a:xfrm>
            <a:off x="521208" y="30175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5"/>
          <p:cNvSpPr/>
          <p:nvPr/>
        </p:nvSpPr>
        <p:spPr>
          <a:xfrm>
            <a:off x="521208" y="331012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8F9FF"/>
                </a:solidFill>
                <a:latin typeface="Calibri"/>
                <a:ea typeface="Calibri"/>
                <a:cs typeface="Calibri"/>
                <a:sym typeface="Calibri"/>
              </a:rPr>
              <a:t>ananyant166@gmail.com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5"/>
          <p:cNvSpPr/>
          <p:nvPr/>
        </p:nvSpPr>
        <p:spPr>
          <a:xfrm>
            <a:off x="2606040" y="2926080"/>
            <a:ext cx="2029968" cy="14173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5"/>
          <p:cNvSpPr/>
          <p:nvPr/>
        </p:nvSpPr>
        <p:spPr>
          <a:xfrm>
            <a:off x="2606040" y="2926080"/>
            <a:ext cx="20299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5"/>
          <p:cNvSpPr/>
          <p:nvPr/>
        </p:nvSpPr>
        <p:spPr>
          <a:xfrm>
            <a:off x="2715768" y="30175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LINKEDIN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5"/>
          <p:cNvSpPr/>
          <p:nvPr/>
        </p:nvSpPr>
        <p:spPr>
          <a:xfrm>
            <a:off x="2715768" y="331012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8F9FF"/>
                </a:solidFill>
                <a:latin typeface="Calibri"/>
                <a:ea typeface="Calibri"/>
                <a:cs typeface="Calibri"/>
                <a:sym typeface="Calibri"/>
              </a:rPr>
              <a:t>linkedin.com/in/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8F9FF"/>
                </a:solidFill>
                <a:latin typeface="Calibri"/>
                <a:ea typeface="Calibri"/>
                <a:cs typeface="Calibri"/>
                <a:sym typeface="Calibri"/>
              </a:rPr>
              <a:t>ananya-n-thathigowdara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5"/>
          <p:cNvSpPr/>
          <p:nvPr/>
        </p:nvSpPr>
        <p:spPr>
          <a:xfrm>
            <a:off x="4800600" y="2926080"/>
            <a:ext cx="2029968" cy="14173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5"/>
          <p:cNvSpPr/>
          <p:nvPr/>
        </p:nvSpPr>
        <p:spPr>
          <a:xfrm>
            <a:off x="4800600" y="2926080"/>
            <a:ext cx="20299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5"/>
          <p:cNvSpPr/>
          <p:nvPr/>
        </p:nvSpPr>
        <p:spPr>
          <a:xfrm>
            <a:off x="4910328" y="30175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GITHUB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5"/>
          <p:cNvSpPr/>
          <p:nvPr/>
        </p:nvSpPr>
        <p:spPr>
          <a:xfrm>
            <a:off x="4910328" y="331012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8F9FF"/>
                </a:solidFill>
                <a:latin typeface="Calibri"/>
                <a:ea typeface="Calibri"/>
                <a:cs typeface="Calibri"/>
                <a:sym typeface="Calibri"/>
              </a:rPr>
              <a:t>github.com/Ananya1ani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5"/>
          <p:cNvSpPr/>
          <p:nvPr/>
        </p:nvSpPr>
        <p:spPr>
          <a:xfrm>
            <a:off x="6995160" y="2926080"/>
            <a:ext cx="2029968" cy="14173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5"/>
          <p:cNvSpPr/>
          <p:nvPr/>
        </p:nvSpPr>
        <p:spPr>
          <a:xfrm>
            <a:off x="6995160" y="2926080"/>
            <a:ext cx="2029968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5"/>
          <p:cNvSpPr/>
          <p:nvPr/>
        </p:nvSpPr>
        <p:spPr>
          <a:xfrm>
            <a:off x="7104888" y="30175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urier New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SUBSTACK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5"/>
          <p:cNvSpPr/>
          <p:nvPr/>
        </p:nvSpPr>
        <p:spPr>
          <a:xfrm>
            <a:off x="7104888" y="331012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8F9FF"/>
                </a:solidFill>
                <a:latin typeface="Calibri"/>
                <a:ea typeface="Calibri"/>
                <a:cs typeface="Calibri"/>
                <a:sym typeface="Calibri"/>
              </a:rPr>
              <a:t>ananyant16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9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8F9FF"/>
                </a:solidFill>
                <a:latin typeface="Calibri"/>
                <a:ea typeface="Calibri"/>
                <a:cs typeface="Calibri"/>
                <a:sym typeface="Calibri"/>
              </a:rPr>
              <a:t>.substack.com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5"/>
          <p:cNvSpPr/>
          <p:nvPr/>
        </p:nvSpPr>
        <p:spPr>
          <a:xfrm>
            <a:off x="411480" y="47548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Georgia"/>
              <a:buNone/>
            </a:pPr>
            <a:r>
              <a:rPr lang="en-US" sz="1300" b="0" i="1" u="none" strike="noStrike" cap="non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Ship it.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1694</Words>
  <Application>Microsoft Office PowerPoint</Application>
  <PresentationFormat>On-screen Show (16:9)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Ananya Nagaraja Thathigowdara</dc:creator>
  <cp:lastModifiedBy>Ananya Nagaraja Thathigowdara</cp:lastModifiedBy>
  <cp:revision>1</cp:revision>
  <dcterms:modified xsi:type="dcterms:W3CDTF">2026-04-25T17:34:10Z</dcterms:modified>
</cp:coreProperties>
</file>