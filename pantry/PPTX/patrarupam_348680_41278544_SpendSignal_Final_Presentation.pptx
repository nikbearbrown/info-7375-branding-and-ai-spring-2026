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0" name="Image 1" descr="/home/claude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1188720" cy="1417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6000" dirty="0"/>
          </a:p>
        </p:txBody>
      </p:sp>
      <p:sp>
        <p:nvSpPr>
          <p:cNvPr id="22" name="Text 18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Wasting. Start Knowing.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ad data. Get prioritized actions — STOP, FIX, INVEST, OBSERVE — in 15 seconds.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806440" y="4800600"/>
            <a:ext cx="54864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Rupam Patra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7375 — Branding with AI  •  Northeastern University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spendsignal-omega.vercel.app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Are Drowning in Dashboards —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Starving for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571500" y="23774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$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00100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800100" y="3703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ad spend in 2025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20540" y="23774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4914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⚠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549140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4549140" y="3703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wasted on underperforming keywords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69580" y="23774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9818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▦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298180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8298180" y="3703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analytics tools per marketer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446020" y="4434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74620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◷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267462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hrs/wk</a:t>
            </a:r>
            <a:endParaRPr lang="en-US" sz="3200" dirty="0"/>
          </a:p>
        </p:txBody>
      </p:sp>
      <p:sp>
        <p:nvSpPr>
          <p:cNvPr id="36" name="Text 33"/>
          <p:cNvSpPr/>
          <p:nvPr/>
        </p:nvSpPr>
        <p:spPr>
          <a:xfrm>
            <a:off x="267462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manually analyzing data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95060" y="4434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23660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!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42366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$10K+/mo</a:t>
            </a: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642366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wasted ad spend per company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4400" y="5989320"/>
            <a:ext cx="731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"Marketers can SEE their data... but can't tell what to DO with it."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Serve: The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Marketer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914400" y="1783080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Primary ICP:  </a:t>
            </a:r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SMB &amp; mid-market companies spending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$10K–$50K/month</a:t>
            </a:r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 on digital ads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" y="2788920"/>
            <a:ext cx="5029200" cy="2971800"/>
          </a:xfrm>
          <a:prstGeom prst="roundRect">
            <a:avLst>
              <a:gd name="adj" fmla="val 3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2788920"/>
            <a:ext cx="5029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430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300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— The Overwhelmed Marketing Manager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4300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Director, B2B SaaS (50–200 employees)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3000" y="41605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Pain: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Juggles 7+ tools. Spends 3+ hours a week building reports. Can't prove ROI in quarterly reviews.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Wants: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single place to see what's working and what isn't — with actions, not more charts.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63640" y="2788920"/>
            <a:ext cx="5029200" cy="2971800"/>
          </a:xfrm>
          <a:prstGeom prst="roundRect">
            <a:avLst>
              <a:gd name="adj" fmla="val 3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2788920"/>
            <a:ext cx="5029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53796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— The Data-Hungry CEO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53796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CEO, Services Business ($2M–$20M ARR)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37960" y="41605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Pain: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Writes $20K checks for ads every month and nobody can tell him if it's working.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Wants: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One answer to one question — "Is our marketing working?" — delivered in plain English.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verticals: Healthcare • Legal • Home services • B2B services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Get a Dashboard.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</a:t>
            </a:r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21" name="Shape 18"/>
          <p:cNvSpPr/>
          <p:nvPr/>
        </p:nvSpPr>
        <p:spPr>
          <a:xfrm>
            <a:off x="1371600" y="2377440"/>
            <a:ext cx="9418320" cy="822960"/>
          </a:xfrm>
          <a:prstGeom prst="roundRect">
            <a:avLst>
              <a:gd name="adj" fmla="val 13333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63040" y="2377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Upload your data. Get clear actions in </a:t>
            </a:r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15 seconds</a:t>
            </a:r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. Every recommendation comes with a </a:t>
            </a:r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confidence score</a:t>
            </a:r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4-Signal Framework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5780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3F151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64208" y="420624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08660" y="5120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spend, zero returns.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360420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3F2A0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98848" y="42062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6042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3543300" y="5120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exists.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something's broken.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95060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F30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33488" y="420624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9506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377940" y="5120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working.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 up.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029700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168128" y="4206240"/>
            <a:ext cx="329184" cy="3291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2970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212580" y="5120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don't act.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Pillars.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Philosophy.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342900" y="196596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2900" y="1965960"/>
            <a:ext cx="21488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722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17220" y="3749040"/>
            <a:ext cx="45720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722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jargon. Just answers.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674620" y="196596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74620" y="1965960"/>
            <a:ext cx="21488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4894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94894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948940" y="3749040"/>
            <a:ext cx="45720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4894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has a score.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006340" y="196596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06340" y="1965960"/>
            <a:ext cx="21488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8066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28066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280660" y="3749040"/>
            <a:ext cx="45720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8066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seconds, not 15 hours.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338060" y="196596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338060" y="1965960"/>
            <a:ext cx="214884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1238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61238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7612380" y="3749040"/>
            <a:ext cx="457200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1238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today, not next quarter.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669780" y="196596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669780" y="1965960"/>
            <a:ext cx="2148840" cy="1097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9441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94410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9944100" y="3749040"/>
            <a:ext cx="457200" cy="182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94410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private. Process &amp; forget.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values on a wall. They're rules we build by.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Another Dashboard.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</a:t>
            </a:r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731520" y="2148840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154680" y="2148840"/>
            <a:ext cx="275844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4680" y="2148840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Northbeam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13120" y="2148840"/>
            <a:ext cx="275844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13120" y="2148840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Madgicx / Triple Whale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71560" y="2148840"/>
            <a:ext cx="2758440" cy="457200"/>
          </a:xfrm>
          <a:prstGeom prst="roundRect">
            <a:avLst>
              <a:gd name="adj" fmla="val 24000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71560" y="2148840"/>
            <a:ext cx="275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1520" y="260604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2606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154680" y="260604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54680" y="260604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/ Days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913120" y="260604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13120" y="260604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671560" y="260604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71560" y="260604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31520" y="310896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584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154680" y="310896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154680" y="310896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$1,000+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913120" y="310896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13120" y="310896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$100–300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671560" y="310896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71560" y="310896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520" y="361188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05840" y="3611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style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154680" y="361188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54680" y="361188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913120" y="361188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3120" y="361188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671560" y="361188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671560" y="361188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actions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31520" y="411480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0584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154680" y="411480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154680" y="411480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only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913120" y="411480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13120" y="411480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only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8671560" y="411480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671560" y="411480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CRM + SEO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731520" y="46177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05840" y="46177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3154680" y="461772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154680" y="461772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913120" y="461772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13120" y="461772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8671560" y="4617720"/>
            <a:ext cx="2758440" cy="502920"/>
          </a:xfrm>
          <a:prstGeom prst="roundRect">
            <a:avLst>
              <a:gd name="adj" fmla="val 21818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671560" y="4617720"/>
            <a:ext cx="275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1371600" y="5303520"/>
            <a:ext cx="9418320" cy="502920"/>
          </a:xfrm>
          <a:prstGeom prst="roundRect">
            <a:avLst>
              <a:gd name="adj" fmla="val 21818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463040" y="53035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Positioning:  </a:t>
            </a:r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</a:rPr>
              <a:t>10× cheaper than enterprise tools. Prescriptive where competitors are just descriptive.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Where </a:t>
            </a:r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Can't Compete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548640" y="1920240"/>
            <a:ext cx="630936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ACTIONABILITY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1792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(Prescriptive)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86200" y="2194560"/>
            <a:ext cx="13716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3451860"/>
            <a:ext cx="5669280" cy="13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★  </a:t>
            </a:r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SpendSignal.ai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4805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AND Prescriptive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480560" y="3044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783080" y="376047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20240" y="385191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Northbeam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920240" y="412623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$1K+, dashboards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977640" y="376047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87368" y="385191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Madgicx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087368" y="4126230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087368" y="429082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349240" y="376047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58968" y="385191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Whale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458968" y="4126230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58968" y="429082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48640" y="4937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 (Price &amp; Ease) →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040880" y="192024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UNFAIR ADVANTAGES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315200" y="258775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152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6809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Intelligence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680960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SEO + CRM together (competitors can't)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315200" y="324612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15200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680960" y="3191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Prescriptive, Not Descriptive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7680960" y="3465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what to DO, not just what happened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315200" y="390448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31520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680960" y="3849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768096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trust AI (not black boxes)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315200" y="456285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315200" y="4562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7680960" y="4507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Affordable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7680960" y="4782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 vs $100–2,500/mo across competitors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Pricing: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$25/mo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—  vs Northbeam </a:t>
            </a:r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$1,000+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· Agencies </a:t>
            </a:r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$5,000+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—  </a:t>
            </a:r>
            <a:pPr algn="ctr" indent="0" marL="0">
              <a:buNone/>
            </a:pPr>
            <a:r>
              <a:rPr lang="en-US" sz="1200" b="1" i="1" dirty="0">
                <a:solidFill>
                  <a:srgbClr val="60A5FA"/>
                </a:solidFill>
              </a:rPr>
              <a:t>Accessible to every SMB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548640" y="182880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4400" y="246888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4" name="Image 1" descr="/home/claude/logo_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51760"/>
            <a:ext cx="3474720" cy="8686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— Dark Background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14400" y="41605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7" name="Image 2" descr="/home/claude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389120"/>
            <a:ext cx="594360" cy="7132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440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Only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914400" y="5532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Light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108960" y="416052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1" name="Image 3" descr="/home/claude/logo_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389120"/>
            <a:ext cx="594360" cy="7132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108960" y="5257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Only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3108960" y="5532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Dark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852160" y="1828800"/>
            <a:ext cx="5760720" cy="4480560"/>
          </a:xfrm>
          <a:prstGeom prst="roundRect">
            <a:avLst>
              <a:gd name="adj" fmla="val 244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2179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217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217920" y="27889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2179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Space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21792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#0B1120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7498080" y="27889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49808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49808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#111827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8778240" y="27889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77824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Blue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877824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10058400" y="27889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1005840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Light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1005840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#F1F5F9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62179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6217920" y="4754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217920" y="5715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217920" y="5943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7498080" y="4754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498080" y="5715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7498080" y="5943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8778240" y="4754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778240" y="5715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8778240" y="5943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10058400" y="4754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10058400" y="5715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10058400" y="5943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#64748B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Product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548640" y="182880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4400" y="2514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91440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— Headlines &amp; Interface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144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 Bb  Cc  01234567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14400" y="4206240"/>
            <a:ext cx="4937760" cy="13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Mono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91440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— Data, Metrics &amp; Code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440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89%  15s  $16,908  214 kw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1440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48pt Bold  •  H2 32pt  •  Body 16pt  •  Data 14pt Mono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92240" y="18288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UI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0" y="2560320"/>
            <a:ext cx="4389120" cy="3383280"/>
          </a:xfrm>
          <a:prstGeom prst="roundRect">
            <a:avLst>
              <a:gd name="adj" fmla="val 2162"/>
            </a:avLst>
          </a:prstGeom>
          <a:solidFill>
            <a:srgbClr val="0B11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0" y="2560320"/>
            <a:ext cx="43891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9440" y="265176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14032" y="26517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78624" y="26517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98080" y="2578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spendsignal-omega.vercel.app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04088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04088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$16,908 wasted spend found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040880" y="3611880"/>
            <a:ext cx="982980" cy="731520"/>
          </a:xfrm>
          <a:prstGeom prst="roundRect">
            <a:avLst>
              <a:gd name="adj" fmla="val 7500"/>
            </a:avLst>
          </a:prstGeom>
          <a:solidFill>
            <a:srgbClr val="3F15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40880" y="3657600"/>
            <a:ext cx="98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040880" y="4023360"/>
            <a:ext cx="98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8051292" y="3611880"/>
            <a:ext cx="982980" cy="731520"/>
          </a:xfrm>
          <a:prstGeom prst="roundRect">
            <a:avLst>
              <a:gd name="adj" fmla="val 7500"/>
            </a:avLst>
          </a:prstGeom>
          <a:solidFill>
            <a:srgbClr val="3F2A0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051292" y="3657600"/>
            <a:ext cx="98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8051292" y="4023360"/>
            <a:ext cx="98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9061704" y="3611880"/>
            <a:ext cx="982980" cy="731520"/>
          </a:xfrm>
          <a:prstGeom prst="roundRect">
            <a:avLst>
              <a:gd name="adj" fmla="val 7500"/>
            </a:avLst>
          </a:prstGeom>
          <a:solidFill>
            <a:srgbClr val="0F30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61704" y="3657600"/>
            <a:ext cx="98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9061704" y="4023360"/>
            <a:ext cx="98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0072116" y="3611880"/>
            <a:ext cx="982980" cy="731520"/>
          </a:xfrm>
          <a:prstGeom prst="roundRect">
            <a:avLst>
              <a:gd name="adj" fmla="val 7500"/>
            </a:avLst>
          </a:prstGeom>
          <a:solidFill>
            <a:srgbClr val="1E243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72116" y="3657600"/>
            <a:ext cx="98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0072116" y="4023360"/>
            <a:ext cx="982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040880" y="4526280"/>
            <a:ext cx="4023360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040880" y="4526280"/>
            <a:ext cx="45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7804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"nike air max" — $542 spent, 0 conv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0424160" y="45262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91%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040880" y="4910328"/>
            <a:ext cx="4023360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040880" y="4910328"/>
            <a:ext cx="45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178040" y="4910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"marathon training" — high CTR, low conv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0424160" y="49103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040880" y="5294376"/>
            <a:ext cx="4023360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040880" y="5294376"/>
            <a:ext cx="4572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178040" y="5294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shoes men" — 4.2x ROAS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10424160" y="52943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94%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76656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navy. Same signal colors. Same mono for numbers. The brand is the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Wild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548640" y="17830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178308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1892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3152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152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decision-makers, thought leadership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7680" y="17830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178308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1892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48056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48056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storytelling, frameworks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46720" y="17830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46720" y="17830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1892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TERTIARY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2960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2960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Build-in-public, tech community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8640" y="29260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7240" y="315468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41732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 Post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724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Everyone can build an AI tool now.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Claude Code. Cursor. The code writes itself.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But here's what I learned in INFO 7375 at Northeastern this semester: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3B82F6"/>
                </a:solidFill>
              </a:rPr>
              <a:t>Building the product is just the beginning.</a:t>
            </a:r>
            <a:endParaRPr lang="en-US" sz="11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3B82F6"/>
                </a:solidFill>
              </a:rPr>
              <a:t>Branding is what makes people care.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 walked in as a developer.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I'm walking out as a Creative Engineer.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7724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#Branding  #AI  #Northeastern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297680" y="29260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26280" y="315468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6719"/>
          </a:solidFill>
          <a:ln w="12700">
            <a:solidFill>
              <a:srgbClr val="FF671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262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16636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Substack Article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2628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Why More Data Isn't the Answer to Better Marketing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The real problem isn't your dashboards. It's your decisions.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 was on a call with my CEO when I heard the number. $20K a month on ads — and nobody could tell us if it was working.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That call changed everything...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452628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rupampatra.substack.com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046720" y="292608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75320" y="315468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27532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891540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Launch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827532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We spent $20K/month on ads.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Our CEO asked: </a:t>
            </a:r>
            <a:pPr indent="0" marL="0">
              <a:buNone/>
            </a:pPr>
            <a:r>
              <a:rPr lang="en-US" sz="1000" b="1" i="1" dirty="0">
                <a:solidFill>
                  <a:srgbClr val="EF4444"/>
                </a:solidFill>
              </a:rPr>
              <a:t>"Is it working?"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 couldn't answer.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So I built SpendSignal.ai.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Upload your data. Get clear actions in 15 seconds: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STOP  •  FIX  •  INVEST  •  OBSERVE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27532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in first comment ↓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 — </a:t>
            </a:r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That Started It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4480560" y="17830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422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— HERO'S JOURNEY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468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8872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CALL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5800" y="3337560"/>
            <a:ext cx="365760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520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on a call with my CEO when I heard the number.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spending $20K a month on ads.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asked: "Is it working?"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couldn't answer.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2468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6616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661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06908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DEEP DIVE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566160" y="3337560"/>
            <a:ext cx="3657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3520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what any RevOps person would do.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deep.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was chaos — CRM disconnected from ads. SEO misaligned with campaigns. Our ads manager spent more time fixing data than optimizing.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72200" y="2468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4944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46520" y="3337560"/>
            <a:ext cx="36576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6520" y="3520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when it hit me.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have a data problem.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decision problem.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don't need more data. They need answers.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52560" y="2468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32688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268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82980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326880" y="3337560"/>
            <a:ext cx="36576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326880" y="35204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started building SpendSignal.ai that week.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connects your CRM, ads, and SEO automatically — and tells you exactly what to STOP, FIX, INVEST in, or OBSERVE.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guessing. Just answers.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Story → Values:  </a:t>
            </a:r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Clarity  •  Confidence  •  Speed  •  Action  •  Trust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</a:t>
            </a:r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This For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needs a hero. Ours are the marketers burning budget without answers.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2148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The problem: 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Turning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wasted ad spend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 into  </a:t>
            </a:r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confident decisions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 —  for the people writing the checks.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26060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" y="283464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2834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5800" y="3200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Manager, B2B SaaS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" y="3611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Monday before SpendSignal: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58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0120" y="3931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dashboard tabs open by 9am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60120" y="42245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building the CEO report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60120" y="45171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can't answer: "Is it working?"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85800" y="4892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Monday with SpendSignal: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60120" y="5212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One screen. Clear actions.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55046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 to prioritized recommendations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" y="5797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60120" y="5797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into the CEO meeting with answers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400800" y="26060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675120" y="283464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75120" y="2834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675120" y="3200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CEO, $10M ARR Services Co.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675120" y="3611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Friday before SpendSignal: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6751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949440" y="3931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$20K ad check without certainty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67512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949440" y="42245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 shows charts, not answers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67512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949440" y="45171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"Is it working?" — gets a pause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675120" y="4892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Friday with SpendSignal: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67512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949440" y="5212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$16,908/mo in waste found in 15 seconds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67512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949440" y="55046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has a confidence score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675120" y="5797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949440" y="5797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exactly which campaigns to scale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868680"/>
            <a:ext cx="2286000" cy="411480"/>
          </a:xfrm>
          <a:prstGeom prst="roundRect">
            <a:avLst>
              <a:gd name="adj" fmla="val 48889"/>
            </a:avLst>
          </a:prstGeom>
          <a:solidFill>
            <a:srgbClr val="3F15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9875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</a:t>
            </a:r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$16,908</a:t>
            </a:r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Wasted Spend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 in </a:t>
            </a:r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</a:t>
            </a:r>
            <a:endParaRPr lang="en-US" sz="3200" dirty="0"/>
          </a:p>
        </p:txBody>
      </p:sp>
      <p:sp>
        <p:nvSpPr>
          <p:cNvPr id="24" name="Shape 21"/>
          <p:cNvSpPr/>
          <p:nvPr/>
        </p:nvSpPr>
        <p:spPr>
          <a:xfrm>
            <a:off x="2286000" y="3154680"/>
            <a:ext cx="758952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0" y="31546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→  </a:t>
            </a:r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spendsignal-omega.vercel.app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25780" y="4343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5780" y="4343400"/>
            <a:ext cx="54864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10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010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00100" y="5440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a CSV from Google Ads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20540" y="4343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20540" y="434340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486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9486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4594860" y="5440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214+ keywords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115300" y="4343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15300" y="434340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896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389620" y="4937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389620" y="5440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prioritized actions with confidence scores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34747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84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SpendSignal.ai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623560" y="6355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2356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7552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353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3155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5956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8758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4361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7163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899648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27664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55680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11712" y="6446520"/>
            <a:ext cx="73152" cy="7315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39728" y="6446520"/>
            <a:ext cx="201168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1" descr="/home/claude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80160"/>
            <a:ext cx="1005840" cy="12344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2697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22" name="Text 18"/>
          <p:cNvSpPr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wasting. Start knowing.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806440" y="4069080"/>
            <a:ext cx="54864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43891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31520" y="4389120"/>
            <a:ext cx="33832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05840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0584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spendsignal-omega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0584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.vercel.app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389120" y="43891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389120" y="4389120"/>
            <a:ext cx="3383280" cy="5486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63440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66344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/in/rupam-patra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8046720" y="438912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046720" y="4389120"/>
            <a:ext cx="3383280" cy="54864"/>
          </a:xfrm>
          <a:prstGeom prst="rect">
            <a:avLst/>
          </a:prstGeom>
          <a:solidFill>
            <a:srgbClr val="FF6719"/>
          </a:solidFill>
          <a:ln w="12700">
            <a:solidFill>
              <a:srgbClr val="FF671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321040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SUBSTACK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32104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rupampatra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32104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7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.substack.com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Rupam Patra  •  INFO 7375 Branding with AI  •  Northeastern University  •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SpendSignal.ai — Brand Presentation</dc:title>
  <dc:subject>PptxGenJS Presentation</dc:subject>
  <dc:creator>Rupam Patra</dc:creator>
  <cp:lastModifiedBy>Rupam Patra</cp:lastModifiedBy>
  <cp:revision>1</cp:revision>
  <dcterms:created xsi:type="dcterms:W3CDTF">2026-04-20T20:09:45Z</dcterms:created>
  <dcterms:modified xsi:type="dcterms:W3CDTF">2026-04-20T20:09:45Z</dcterms:modified>
</cp:coreProperties>
</file>