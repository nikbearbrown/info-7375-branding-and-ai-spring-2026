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5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38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2177-ED5B-ED66-FCD3-C41988D2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430AA-85FC-854F-741C-94B5A6ECE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6C0D3-4FA6-29BF-A070-536D31605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FCE12-10B9-668D-A85E-B340C8775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08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1840" y="1520251"/>
            <a:ext cx="553462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950" b="1" kern="0" spc="-1" dirty="0">
                <a:solidFill>
                  <a:srgbClr val="F5F3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Prismiq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861840" y="2690040"/>
            <a:ext cx="5534620" cy="29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6B5C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customer feedback into actionable intelligence.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077295" y="3270470"/>
            <a:ext cx="110370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5F3FF">
                    <a:alpha val="80000"/>
                  </a:srgbClr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Ishaan Samel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61840" y="3562638"/>
            <a:ext cx="553462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F5F3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Northeastern University | MS Information Systems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861840" y="3879810"/>
            <a:ext cx="553462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F5F3FF">
                    <a:alpha val="8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 7375 Branding &amp; AI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Brand Essence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12652"/>
            <a:ext cx="4130399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Prismiq</a:t>
            </a:r>
            <a:r>
              <a:rPr lang="en-US" sz="15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AI-powered bridge between raw customer feedback and meaningful business growth for SMBs.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130524" y="1041202"/>
            <a:ext cx="34419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Our Mission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30524" y="1462683"/>
            <a:ext cx="3441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empower local businesses with enterprise-grade sentiment analysis and response automation.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30524" y="2134195"/>
            <a:ext cx="34419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is Prismiq?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30524" y="2555677"/>
            <a:ext cx="3441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streamlined tool built with n8n, Claude API, and Streamlit to refine data into clarity.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Problem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84077"/>
            <a:ext cx="4130399" cy="94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731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SMBs are drowning in digital whispers, yet they lack the voice to answer back.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380555" y="1112639"/>
            <a:ext cx="319194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Passive Collection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80555" y="1366577"/>
            <a:ext cx="292000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Reviews are collected automatically but analyzed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380555" y="1546594"/>
            <a:ext cx="133588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manually—or not at all.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380555" y="1864128"/>
            <a:ext cx="319194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Resource Gap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80555" y="2118066"/>
            <a:ext cx="275570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teams don't have the 40+ hours a month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380555" y="2298083"/>
            <a:ext cx="221277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needed for professional engagement.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80555" y="2615617"/>
            <a:ext cx="319194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Trust Erosion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80555" y="2869555"/>
            <a:ext cx="303788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unanswered review is a signal to customers that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80555" y="3049572"/>
            <a:ext cx="154662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voice doesn't matter.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80555" y="3367106"/>
            <a:ext cx="319194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The Hidden Cost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80555" y="3621044"/>
            <a:ext cx="30218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Unread feedback leads to a massive loss in lifetime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80555" y="3801061"/>
            <a:ext cx="93583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value.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Target Audience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041202"/>
            <a:ext cx="1428750" cy="31495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</a:rPr>
              <a:t>Tanvi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548408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PROFILE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1760934"/>
            <a:ext cx="2497479" cy="1657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of a Mental Health startup in Mumbai.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048470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THE PAIN POINT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2255639"/>
            <a:ext cx="3714750" cy="18216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Receives 50–200 reviews per month.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509242"/>
            <a:ext cx="3714750" cy="18216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dedicated marketing or social media team.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2762845"/>
            <a:ext cx="3714750" cy="18216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Overwhelmed by daily operations and logistics.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57750" y="1041202"/>
            <a:ext cx="2064544" cy="31495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</a:rPr>
              <a:t>Garima 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57750" y="1548408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PROFILE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57750" y="1760934"/>
            <a:ext cx="2773195" cy="1657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Manager at a Tegra Medical, Franklin, MA.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57750" y="2048470"/>
            <a:ext cx="3714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THE OBJECTIVE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57750" y="2255639"/>
            <a:ext cx="3714750" cy="18216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Evaluating AI automation tools for feedback loops.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57750" y="2509242"/>
            <a:ext cx="3714750" cy="18216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Wants to reduce manual review processing time.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57750" y="2762845"/>
            <a:ext cx="3714750" cy="182166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high-accuracy sentiment analysis (Claude API).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Unique Value Proposition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84089"/>
            <a:ext cx="247650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Pay-As-You-Go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691283"/>
            <a:ext cx="247650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 enterprise subscription bloat. Prismiq offers a </a:t>
            </a:r>
            <a:r>
              <a:rPr lang="en-US" sz="900" b="1" dirty="0">
                <a:solidFill>
                  <a:srgbClr val="22C55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cost-effective</a:t>
            </a: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model where you only pay for the reviews you analyze.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33759" y="1284089"/>
            <a:ext cx="247650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Integrated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33759" y="1691283"/>
            <a:ext cx="247650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 beyond raw data. Prismiq combines high-accuracy </a:t>
            </a:r>
            <a:r>
              <a:rPr lang="en-US" sz="900" b="1" dirty="0">
                <a:solidFill>
                  <a:srgbClr val="22C55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sentiment analysis</a:t>
            </a: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automated, personalized response generation.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96019" y="1284089"/>
            <a:ext cx="2476509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Speed to Value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96019" y="1691283"/>
            <a:ext cx="247650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in minutes, not weeks. A </a:t>
            </a:r>
            <a:r>
              <a:rPr lang="en-US" sz="900" b="1" dirty="0">
                <a:solidFill>
                  <a:srgbClr val="22C55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30-minute setup</a:t>
            </a: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allows SMBs to reclaim their customer dialogue immediately.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1F7E97-7C71-3BD0-5BB7-65C2DC77B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74" y="2398573"/>
            <a:ext cx="7772400" cy="2744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D512-A870-FE36-2F2F-04F992DF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34C4B1-B528-D164-C228-2E6C0FF80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C893473-3D79-500D-7BD4-646E2CD33938}"/>
              </a:ext>
            </a:extLst>
          </p:cNvPr>
          <p:cNvSpPr/>
          <p:nvPr/>
        </p:nvSpPr>
        <p:spPr>
          <a:xfrm>
            <a:off x="571500" y="357188"/>
            <a:ext cx="85725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Brand Identity - Logo</a:t>
            </a:r>
            <a:endParaRPr lang="en-US" sz="2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4DCB8D2-DF6B-605C-7D0A-3C43BB298E2A}"/>
              </a:ext>
            </a:extLst>
          </p:cNvPr>
          <p:cNvSpPr/>
          <p:nvPr/>
        </p:nvSpPr>
        <p:spPr>
          <a:xfrm>
            <a:off x="571500" y="969764"/>
            <a:ext cx="30289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Logo &amp; Symbolism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27D3EB-B978-B5DA-87F4-2F4C4F14ED9F}"/>
              </a:ext>
            </a:extLst>
          </p:cNvPr>
          <p:cNvSpPr/>
          <p:nvPr/>
        </p:nvSpPr>
        <p:spPr>
          <a:xfrm>
            <a:off x="714375" y="1343025"/>
            <a:ext cx="26681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prism triangle represents the refinement of</a:t>
            </a:r>
            <a:endParaRPr lang="en-US" sz="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77CE989-71A7-E0CB-24C6-2363BB837CC7}"/>
              </a:ext>
            </a:extLst>
          </p:cNvPr>
          <p:cNvSpPr/>
          <p:nvPr/>
        </p:nvSpPr>
        <p:spPr>
          <a:xfrm>
            <a:off x="571500" y="1525191"/>
            <a:ext cx="17591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data into actionable clarity.</a:t>
            </a:r>
            <a:endParaRPr lang="en-US" sz="900" dirty="0"/>
          </a:p>
        </p:txBody>
      </p:sp>
      <p:pic>
        <p:nvPicPr>
          <p:cNvPr id="14" name="Picture 13" descr="A logo with rainbow colors&#10;&#10;AI-generated content may be incorrect.">
            <a:extLst>
              <a:ext uri="{FF2B5EF4-FFF2-40B4-BE49-F238E27FC236}">
                <a16:creationId xmlns:a16="http://schemas.microsoft.com/office/drawing/2014/main" id="{4427A30E-5333-1AF0-5C63-2B9005DF2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730" y="716852"/>
            <a:ext cx="2737220" cy="1148049"/>
          </a:xfrm>
          <a:prstGeom prst="rect">
            <a:avLst/>
          </a:prstGeom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564E7470-0C75-1116-68AD-CAF3A48C657C}"/>
              </a:ext>
            </a:extLst>
          </p:cNvPr>
          <p:cNvSpPr/>
          <p:nvPr/>
        </p:nvSpPr>
        <p:spPr>
          <a:xfrm>
            <a:off x="571500" y="2322525"/>
            <a:ext cx="3028950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CE7"/>
                </a:solidFill>
                <a:latin typeface="DM Serif Display" pitchFamily="34" charset="0"/>
              </a:rPr>
              <a:t>Variations</a:t>
            </a:r>
            <a:endParaRPr lang="en-US" sz="1500" dirty="0"/>
          </a:p>
        </p:txBody>
      </p:sp>
      <p:pic>
        <p:nvPicPr>
          <p:cNvPr id="17" name="Picture 16" descr="A logo with different colored squares&#10;&#10;AI-generated content may be incorrect.">
            <a:extLst>
              <a:ext uri="{FF2B5EF4-FFF2-40B4-BE49-F238E27FC236}">
                <a16:creationId xmlns:a16="http://schemas.microsoft.com/office/drawing/2014/main" id="{17EC2194-7E65-301B-E42F-81C9BAAEF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24" y="2760081"/>
            <a:ext cx="2951696" cy="10886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8B3425-F4CD-9A3A-5582-791546BE9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693" y="2760081"/>
            <a:ext cx="2033149" cy="10786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FAA5FD-C1E8-A3A7-6DB1-7F5000901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8714" y="2760081"/>
            <a:ext cx="2931845" cy="10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0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Brand Identity System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969764"/>
            <a:ext cx="30289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Logo &amp; Symbolism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14375" y="1343025"/>
            <a:ext cx="26681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prism triangle represents the refinement of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525191"/>
            <a:ext cx="17591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data into actionable clarity.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909167"/>
            <a:ext cx="30289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" y="2269927"/>
            <a:ext cx="30289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DM Serif Display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" y="2573536"/>
            <a:ext cx="30289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for headlines to convey authority and elegance.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2862858"/>
            <a:ext cx="30289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3028950"/>
            <a:ext cx="30289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for body text to ensure modern readability and accessibility.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075" y="1041202"/>
            <a:ext cx="4543425" cy="2555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Brand Pillars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76933"/>
            <a:ext cx="37147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555552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about how AI interprets and generates sentiment for every review.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57750" y="1176933"/>
            <a:ext cx="37147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57750" y="1555552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Simple, non-technical tools designed for the local business community.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3370957"/>
            <a:ext cx="37147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1500" y="3749576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High-accuracy analysis powered by the advanced reasoning of Claude API.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57750" y="3370957"/>
            <a:ext cx="371475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Human Voice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57750" y="3749576"/>
            <a:ext cx="3714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AI-generated responses that sound like a neighbor, not a generic bot.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Digital Presence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041202"/>
            <a:ext cx="862608" cy="350044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Substack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1476970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THOUGHT LEADERSHIP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71500" y="1678781"/>
            <a:ext cx="224135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insights on AI branding and SMB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860947"/>
            <a:ext cx="66794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137767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URL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1500" y="2339578"/>
            <a:ext cx="17395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6B5CE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ishaansamel10.substack.com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333759" y="1041202"/>
            <a:ext cx="841177" cy="350044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LinkedIn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33759" y="1476970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B2B ENGAGEMENT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333759" y="1678781"/>
            <a:ext cx="23681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 networking and industry case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33759" y="1860947"/>
            <a:ext cx="4357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studies.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33759" y="2137767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FOCUS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33759" y="2339578"/>
            <a:ext cx="22752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a community of AI-forward SMB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3759" y="2521744"/>
            <a:ext cx="4304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96019" y="1041202"/>
            <a:ext cx="585788" cy="350044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96019" y="1476970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PLATFORM HUB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096019" y="1678781"/>
            <a:ext cx="243959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High-performance hosting for the Streamlit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96019" y="1860947"/>
            <a:ext cx="6304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96019" y="2137767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kern="0" spc="1" dirty="0">
                <a:solidFill>
                  <a:srgbClr val="2D1B69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096019" y="2339578"/>
            <a:ext cx="24520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transition from brand story to live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96019" y="2521744"/>
            <a:ext cx="23931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1500" y="4530923"/>
            <a:ext cx="80010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Unified brand consistency across every digital touchpoint.</a:t>
            </a:r>
            <a:endParaRPr lang="en-US" sz="1400" dirty="0"/>
          </a:p>
        </p:txBody>
      </p:sp>
      <p:pic>
        <p:nvPicPr>
          <p:cNvPr id="26" name="Picture 25" descr="A screenshot of a website&#10;&#10;AI-generated content may be incorrect.">
            <a:extLst>
              <a:ext uri="{FF2B5EF4-FFF2-40B4-BE49-F238E27FC236}">
                <a16:creationId xmlns:a16="http://schemas.microsoft.com/office/drawing/2014/main" id="{40759465-C9C0-F8E2-437C-75DDC6A06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9" y="2755368"/>
            <a:ext cx="2620941" cy="15008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9EE2CF-0321-0704-33CC-42A6E6EE6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883" y="2713405"/>
            <a:ext cx="2025420" cy="151035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68C3C87-1BFB-FB2F-55F6-719BF9332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81" y="2755368"/>
            <a:ext cx="1763078" cy="151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895648"/>
            <a:ext cx="7143750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50" b="1" dirty="0">
                <a:solidFill>
                  <a:srgbClr val="F5F3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$4 Cable and the $1,500 Bill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1000125" y="1618952"/>
            <a:ext cx="3357563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Origin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00125" y="1983284"/>
            <a:ext cx="335756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uncle ran a small Mumbai electronics shop for </a:t>
            </a:r>
            <a:r>
              <a:rPr lang="en-US" sz="950" b="1" dirty="0">
                <a:solidFill>
                  <a:srgbClr val="F9731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22 years</a:t>
            </a: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built on trust and local service.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00125" y="2569071"/>
            <a:ext cx="3357563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Incident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0125" y="2933402"/>
            <a:ext cx="335756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customer left a 1-star review over a </a:t>
            </a:r>
            <a:r>
              <a:rPr lang="en-US" sz="950" b="1" dirty="0">
                <a:solidFill>
                  <a:srgbClr val="F9731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 cable</a:t>
            </a: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My uncle, busy with daily operations, never saw it.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86313" y="1618952"/>
            <a:ext cx="3357563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Cost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86313" y="1983284"/>
            <a:ext cx="335756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unresponded review likely cost him </a:t>
            </a:r>
            <a:r>
              <a:rPr lang="en-US" sz="950" b="1" dirty="0">
                <a:solidFill>
                  <a:srgbClr val="F9731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$1,500</a:t>
            </a: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lifetime customer value and reputational damage.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86313" y="2569071"/>
            <a:ext cx="3357563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Why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86313" y="2933402"/>
            <a:ext cx="335756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5F3FF">
                    <a:alpha val="9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Prismiq exists so no legacy is tarnished by the silence of an overwhelmed owner.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0125" y="3733502"/>
            <a:ext cx="7143750" cy="51435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C55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"We refine the data, so you can reclaim the dialogue."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1B69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Live Demo: From Data to Action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41202"/>
            <a:ext cx="4208311" cy="23671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65561" y="1041202"/>
            <a:ext cx="2169914" cy="350044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5CE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Validated Performance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065561" y="1569839"/>
            <a:ext cx="78581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C55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235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5958529" y="1753791"/>
            <a:ext cx="173950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Reviews Analyzed in Pilot Run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065561" y="2123480"/>
            <a:ext cx="78581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C55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$1.30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5958529" y="2307431"/>
            <a:ext cx="179665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API &amp; Infrastructure Cost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65561" y="2677120"/>
            <a:ext cx="78581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C55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6 Min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5958529" y="2861072"/>
            <a:ext cx="195738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End-to-End Completion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65561" y="3230761"/>
            <a:ext cx="785813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2C55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 / 3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5958529" y="3414713"/>
            <a:ext cx="233243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D1B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Non-Technical User Testers Succeeded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0225" y="1267123"/>
            <a:ext cx="554355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5F3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Join the Prismiq Revolution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800225" y="2001143"/>
            <a:ext cx="55435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B5C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your 30-minute setup today.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8969" y="2808387"/>
            <a:ext cx="1341239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F5F3FF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178969" y="2981623"/>
            <a:ext cx="134123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3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Prismiq on Vercel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84564" y="2808387"/>
            <a:ext cx="101619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F5F3FF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84564" y="2981623"/>
            <a:ext cx="101619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3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Ishaan Samel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00225" y="3542407"/>
            <a:ext cx="554355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55E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"Built in one semester. Works in the real world."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664</Words>
  <Application>Microsoft Macintosh PowerPoint</Application>
  <PresentationFormat>On-screen Show (16:9)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DM Sans</vt:lpstr>
      <vt:lpstr>DM Sans Bold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Ishaan Pradeep Samel</cp:lastModifiedBy>
  <cp:revision>7</cp:revision>
  <dcterms:created xsi:type="dcterms:W3CDTF">2026-04-22T17:29:54Z</dcterms:created>
  <dcterms:modified xsi:type="dcterms:W3CDTF">2026-04-25T03:01:23Z</dcterms:modified>
</cp:coreProperties>
</file>