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v0-deepa-shenoy-portfolio.vercel.app" TargetMode="External"/><Relationship Id="rId2" Type="http://schemas.openxmlformats.org/officeDocument/2006/relationships/hyperlink" Target="https://deepashenoy.substack.com/about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v0-deepa-shenoy-portfolio.vercel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v0-deepa-shenoy-portfolio.vercel.app" TargetMode="External"/><Relationship Id="rId2" Type="http://schemas.openxmlformats.org/officeDocument/2006/relationships/hyperlink" Target="https://linkedin.com/in/shenoydeepa" TargetMode="External"/><Relationship Id="rId3" Type="http://schemas.openxmlformats.org/officeDocument/2006/relationships/hyperlink" Target="https://deepashenoy.substack.com/about" TargetMode="External"/><Relationship Id="rId4" Type="http://schemas.openxmlformats.org/officeDocument/2006/relationships/hyperlink" Target="https://ds2204.github.io/brand-story/" TargetMode="External"/><Relationship Id="rId5" Type="http://schemas.openxmlformats.org/officeDocument/2006/relationships/hyperlink" Target="https://ds2204.github.io/brand-story/" TargetMode="External"/><Relationship Id="rId6" Type="http://schemas.openxmlformats.org/officeDocument/2006/relationships/hyperlink" Target="mailto:shenoy.d@northeastern.edu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" cy="54864"/>
          </a:xfrm>
          <a:prstGeom prst="ellipse">
            <a:avLst/>
          </a:prstGeom>
          <a:solidFill>
            <a:srgbClr val="5A6ED8">
              <a:alpha val="30000"/>
            </a:srgbClr>
          </a:solidFill>
          <a:ln w="12700">
            <a:solidFill>
              <a:srgbClr val="5A6ED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1371600"/>
            <a:ext cx="54864" cy="54864"/>
          </a:xfrm>
          <a:prstGeom prst="ellipse">
            <a:avLst/>
          </a:prstGeom>
          <a:solidFill>
            <a:srgbClr val="5A6ED8">
              <a:alpha val="30000"/>
            </a:srgbClr>
          </a:solidFill>
          <a:ln w="12700">
            <a:solidFill>
              <a:srgbClr val="5A6ED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2377440"/>
            <a:ext cx="54864" cy="54864"/>
          </a:xfrm>
          <a:prstGeom prst="ellipse">
            <a:avLst/>
          </a:prstGeom>
          <a:solidFill>
            <a:srgbClr val="5A6ED8">
              <a:alpha val="30000"/>
            </a:srgbClr>
          </a:solidFill>
          <a:ln w="12700">
            <a:solidFill>
              <a:srgbClr val="5A6ED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3383280"/>
            <a:ext cx="54864" cy="54864"/>
          </a:xfrm>
          <a:prstGeom prst="ellipse">
            <a:avLst/>
          </a:prstGeom>
          <a:solidFill>
            <a:srgbClr val="5A6ED8">
              <a:alpha val="30000"/>
            </a:srgbClr>
          </a:solidFill>
          <a:ln w="12700">
            <a:solidFill>
              <a:srgbClr val="5A6ED8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4389120"/>
            <a:ext cx="54864" cy="54864"/>
          </a:xfrm>
          <a:prstGeom prst="ellipse">
            <a:avLst/>
          </a:prstGeom>
          <a:solidFill>
            <a:srgbClr val="5A6ED8">
              <a:alpha val="30000"/>
            </a:srgbClr>
          </a:solidFill>
          <a:ln w="12700">
            <a:solidFill>
              <a:srgbClr val="5A6ED8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365760"/>
            <a:ext cx="54864" cy="54864"/>
          </a:xfrm>
          <a:prstGeom prst="ellipse">
            <a:avLst/>
          </a:prstGeom>
          <a:solidFill>
            <a:srgbClr val="5A6ED8">
              <a:alpha val="30000"/>
            </a:srgbClr>
          </a:solidFill>
          <a:ln w="12700">
            <a:solidFill>
              <a:srgbClr val="5A6ED8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1371600"/>
            <a:ext cx="54864" cy="54864"/>
          </a:xfrm>
          <a:prstGeom prst="ellipse">
            <a:avLst/>
          </a:prstGeom>
          <a:solidFill>
            <a:srgbClr val="5A6ED8">
              <a:alpha val="30000"/>
            </a:srgbClr>
          </a:solidFill>
          <a:ln w="12700">
            <a:solidFill>
              <a:srgbClr val="5A6ED8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0" y="2377440"/>
            <a:ext cx="54864" cy="54864"/>
          </a:xfrm>
          <a:prstGeom prst="ellipse">
            <a:avLst/>
          </a:prstGeom>
          <a:solidFill>
            <a:srgbClr val="5A6ED8">
              <a:alpha val="30000"/>
            </a:srgbClr>
          </a:solidFill>
          <a:ln w="12700">
            <a:solidFill>
              <a:srgbClr val="5A6ED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3383280"/>
            <a:ext cx="54864" cy="54864"/>
          </a:xfrm>
          <a:prstGeom prst="ellipse">
            <a:avLst/>
          </a:prstGeom>
          <a:solidFill>
            <a:srgbClr val="5A6ED8">
              <a:alpha val="30000"/>
            </a:srgbClr>
          </a:solidFill>
          <a:ln w="12700">
            <a:solidFill>
              <a:srgbClr val="5A6ED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0" y="4389120"/>
            <a:ext cx="54864" cy="54864"/>
          </a:xfrm>
          <a:prstGeom prst="ellipse">
            <a:avLst/>
          </a:prstGeom>
          <a:solidFill>
            <a:srgbClr val="5A6ED8">
              <a:alpha val="30000"/>
            </a:srgbClr>
          </a:solidFill>
          <a:ln w="12700">
            <a:solidFill>
              <a:srgbClr val="5A6ED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0" y="365760"/>
            <a:ext cx="54864" cy="54864"/>
          </a:xfrm>
          <a:prstGeom prst="ellipse">
            <a:avLst/>
          </a:prstGeom>
          <a:solidFill>
            <a:srgbClr val="5A6ED8">
              <a:alpha val="30000"/>
            </a:srgbClr>
          </a:solidFill>
          <a:ln w="12700">
            <a:solidFill>
              <a:srgbClr val="5A6ED8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1371600"/>
            <a:ext cx="54864" cy="54864"/>
          </a:xfrm>
          <a:prstGeom prst="ellipse">
            <a:avLst/>
          </a:prstGeom>
          <a:solidFill>
            <a:srgbClr val="5A6ED8">
              <a:alpha val="30000"/>
            </a:srgbClr>
          </a:solidFill>
          <a:ln w="12700">
            <a:solidFill>
              <a:srgbClr val="5A6ED8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0" y="2377440"/>
            <a:ext cx="54864" cy="54864"/>
          </a:xfrm>
          <a:prstGeom prst="ellipse">
            <a:avLst/>
          </a:prstGeom>
          <a:solidFill>
            <a:srgbClr val="5A6ED8">
              <a:alpha val="30000"/>
            </a:srgbClr>
          </a:solidFill>
          <a:ln w="12700">
            <a:solidFill>
              <a:srgbClr val="5A6ED8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0" y="3383280"/>
            <a:ext cx="54864" cy="54864"/>
          </a:xfrm>
          <a:prstGeom prst="ellipse">
            <a:avLst/>
          </a:prstGeom>
          <a:solidFill>
            <a:srgbClr val="5A6ED8">
              <a:alpha val="30000"/>
            </a:srgbClr>
          </a:solidFill>
          <a:ln w="12700">
            <a:solidFill>
              <a:srgbClr val="5A6ED8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26080" y="4389120"/>
            <a:ext cx="54864" cy="54864"/>
          </a:xfrm>
          <a:prstGeom prst="ellipse">
            <a:avLst/>
          </a:prstGeom>
          <a:solidFill>
            <a:srgbClr val="5A6ED8">
              <a:alpha val="30000"/>
            </a:srgbClr>
          </a:solidFill>
          <a:ln w="12700">
            <a:solidFill>
              <a:srgbClr val="5A6ED8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0" y="365760"/>
            <a:ext cx="54864" cy="54864"/>
          </a:xfrm>
          <a:prstGeom prst="ellipse">
            <a:avLst/>
          </a:prstGeom>
          <a:solidFill>
            <a:srgbClr val="5A6ED8">
              <a:alpha val="30000"/>
            </a:srgbClr>
          </a:solidFill>
          <a:ln w="12700">
            <a:solidFill>
              <a:srgbClr val="5A6ED8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23360" y="1371600"/>
            <a:ext cx="54864" cy="54864"/>
          </a:xfrm>
          <a:prstGeom prst="ellipse">
            <a:avLst/>
          </a:prstGeom>
          <a:solidFill>
            <a:srgbClr val="5A6ED8">
              <a:alpha val="30000"/>
            </a:srgbClr>
          </a:solidFill>
          <a:ln w="12700">
            <a:solidFill>
              <a:srgbClr val="5A6ED8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23360" y="2377440"/>
            <a:ext cx="54864" cy="54864"/>
          </a:xfrm>
          <a:prstGeom prst="ellipse">
            <a:avLst/>
          </a:prstGeom>
          <a:solidFill>
            <a:srgbClr val="5A6ED8">
              <a:alpha val="30000"/>
            </a:srgbClr>
          </a:solidFill>
          <a:ln w="12700">
            <a:solidFill>
              <a:srgbClr val="5A6ED8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23360" y="3383280"/>
            <a:ext cx="54864" cy="54864"/>
          </a:xfrm>
          <a:prstGeom prst="ellipse">
            <a:avLst/>
          </a:prstGeom>
          <a:solidFill>
            <a:srgbClr val="5A6ED8">
              <a:alpha val="30000"/>
            </a:srgbClr>
          </a:solidFill>
          <a:ln w="12700">
            <a:solidFill>
              <a:srgbClr val="5A6ED8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23360" y="4389120"/>
            <a:ext cx="54864" cy="54864"/>
          </a:xfrm>
          <a:prstGeom prst="ellipse">
            <a:avLst/>
          </a:prstGeom>
          <a:solidFill>
            <a:srgbClr val="5A6ED8">
              <a:alpha val="30000"/>
            </a:srgbClr>
          </a:solidFill>
          <a:ln w="12700">
            <a:solidFill>
              <a:srgbClr val="5A6ED8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20640" y="365760"/>
            <a:ext cx="54864" cy="54864"/>
          </a:xfrm>
          <a:prstGeom prst="ellipse">
            <a:avLst/>
          </a:prstGeom>
          <a:solidFill>
            <a:srgbClr val="5A6ED8">
              <a:alpha val="30000"/>
            </a:srgbClr>
          </a:solidFill>
          <a:ln w="12700">
            <a:solidFill>
              <a:srgbClr val="5A6ED8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20640" y="1371600"/>
            <a:ext cx="54864" cy="54864"/>
          </a:xfrm>
          <a:prstGeom prst="ellipse">
            <a:avLst/>
          </a:prstGeom>
          <a:solidFill>
            <a:srgbClr val="5A6ED8">
              <a:alpha val="30000"/>
            </a:srgbClr>
          </a:solidFill>
          <a:ln w="12700">
            <a:solidFill>
              <a:srgbClr val="5A6ED8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20640" y="2377440"/>
            <a:ext cx="54864" cy="54864"/>
          </a:xfrm>
          <a:prstGeom prst="ellipse">
            <a:avLst/>
          </a:prstGeom>
          <a:solidFill>
            <a:srgbClr val="5A6ED8">
              <a:alpha val="30000"/>
            </a:srgbClr>
          </a:solidFill>
          <a:ln w="12700">
            <a:solidFill>
              <a:srgbClr val="5A6ED8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3383280"/>
            <a:ext cx="54864" cy="54864"/>
          </a:xfrm>
          <a:prstGeom prst="ellipse">
            <a:avLst/>
          </a:prstGeom>
          <a:solidFill>
            <a:srgbClr val="5A6ED8">
              <a:alpha val="30000"/>
            </a:srgbClr>
          </a:solidFill>
          <a:ln w="12700">
            <a:solidFill>
              <a:srgbClr val="5A6ED8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20640" y="4389120"/>
            <a:ext cx="54864" cy="54864"/>
          </a:xfrm>
          <a:prstGeom prst="ellipse">
            <a:avLst/>
          </a:prstGeom>
          <a:solidFill>
            <a:srgbClr val="5A6ED8">
              <a:alpha val="30000"/>
            </a:srgbClr>
          </a:solidFill>
          <a:ln w="12700">
            <a:solidFill>
              <a:srgbClr val="5A6ED8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365760"/>
            <a:ext cx="54864" cy="54864"/>
          </a:xfrm>
          <a:prstGeom prst="ellipse">
            <a:avLst/>
          </a:prstGeom>
          <a:solidFill>
            <a:srgbClr val="5A6ED8">
              <a:alpha val="30000"/>
            </a:srgbClr>
          </a:solidFill>
          <a:ln w="12700">
            <a:solidFill>
              <a:srgbClr val="5A6ED8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1371600"/>
            <a:ext cx="54864" cy="54864"/>
          </a:xfrm>
          <a:prstGeom prst="ellipse">
            <a:avLst/>
          </a:prstGeom>
          <a:solidFill>
            <a:srgbClr val="5A6ED8">
              <a:alpha val="30000"/>
            </a:srgbClr>
          </a:solidFill>
          <a:ln w="12700">
            <a:solidFill>
              <a:srgbClr val="5A6ED8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2377440"/>
            <a:ext cx="54864" cy="54864"/>
          </a:xfrm>
          <a:prstGeom prst="ellipse">
            <a:avLst/>
          </a:prstGeom>
          <a:solidFill>
            <a:srgbClr val="5A6ED8">
              <a:alpha val="30000"/>
            </a:srgbClr>
          </a:solidFill>
          <a:ln w="12700">
            <a:solidFill>
              <a:srgbClr val="5A6ED8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0" y="3383280"/>
            <a:ext cx="54864" cy="54864"/>
          </a:xfrm>
          <a:prstGeom prst="ellipse">
            <a:avLst/>
          </a:prstGeom>
          <a:solidFill>
            <a:srgbClr val="5A6ED8">
              <a:alpha val="30000"/>
            </a:srgbClr>
          </a:solidFill>
          <a:ln w="12700">
            <a:solidFill>
              <a:srgbClr val="5A6ED8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0" y="4389120"/>
            <a:ext cx="54864" cy="54864"/>
          </a:xfrm>
          <a:prstGeom prst="ellipse">
            <a:avLst/>
          </a:prstGeom>
          <a:solidFill>
            <a:srgbClr val="5A6ED8">
              <a:alpha val="30000"/>
            </a:srgbClr>
          </a:solidFill>
          <a:ln w="12700">
            <a:solidFill>
              <a:srgbClr val="5A6ED8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5200" y="365760"/>
            <a:ext cx="54864" cy="54864"/>
          </a:xfrm>
          <a:prstGeom prst="ellipse">
            <a:avLst/>
          </a:prstGeom>
          <a:solidFill>
            <a:srgbClr val="5A6ED8">
              <a:alpha val="30000"/>
            </a:srgbClr>
          </a:solidFill>
          <a:ln w="12700">
            <a:solidFill>
              <a:srgbClr val="5A6ED8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15200" y="1371600"/>
            <a:ext cx="54864" cy="54864"/>
          </a:xfrm>
          <a:prstGeom prst="ellipse">
            <a:avLst/>
          </a:prstGeom>
          <a:solidFill>
            <a:srgbClr val="5A6ED8">
              <a:alpha val="30000"/>
            </a:srgbClr>
          </a:solidFill>
          <a:ln w="12700">
            <a:solidFill>
              <a:srgbClr val="5A6ED8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0" y="2377440"/>
            <a:ext cx="54864" cy="54864"/>
          </a:xfrm>
          <a:prstGeom prst="ellipse">
            <a:avLst/>
          </a:prstGeom>
          <a:solidFill>
            <a:srgbClr val="5A6ED8">
              <a:alpha val="30000"/>
            </a:srgbClr>
          </a:solidFill>
          <a:ln w="12700">
            <a:solidFill>
              <a:srgbClr val="5A6ED8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15200" y="3383280"/>
            <a:ext cx="54864" cy="54864"/>
          </a:xfrm>
          <a:prstGeom prst="ellipse">
            <a:avLst/>
          </a:prstGeom>
          <a:solidFill>
            <a:srgbClr val="5A6ED8">
              <a:alpha val="30000"/>
            </a:srgbClr>
          </a:solidFill>
          <a:ln w="12700">
            <a:solidFill>
              <a:srgbClr val="5A6ED8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315200" y="4389120"/>
            <a:ext cx="54864" cy="54864"/>
          </a:xfrm>
          <a:prstGeom prst="ellipse">
            <a:avLst/>
          </a:prstGeom>
          <a:solidFill>
            <a:srgbClr val="5A6ED8">
              <a:alpha val="30000"/>
            </a:srgbClr>
          </a:solidFill>
          <a:ln w="12700">
            <a:solidFill>
              <a:srgbClr val="5A6ED8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12480" y="365760"/>
            <a:ext cx="54864" cy="54864"/>
          </a:xfrm>
          <a:prstGeom prst="ellipse">
            <a:avLst/>
          </a:prstGeom>
          <a:solidFill>
            <a:srgbClr val="5A6ED8">
              <a:alpha val="30000"/>
            </a:srgbClr>
          </a:solidFill>
          <a:ln w="12700">
            <a:solidFill>
              <a:srgbClr val="5A6ED8">
                <a:alpha val="3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1371600"/>
            <a:ext cx="54864" cy="54864"/>
          </a:xfrm>
          <a:prstGeom prst="ellipse">
            <a:avLst/>
          </a:prstGeom>
          <a:solidFill>
            <a:srgbClr val="5A6ED8">
              <a:alpha val="30000"/>
            </a:srgbClr>
          </a:solidFill>
          <a:ln w="12700">
            <a:solidFill>
              <a:srgbClr val="5A6ED8">
                <a:alpha val="3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412480" y="2377440"/>
            <a:ext cx="54864" cy="54864"/>
          </a:xfrm>
          <a:prstGeom prst="ellipse">
            <a:avLst/>
          </a:prstGeom>
          <a:solidFill>
            <a:srgbClr val="5A6ED8">
              <a:alpha val="30000"/>
            </a:srgbClr>
          </a:solidFill>
          <a:ln w="12700">
            <a:solidFill>
              <a:srgbClr val="5A6ED8">
                <a:alpha val="3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412480" y="3383280"/>
            <a:ext cx="54864" cy="54864"/>
          </a:xfrm>
          <a:prstGeom prst="ellipse">
            <a:avLst/>
          </a:prstGeom>
          <a:solidFill>
            <a:srgbClr val="5A6ED8">
              <a:alpha val="30000"/>
            </a:srgbClr>
          </a:solidFill>
          <a:ln w="12700">
            <a:solidFill>
              <a:srgbClr val="5A6ED8">
                <a:alpha val="3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412480" y="4389120"/>
            <a:ext cx="54864" cy="54864"/>
          </a:xfrm>
          <a:prstGeom prst="ellipse">
            <a:avLst/>
          </a:prstGeom>
          <a:solidFill>
            <a:srgbClr val="5A6ED8">
              <a:alpha val="30000"/>
            </a:srgbClr>
          </a:solidFill>
          <a:ln w="12700">
            <a:solidFill>
              <a:srgbClr val="5A6ED8">
                <a:alpha val="3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" y="502920"/>
            <a:ext cx="3108960" cy="292608"/>
          </a:xfrm>
          <a:prstGeom prst="rect">
            <a:avLst/>
          </a:prstGeom>
          <a:solidFill>
            <a:srgbClr val="243799">
              <a:alpha val="60000"/>
            </a:srgbClr>
          </a:solidFill>
          <a:ln w="6350">
            <a:solidFill>
              <a:srgbClr val="5A6E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5029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300" kern="0" dirty="0">
                <a:solidFill>
                  <a:srgbClr val="7BF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 7375 · FINAL BRAND PORTFOLIO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48640" y="91440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i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Deepa Shenoy</a:t>
            </a:r>
            <a:endParaRPr lang="en-US" sz="5200" dirty="0"/>
          </a:p>
        </p:txBody>
      </p:sp>
      <p:sp>
        <p:nvSpPr>
          <p:cNvPr id="45" name="Text 43"/>
          <p:cNvSpPr/>
          <p:nvPr/>
        </p:nvSpPr>
        <p:spPr>
          <a:xfrm>
            <a:off x="548640" y="16916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5A6E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QUALITY ENGINEER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548640" y="2176272"/>
            <a:ext cx="4114800" cy="27432"/>
          </a:xfrm>
          <a:prstGeom prst="rect">
            <a:avLst/>
          </a:prstGeom>
          <a:solidFill>
            <a:srgbClr val="7BFFD8"/>
          </a:solidFill>
          <a:ln w="12700">
            <a:solidFill>
              <a:srgbClr val="7BFF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233172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89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reliable, cloud-first data infrastructure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89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accuracy isn't optional.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48640" y="315468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BF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Most data engineers focus on speed. I focus on making data trustworthy.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892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 INFORMATION SYSTEMS · NORTHEASTERN UNIVERSITY · APRIL 2026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7589520" y="365760"/>
            <a:ext cx="54864" cy="4389120"/>
          </a:xfrm>
          <a:prstGeom prst="rect">
            <a:avLst/>
          </a:prstGeom>
          <a:solidFill>
            <a:srgbClr val="5A6ED8">
              <a:alpha val="40000"/>
            </a:srgbClr>
          </a:solidFill>
          <a:ln w="12700">
            <a:solidFill>
              <a:srgbClr val="5A6ED8">
                <a:alpha val="4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845552" y="365760"/>
            <a:ext cx="54864" cy="4389120"/>
          </a:xfrm>
          <a:prstGeom prst="rect">
            <a:avLst/>
          </a:prstGeom>
          <a:solidFill>
            <a:srgbClr val="5A6ED8">
              <a:alpha val="32000"/>
            </a:srgbClr>
          </a:solidFill>
          <a:ln w="12700">
            <a:solidFill>
              <a:srgbClr val="5A6ED8">
                <a:alpha val="32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101584" y="365760"/>
            <a:ext cx="54864" cy="4389120"/>
          </a:xfrm>
          <a:prstGeom prst="rect">
            <a:avLst/>
          </a:prstGeom>
          <a:solidFill>
            <a:srgbClr val="5A6ED8">
              <a:alpha val="24000"/>
            </a:srgbClr>
          </a:solidFill>
          <a:ln w="12700">
            <a:solidFill>
              <a:srgbClr val="5A6ED8">
                <a:alpha val="24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357616" y="365760"/>
            <a:ext cx="54864" cy="4389120"/>
          </a:xfrm>
          <a:prstGeom prst="rect">
            <a:avLst/>
          </a:prstGeom>
          <a:solidFill>
            <a:srgbClr val="5A6ED8">
              <a:alpha val="16000"/>
            </a:srgbClr>
          </a:solidFill>
          <a:ln w="12700">
            <a:solidFill>
              <a:srgbClr val="5A6ED8">
                <a:alpha val="16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613648" y="365760"/>
            <a:ext cx="54864" cy="4389120"/>
          </a:xfrm>
          <a:prstGeom prst="rect">
            <a:avLst/>
          </a:prstGeom>
          <a:solidFill>
            <a:srgbClr val="5A6ED8">
              <a:alpha val="8000"/>
            </a:srgbClr>
          </a:solidFill>
          <a:ln w="12700">
            <a:solidFill>
              <a:srgbClr val="5A6ED8">
                <a:alpha val="8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845552" y="2377440"/>
            <a:ext cx="256032" cy="256032"/>
          </a:xfrm>
          <a:prstGeom prst="ellipse">
            <a:avLst/>
          </a:prstGeom>
          <a:solidFill>
            <a:srgbClr val="7BFFD8"/>
          </a:solidFill>
          <a:ln w="12700">
            <a:solidFill>
              <a:srgbClr val="7BFFD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229600" cy="4572000"/>
          </a:xfrm>
          <a:prstGeom prst="rect">
            <a:avLst/>
          </a:prstGeom>
          <a:solidFill>
            <a:srgbClr val="050520"/>
          </a:solidFill>
          <a:ln w="6350">
            <a:solidFill>
              <a:srgbClr val="5A6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8229600" cy="347472"/>
          </a:xfrm>
          <a:prstGeom prst="rect">
            <a:avLst/>
          </a:prstGeom>
          <a:solidFill>
            <a:srgbClr val="0A0A2E"/>
          </a:solidFill>
          <a:ln w="12700">
            <a:solidFill>
              <a:srgbClr val="0A0A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374904"/>
            <a:ext cx="146304" cy="14630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" y="374904"/>
            <a:ext cx="146304" cy="14630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7864" y="374904"/>
            <a:ext cx="146304" cy="14630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2926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deepa@portfolio:~$ ./present.sh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14400" y="7772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5A6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PRESENTATION ROADMAP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14400" y="10058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You'll See Today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868680" y="1828800"/>
            <a:ext cx="2423160" cy="1097280"/>
          </a:xfrm>
          <a:prstGeom prst="rect">
            <a:avLst/>
          </a:prstGeom>
          <a:solidFill>
            <a:srgbClr val="0A0A2E"/>
          </a:solidFill>
          <a:ln w="6350">
            <a:solidFill>
              <a:srgbClr val="5A6E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1828800"/>
            <a:ext cx="2423160" cy="27432"/>
          </a:xfrm>
          <a:prstGeom prst="rect">
            <a:avLst/>
          </a:prstGeom>
          <a:solidFill>
            <a:srgbClr val="7BFFD8"/>
          </a:solidFill>
          <a:ln w="12700">
            <a:solidFill>
              <a:srgbClr val="7BFF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9202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14400" y="21305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Introduction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2423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essence, positioning, and who I serve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520440" y="1828800"/>
            <a:ext cx="2423160" cy="1097280"/>
          </a:xfrm>
          <a:prstGeom prst="rect">
            <a:avLst/>
          </a:prstGeom>
          <a:solidFill>
            <a:srgbClr val="0A0A2E"/>
          </a:solidFill>
          <a:ln w="6350">
            <a:solidFill>
              <a:srgbClr val="5A6E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0440" y="1828800"/>
            <a:ext cx="2423160" cy="27432"/>
          </a:xfrm>
          <a:prstGeom prst="rect">
            <a:avLst/>
          </a:prstGeom>
          <a:solidFill>
            <a:srgbClr val="7BFFD8"/>
          </a:solidFill>
          <a:ln w="12700">
            <a:solidFill>
              <a:srgbClr val="7BFF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19202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566160" y="21305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Strategy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66160" y="2423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UVP, brand pillars, target audience, competitive positioning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172200" y="1828800"/>
            <a:ext cx="2423160" cy="1097280"/>
          </a:xfrm>
          <a:prstGeom prst="rect">
            <a:avLst/>
          </a:prstGeom>
          <a:solidFill>
            <a:srgbClr val="0A0A2E"/>
          </a:solidFill>
          <a:ln w="6350">
            <a:solidFill>
              <a:srgbClr val="5A6E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2200" y="1828800"/>
            <a:ext cx="2423160" cy="27432"/>
          </a:xfrm>
          <a:prstGeom prst="rect">
            <a:avLst/>
          </a:prstGeom>
          <a:solidFill>
            <a:srgbClr val="7BFFD8"/>
          </a:solidFill>
          <a:ln w="12700">
            <a:solidFill>
              <a:srgbClr val="7BFF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19202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217920" y="21305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Identity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2423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color, typography, live website walkthrough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68680" y="3063240"/>
            <a:ext cx="2423160" cy="1097280"/>
          </a:xfrm>
          <a:prstGeom prst="rect">
            <a:avLst/>
          </a:prstGeom>
          <a:solidFill>
            <a:srgbClr val="0A0A2E"/>
          </a:solidFill>
          <a:ln w="6350">
            <a:solidFill>
              <a:srgbClr val="5A6E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" y="3063240"/>
            <a:ext cx="2423160" cy="27432"/>
          </a:xfrm>
          <a:prstGeom prst="rect">
            <a:avLst/>
          </a:prstGeom>
          <a:solidFill>
            <a:srgbClr val="7BFFD8"/>
          </a:solidFill>
          <a:ln w="12700">
            <a:solidFill>
              <a:srgbClr val="7BFF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31546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14400" y="33649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Storytelling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3657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Hero's Journey: the bug that changed everything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520440" y="3063240"/>
            <a:ext cx="2423160" cy="1097280"/>
          </a:xfrm>
          <a:prstGeom prst="rect">
            <a:avLst/>
          </a:prstGeom>
          <a:solidFill>
            <a:srgbClr val="0A0A2E"/>
          </a:solidFill>
          <a:ln w="6350">
            <a:solidFill>
              <a:srgbClr val="5A6E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20440" y="3063240"/>
            <a:ext cx="2423160" cy="27432"/>
          </a:xfrm>
          <a:prstGeom prst="rect">
            <a:avLst/>
          </a:prstGeom>
          <a:solidFill>
            <a:srgbClr val="7BFFD8"/>
          </a:solidFill>
          <a:ln w="12700">
            <a:solidFill>
              <a:srgbClr val="7BFF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66160" y="31546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566160" y="33649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Madison AI Demo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566160" y="3657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 of AI-augmented analytics workflow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5A6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BRAND INTRODUCTION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i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Essence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1463040"/>
          </a:xfrm>
          <a:prstGeom prst="rect">
            <a:avLst/>
          </a:prstGeom>
          <a:solidFill>
            <a:srgbClr val="243799">
              <a:alpha val="15000"/>
            </a:srgbClr>
          </a:solidFill>
          <a:ln w="6350">
            <a:solidFill>
              <a:srgbClr val="5A6E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45720" cy="1463040"/>
          </a:xfrm>
          <a:prstGeom prst="rect">
            <a:avLst/>
          </a:prstGeom>
          <a:solidFill>
            <a:srgbClr val="7BFFD8"/>
          </a:solidFill>
          <a:ln w="12700">
            <a:solidFill>
              <a:srgbClr val="7BFF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727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BF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🎯  MISSION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1792224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to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89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infrastructure where reliability isn't an afterthought — it's engineered in from day one.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463040"/>
            <a:ext cx="3931920" cy="1463040"/>
          </a:xfrm>
          <a:prstGeom prst="rect">
            <a:avLst/>
          </a:prstGeom>
          <a:solidFill>
            <a:srgbClr val="243799">
              <a:alpha val="15000"/>
            </a:srgbClr>
          </a:solidFill>
          <a:ln w="6350">
            <a:solidFill>
              <a:srgbClr val="5A6E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463040"/>
            <a:ext cx="45720" cy="1463040"/>
          </a:xfrm>
          <a:prstGeom prst="rect">
            <a:avLst/>
          </a:prstGeom>
          <a:solidFill>
            <a:srgbClr val="7BFFD8"/>
          </a:solidFill>
          <a:ln w="12700">
            <a:solidFill>
              <a:srgbClr val="7BFF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5727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BF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 PROMISE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846320" y="1792224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30–40%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46320" y="22402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89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improvements through validation-first pipelines that make confident decision-making possible.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8138160" cy="1554480"/>
          </a:xfrm>
          <a:prstGeom prst="rect">
            <a:avLst/>
          </a:prstGeom>
          <a:solidFill>
            <a:srgbClr val="243799">
              <a:alpha val="15000"/>
            </a:srgbClr>
          </a:solidFill>
          <a:ln w="6350">
            <a:solidFill>
              <a:srgbClr val="5A6E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08960"/>
            <a:ext cx="45720" cy="1554480"/>
          </a:xfrm>
          <a:prstGeom prst="rect">
            <a:avLst/>
          </a:prstGeom>
          <a:solidFill>
            <a:srgbClr val="7BFFD8"/>
          </a:solidFill>
          <a:ln w="12700">
            <a:solidFill>
              <a:srgbClr val="7BFF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218688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BF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🔧  APPROACH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0080" y="3438144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Quality-Obsessed Engineering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8862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89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organizations where "close enough" isn't good enough. Every stage has a gate. No data publishes without passing.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5A6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BRAND STRATEGY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Audience &amp;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Unique Value Proposition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4114800" cy="1645920"/>
          </a:xfrm>
          <a:prstGeom prst="rect">
            <a:avLst/>
          </a:prstGeom>
          <a:solidFill>
            <a:srgbClr val="243799">
              <a:alpha val="20000"/>
            </a:srgbClr>
          </a:solidFill>
          <a:ln w="6350">
            <a:solidFill>
              <a:srgbClr val="5A6E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91640"/>
            <a:ext cx="54864" cy="1645920"/>
          </a:xfrm>
          <a:prstGeom prst="rect">
            <a:avLst/>
          </a:prstGeom>
          <a:solidFill>
            <a:srgbClr val="7BFFD8"/>
          </a:solidFill>
          <a:ln w="12700">
            <a:solidFill>
              <a:srgbClr val="7BFF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3749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i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 build reliable, cloud-first data infrastructure where quality isn't an afterthought — it's engineered in from day one."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0" y="16002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7BF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I SERVE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846320" y="1920240"/>
            <a:ext cx="3749040" cy="1097280"/>
          </a:xfrm>
          <a:prstGeom prst="rect">
            <a:avLst/>
          </a:prstGeom>
          <a:solidFill>
            <a:srgbClr val="243799">
              <a:alpha val="20000"/>
            </a:srgbClr>
          </a:solidFill>
          <a:ln w="6350">
            <a:solidFill>
              <a:srgbClr val="5A6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202996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BF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ENGINEERING HIRING MANAGERS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29200" y="2304288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9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Series B–D tech companies who need engineers that build right, not just fast.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3200400"/>
            <a:ext cx="3749040" cy="1097280"/>
          </a:xfrm>
          <a:prstGeom prst="rect">
            <a:avLst/>
          </a:prstGeom>
          <a:solidFill>
            <a:srgbClr val="243799">
              <a:alpha val="20000"/>
            </a:srgbClr>
          </a:solidFill>
          <a:ln w="6350">
            <a:solidFill>
              <a:srgbClr val="5A6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331012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BF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TEAM LEADERS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29200" y="3584448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9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enterprise cloud migrations who need validation rigor alongside cloud-native expertise.</a:t>
            </a:r>
            <a:endParaRPr lang="en-US" sz="1000" dirty="0"/>
          </a:p>
        </p:txBody>
      </p:sp>
      <p:sp>
        <p:nvSpPr>
          <p:cNvPr id="14" name="Text 12">
            <a:hlinkClick r:id="rId1" tooltip=""/>
          </p:cNvPr>
          <p:cNvSpPr/>
          <p:nvPr/>
        </p:nvSpPr>
        <p:spPr>
          <a:xfrm>
            <a:off x="457200" y="4526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5A6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🌐  v0-deepa-shenoy-portfolio.vercel.app</a:t>
            </a:r>
            <a:endParaRPr lang="en-US" sz="800" dirty="0"/>
          </a:p>
        </p:txBody>
      </p:sp>
      <p:sp>
        <p:nvSpPr>
          <p:cNvPr id="15" name="Text 13">
            <a:hlinkClick r:id="rId2" tooltip=""/>
          </p:cNvPr>
          <p:cNvSpPr/>
          <p:nvPr/>
        </p:nvSpPr>
        <p:spPr>
          <a:xfrm>
            <a:off x="4846320" y="4526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5A6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📖  deepashenoy.substack.com/about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5A6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BRAND STRATEGY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Brand Pillars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1600200" cy="3474720"/>
          </a:xfrm>
          <a:prstGeom prst="rect">
            <a:avLst/>
          </a:prstGeom>
          <a:solidFill>
            <a:srgbClr val="243799">
              <a:alpha val="12000"/>
            </a:srgbClr>
          </a:solidFill>
          <a:ln w="6350">
            <a:solidFill>
              <a:srgbClr val="5A6E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234440"/>
            <a:ext cx="1600200" cy="36576"/>
          </a:xfrm>
          <a:prstGeom prst="rect">
            <a:avLst/>
          </a:prstGeom>
          <a:solidFill>
            <a:srgbClr val="5A6ED8"/>
          </a:solidFill>
          <a:ln w="12700">
            <a:solidFill>
              <a:srgbClr val="5A6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29844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29768" y="15087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A6ED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✓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93192" y="199339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Quality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3192" y="2542032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9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error reduction. 70% less manual reporting. Real production metrics.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93192" y="4297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6E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029968" y="1234440"/>
            <a:ext cx="1600200" cy="3474720"/>
          </a:xfrm>
          <a:prstGeom prst="rect">
            <a:avLst/>
          </a:prstGeom>
          <a:solidFill>
            <a:srgbClr val="243799">
              <a:alpha val="12000"/>
            </a:srgbClr>
          </a:solidFill>
          <a:ln w="6350">
            <a:solidFill>
              <a:srgbClr val="5A6E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29968" y="1234440"/>
            <a:ext cx="1600200" cy="36576"/>
          </a:xfrm>
          <a:prstGeom prst="rect">
            <a:avLst/>
          </a:prstGeom>
          <a:solidFill>
            <a:srgbClr val="5A6ED8"/>
          </a:solidFill>
          <a:ln w="12700">
            <a:solidFill>
              <a:srgbClr val="5A6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39696" y="129844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139696" y="15087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A6ED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☁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103120" y="199339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Expertise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03120" y="2542032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9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 &amp; Databricks SQL certified. Snowflake, dbt, Airflow, Spark.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03120" y="4297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6E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AWS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739896" y="1234440"/>
            <a:ext cx="1600200" cy="3474720"/>
          </a:xfrm>
          <a:prstGeom prst="rect">
            <a:avLst/>
          </a:prstGeom>
          <a:solidFill>
            <a:srgbClr val="243799">
              <a:alpha val="12000"/>
            </a:srgbClr>
          </a:solidFill>
          <a:ln w="6350">
            <a:solidFill>
              <a:srgbClr val="5A6E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39896" y="1234440"/>
            <a:ext cx="1600200" cy="36576"/>
          </a:xfrm>
          <a:prstGeom prst="rect">
            <a:avLst/>
          </a:prstGeom>
          <a:solidFill>
            <a:srgbClr val="5A6ED8"/>
          </a:solidFill>
          <a:ln w="12700">
            <a:solidFill>
              <a:srgbClr val="5A6E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9624" y="129844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849624" y="15087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A6ED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⚖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813048" y="199339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Perspective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13048" y="2542032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9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like an analyst, build like an engineer. Automate at scale.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449824" y="1234440"/>
            <a:ext cx="1600200" cy="3474720"/>
          </a:xfrm>
          <a:prstGeom prst="rect">
            <a:avLst/>
          </a:prstGeom>
          <a:solidFill>
            <a:srgbClr val="243799">
              <a:alpha val="12000"/>
            </a:srgbClr>
          </a:solidFill>
          <a:ln w="6350">
            <a:solidFill>
              <a:srgbClr val="5A6E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49824" y="1234440"/>
            <a:ext cx="1600200" cy="36576"/>
          </a:xfrm>
          <a:prstGeom prst="rect">
            <a:avLst/>
          </a:prstGeom>
          <a:solidFill>
            <a:srgbClr val="5A6ED8"/>
          </a:solidFill>
          <a:ln w="12700">
            <a:solidFill>
              <a:srgbClr val="5A6E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59552" y="129844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559552" y="15087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A6ED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522976" y="199339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Experience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522976" y="2542032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9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10M+ records processed. Spark ETL. AWS pipelines built to hold at 2am.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522976" y="4297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6E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10M+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159752" y="1234440"/>
            <a:ext cx="1600200" cy="3474720"/>
          </a:xfrm>
          <a:prstGeom prst="rect">
            <a:avLst/>
          </a:prstGeom>
          <a:solidFill>
            <a:srgbClr val="243799">
              <a:alpha val="12000"/>
            </a:srgbClr>
          </a:solidFill>
          <a:ln w="6350">
            <a:solidFill>
              <a:srgbClr val="5A6E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59752" y="1234440"/>
            <a:ext cx="1600200" cy="36576"/>
          </a:xfrm>
          <a:prstGeom prst="rect">
            <a:avLst/>
          </a:prstGeom>
          <a:solidFill>
            <a:srgbClr val="5A6ED8"/>
          </a:solidFill>
          <a:ln w="12700">
            <a:solidFill>
              <a:srgbClr val="5A6E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69480" y="129844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269480" y="15087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A6ED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📢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232904" y="199339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Thought Leadership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232904" y="2542032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9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@ Women in Data. Published on Substack.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5A6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 IDENTITY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Identity System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291840" cy="2560320"/>
          </a:xfrm>
          <a:prstGeom prst="rect">
            <a:avLst/>
          </a:prstGeom>
          <a:solidFill>
            <a:srgbClr val="243799">
              <a:alpha val="20000"/>
            </a:srgbClr>
          </a:solidFill>
          <a:ln w="6350">
            <a:solidFill>
              <a:srgbClr val="5A6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i="1" dirty="0">
                <a:solidFill>
                  <a:srgbClr val="5A6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DS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600" kern="0" dirty="0">
                <a:solidFill>
                  <a:srgbClr val="8892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DEEPA SHENOY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312724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400" kern="0" dirty="0">
                <a:solidFill>
                  <a:srgbClr val="4444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QUALITY ENGINEER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023360" y="12344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7BF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 PALETTE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023360" y="1508760"/>
            <a:ext cx="1005840" cy="502920"/>
          </a:xfrm>
          <a:prstGeom prst="rect">
            <a:avLst/>
          </a:prstGeom>
          <a:solidFill>
            <a:srgbClr val="5A6ED8"/>
          </a:solidFill>
          <a:ln w="12700">
            <a:solidFill>
              <a:srgbClr val="5A6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0" y="204825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2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#5A6ED8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023360" y="224942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Indigo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5138928" y="1508760"/>
            <a:ext cx="1005840" cy="502920"/>
          </a:xfrm>
          <a:prstGeom prst="rect">
            <a:avLst/>
          </a:prstGeom>
          <a:solidFill>
            <a:srgbClr val="243799"/>
          </a:solidFill>
          <a:ln w="12700">
            <a:solidFill>
              <a:srgbClr val="2437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38928" y="204825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2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#243799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138928" y="224942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Navy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6254496" y="1508760"/>
            <a:ext cx="1005840" cy="502920"/>
          </a:xfrm>
          <a:prstGeom prst="rect">
            <a:avLst/>
          </a:prstGeom>
          <a:solidFill>
            <a:srgbClr val="050520"/>
          </a:solidFill>
          <a:ln w="12700">
            <a:solidFill>
              <a:srgbClr val="0505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54496" y="204825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2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#000024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254496" y="224942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 Navy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7370064" y="1508760"/>
            <a:ext cx="1005840" cy="502920"/>
          </a:xfrm>
          <a:prstGeom prst="rect">
            <a:avLst/>
          </a:prstGeom>
          <a:solidFill>
            <a:srgbClr val="7BFFD8"/>
          </a:solidFill>
          <a:ln w="12700">
            <a:solidFill>
              <a:srgbClr val="7BFF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70064" y="204825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2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#7BFFD8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370064" y="224942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Accent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023360" y="2606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7BF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TYPOGRAPHY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023360" y="2880360"/>
            <a:ext cx="4663440" cy="457200"/>
          </a:xfrm>
          <a:prstGeom prst="rect">
            <a:avLst/>
          </a:prstGeom>
          <a:solidFill>
            <a:srgbClr val="00001A"/>
          </a:solidFill>
          <a:ln w="12700">
            <a:solidFill>
              <a:srgbClr val="2222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0" y="29260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892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394960" y="2926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 Mono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023360" y="3429000"/>
            <a:ext cx="4663440" cy="457200"/>
          </a:xfrm>
          <a:prstGeom prst="rect">
            <a:avLst/>
          </a:prstGeom>
          <a:solidFill>
            <a:srgbClr val="00001A"/>
          </a:solidFill>
          <a:ln w="12700">
            <a:solidFill>
              <a:srgbClr val="2222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0" y="34747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892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394960" y="3474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Syne 800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023360" y="3977640"/>
            <a:ext cx="4663440" cy="457200"/>
          </a:xfrm>
          <a:prstGeom prst="rect">
            <a:avLst/>
          </a:prstGeom>
          <a:solidFill>
            <a:srgbClr val="00001A"/>
          </a:solidFill>
          <a:ln w="12700">
            <a:solidFill>
              <a:srgbClr val="2222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0" y="40233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892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EDITORIAL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394960" y="4023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DM Serif Display</a:t>
            </a:r>
            <a:endParaRPr lang="en-US" sz="1600" dirty="0"/>
          </a:p>
        </p:txBody>
      </p:sp>
      <p:sp>
        <p:nvSpPr>
          <p:cNvPr id="31" name="Text 29">
            <a:hlinkClick r:id="rId1" tooltip=""/>
          </p:cNvPr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5A6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🌐  v0-deepa-shenoy-portfolio.vercel.app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5A6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BRAND STORYTELLING · HERO'S JOURNEY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Numbers Were Wrong.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Here's What I Did About It.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057400"/>
            <a:ext cx="5029200" cy="2606040"/>
          </a:xfrm>
          <a:prstGeom prst="rect">
            <a:avLst/>
          </a:prstGeom>
          <a:solidFill>
            <a:srgbClr val="050520"/>
          </a:solidFill>
          <a:ln w="6350">
            <a:solidFill>
              <a:srgbClr val="FF6B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057400"/>
            <a:ext cx="1645920" cy="2743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057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ERROR DETECTED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94360" y="2377440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COUNT(*) FROM events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4360" y="2587752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event_type = 'conversion'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94360" y="2798064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⚠ duplicate tx_ids not filtered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94360" y="3008376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result: inflated by 15–20%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94360" y="3218688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94360" y="3429000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F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deduped AS (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94360" y="3639312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*, ROW_NUMBER() OVER(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94360" y="3849624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PARTITION BY transaction_id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94360" y="4059936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 AS rn FROM events)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94360" y="4270248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F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COUNT(*) FROM deduped WHERE rn=1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760720" y="50292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"Data integrity isn't a technical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problem. It's a trust problem."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760720" y="502920"/>
            <a:ext cx="54864" cy="10972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60720" y="2011680"/>
            <a:ext cx="2926080" cy="1417320"/>
          </a:xfrm>
          <a:prstGeom prst="rect">
            <a:avLst/>
          </a:prstGeom>
          <a:solidFill>
            <a:srgbClr val="00001A"/>
          </a:solidFill>
          <a:ln w="6350">
            <a:solidFill>
              <a:srgbClr val="FF6B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0" y="210312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15–20%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5852160" y="27889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spc="200" kern="0" dirty="0">
                <a:solidFill>
                  <a:srgbClr val="8892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CONVERSION RATE INFLATION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spc="200" kern="0" dirty="0">
                <a:solidFill>
                  <a:srgbClr val="8892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HIDING IN PLAIN SIGHT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760720" y="3657600"/>
            <a:ext cx="2926080" cy="960120"/>
          </a:xfrm>
          <a:prstGeom prst="rect">
            <a:avLst/>
          </a:prstGeom>
          <a:solidFill>
            <a:srgbClr val="00001A"/>
          </a:solidFill>
          <a:ln w="6350">
            <a:solidFill>
              <a:srgbClr val="5A6E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0" y="37490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89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routine audit. A duplicate transaction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89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ID. Two weeks rewriting a pipeline nobody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89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questioned.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5A6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BRAND STORYTELLING · THE FRAMEWORK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Validation-First Pipeline Framework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325880"/>
            <a:ext cx="1554480" cy="3017520"/>
          </a:xfrm>
          <a:prstGeom prst="rect">
            <a:avLst/>
          </a:prstGeom>
          <a:solidFill>
            <a:srgbClr val="000024"/>
          </a:solidFill>
          <a:ln w="6350">
            <a:solidFill>
              <a:srgbClr val="5A6E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4315968"/>
            <a:ext cx="1554480" cy="36576"/>
          </a:xfrm>
          <a:prstGeom prst="rect">
            <a:avLst/>
          </a:prstGeom>
          <a:solidFill>
            <a:srgbClr val="7BFFD8"/>
          </a:solidFill>
          <a:ln w="12700">
            <a:solidFill>
              <a:srgbClr val="7BFF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4173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🗄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47472" y="20116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9184" y="2487168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9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captured with schema enforcement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810512" y="25146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ED8"/>
                </a:solidFill>
              </a:rPr>
              <a:t>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011680" y="1325880"/>
            <a:ext cx="1554480" cy="3017520"/>
          </a:xfrm>
          <a:prstGeom prst="rect">
            <a:avLst/>
          </a:prstGeom>
          <a:solidFill>
            <a:srgbClr val="000024"/>
          </a:solidFill>
          <a:ln w="6350">
            <a:solidFill>
              <a:srgbClr val="5A6E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4315968"/>
            <a:ext cx="1554480" cy="36576"/>
          </a:xfrm>
          <a:prstGeom prst="rect">
            <a:avLst/>
          </a:prstGeom>
          <a:solidFill>
            <a:srgbClr val="7BFFD8"/>
          </a:solidFill>
          <a:ln w="12700">
            <a:solidFill>
              <a:srgbClr val="7BFF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14173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084832" y="20116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Deduplicate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66544" y="2487168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9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 dedup on transaction_id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25146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ED8"/>
                </a:solidFill>
              </a:rPr>
              <a:t>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49040" y="1325880"/>
            <a:ext cx="1554480" cy="3017520"/>
          </a:xfrm>
          <a:prstGeom prst="rect">
            <a:avLst/>
          </a:prstGeom>
          <a:solidFill>
            <a:srgbClr val="000024"/>
          </a:solidFill>
          <a:ln w="6350">
            <a:solidFill>
              <a:srgbClr val="5A6E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49040" y="4315968"/>
            <a:ext cx="1554480" cy="36576"/>
          </a:xfrm>
          <a:prstGeom prst="rect">
            <a:avLst/>
          </a:prstGeom>
          <a:solidFill>
            <a:srgbClr val="7BFFD8"/>
          </a:solidFill>
          <a:ln w="12700">
            <a:solidFill>
              <a:srgbClr val="7BFF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14173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🔗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822192" y="20116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03904" y="2487168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9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Cross-source record matching &amp; integrity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285232" y="25146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ED8"/>
                </a:solidFill>
              </a:rPr>
              <a:t>▶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0" y="1325880"/>
            <a:ext cx="1554480" cy="3017520"/>
          </a:xfrm>
          <a:prstGeom prst="rect">
            <a:avLst/>
          </a:prstGeom>
          <a:solidFill>
            <a:srgbClr val="000024"/>
          </a:solidFill>
          <a:ln w="6350">
            <a:solidFill>
              <a:srgbClr val="5A6E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0" y="4315968"/>
            <a:ext cx="1554480" cy="36576"/>
          </a:xfrm>
          <a:prstGeom prst="rect">
            <a:avLst/>
          </a:prstGeom>
          <a:solidFill>
            <a:srgbClr val="7BFFD8"/>
          </a:solidFill>
          <a:ln w="12700">
            <a:solidFill>
              <a:srgbClr val="7BFF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14173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🛡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559552" y="20116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41264" y="2487168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9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tests, Great Expectations thresholds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022592" y="25146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ED8"/>
                </a:solidFill>
              </a:rPr>
              <a:t>▶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223760" y="1325880"/>
            <a:ext cx="1554480" cy="3017520"/>
          </a:xfrm>
          <a:prstGeom prst="rect">
            <a:avLst/>
          </a:prstGeom>
          <a:solidFill>
            <a:srgbClr val="000024"/>
          </a:solidFill>
          <a:ln w="6350">
            <a:solidFill>
              <a:srgbClr val="5A6E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23760" y="4315968"/>
            <a:ext cx="1554480" cy="36576"/>
          </a:xfrm>
          <a:prstGeom prst="rect">
            <a:avLst/>
          </a:prstGeom>
          <a:solidFill>
            <a:srgbClr val="7BFFD8"/>
          </a:solidFill>
          <a:ln w="12700">
            <a:solidFill>
              <a:srgbClr val="7BFF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23760" y="14173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📈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7296912" y="20116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78624" y="2487168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9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data — no publish without passing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892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stage has a validation gate. No data publishes without passing.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5A6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MADISON AI DEMO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Madison Changed My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31920" cy="1417320"/>
          </a:xfrm>
          <a:prstGeom prst="rect">
            <a:avLst/>
          </a:prstGeom>
          <a:solidFill>
            <a:srgbClr val="1A0010"/>
          </a:solidFill>
          <a:ln w="6350">
            <a:solidFill>
              <a:srgbClr val="FF6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25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MADISON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16002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89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on documentation, query formatting, and translating logic for non-technical audiences.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3931920" cy="1417320"/>
          </a:xfrm>
          <a:prstGeom prst="rect">
            <a:avLst/>
          </a:prstGeom>
          <a:solidFill>
            <a:srgbClr val="001A12"/>
          </a:solidFill>
          <a:ln w="6350">
            <a:solidFill>
              <a:srgbClr val="7BFF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8803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BF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MADISON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4360" y="31546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89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time deciding what to measure, questioning metrics, and translating findings into action.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3977640" cy="2971800"/>
          </a:xfrm>
          <a:prstGeom prst="rect">
            <a:avLst/>
          </a:prstGeom>
          <a:solidFill>
            <a:srgbClr val="050520"/>
          </a:solidFill>
          <a:ln w="6350">
            <a:solidFill>
              <a:srgbClr val="5A6E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234440"/>
            <a:ext cx="3977640" cy="292608"/>
          </a:xfrm>
          <a:prstGeom prst="rect">
            <a:avLst/>
          </a:prstGeom>
          <a:solidFill>
            <a:srgbClr val="0A0A2E"/>
          </a:solidFill>
          <a:ln w="12700">
            <a:solidFill>
              <a:srgbClr val="0A0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25272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8892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MADISON · AI ANALYTICS ASSISTANT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6675120" y="1645920"/>
            <a:ext cx="1783080" cy="457200"/>
          </a:xfrm>
          <a:prstGeom prst="rect">
            <a:avLst/>
          </a:prstGeom>
          <a:solidFill>
            <a:srgbClr val="243799">
              <a:alpha val="80000"/>
            </a:srgbClr>
          </a:solidFill>
          <a:ln w="3810">
            <a:solidFill>
              <a:srgbClr val="2437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48272" y="1682496"/>
            <a:ext cx="1691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spc="200" kern="0" dirty="0">
                <a:solidFill>
                  <a:srgbClr val="5A6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DEEPA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6748272" y="181051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last week's pipeline health for stakeholders — non-technical.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754880" y="2212848"/>
            <a:ext cx="1783080" cy="457200"/>
          </a:xfrm>
          <a:prstGeom prst="rect">
            <a:avLst/>
          </a:prstGeom>
          <a:solidFill>
            <a:srgbClr val="001A12">
              <a:alpha val="80000"/>
            </a:srgbClr>
          </a:solidFill>
          <a:ln w="3810">
            <a:solidFill>
              <a:srgbClr val="7BFF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8032" y="2249424"/>
            <a:ext cx="1691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spc="200" kern="0" dirty="0">
                <a:solidFill>
                  <a:srgbClr val="7BF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MADISON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4828032" y="237744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pipelines ran successfully. One anomaly in payments feed (resolved in 4h). Data quality score: 98.2% ✓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675120" y="2779776"/>
            <a:ext cx="1783080" cy="457200"/>
          </a:xfrm>
          <a:prstGeom prst="rect">
            <a:avLst/>
          </a:prstGeom>
          <a:solidFill>
            <a:srgbClr val="243799">
              <a:alpha val="80000"/>
            </a:srgbClr>
          </a:solidFill>
          <a:ln w="3810">
            <a:solidFill>
              <a:srgbClr val="2437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48272" y="2816352"/>
            <a:ext cx="1691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spc="200" kern="0" dirty="0">
                <a:solidFill>
                  <a:srgbClr val="5A6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DEEPA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6748272" y="294436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dbt test config for conversion_events model.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754880" y="3346704"/>
            <a:ext cx="1783080" cy="457200"/>
          </a:xfrm>
          <a:prstGeom prst="rect">
            <a:avLst/>
          </a:prstGeom>
          <a:solidFill>
            <a:srgbClr val="001A12">
              <a:alpha val="80000"/>
            </a:srgbClr>
          </a:solidFill>
          <a:ln w="3810">
            <a:solidFill>
              <a:srgbClr val="7BFF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3383280"/>
            <a:ext cx="1691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spc="200" kern="0" dirty="0">
                <a:solidFill>
                  <a:srgbClr val="7BF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MADISON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4828032" y="3511296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version: 2 / models: conversion_events / tests: unique, not_null, accepted_range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0383" y="2949484"/>
            <a:ext cx="36576" cy="36576"/>
          </a:xfrm>
          <a:prstGeom prst="ellipse">
            <a:avLst/>
          </a:prstGeom>
          <a:solidFill>
            <a:srgbClr val="5A6ED8">
              <a:alpha val="50000"/>
            </a:srgbClr>
          </a:solidFill>
          <a:ln w="12700">
            <a:solidFill>
              <a:srgbClr val="5A6ED8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27573" y="923759"/>
            <a:ext cx="36576" cy="36576"/>
          </a:xfrm>
          <a:prstGeom prst="ellipse">
            <a:avLst/>
          </a:prstGeom>
          <a:solidFill>
            <a:srgbClr val="5A6ED8">
              <a:alpha val="50000"/>
            </a:srgbClr>
          </a:solidFill>
          <a:ln w="12700">
            <a:solidFill>
              <a:srgbClr val="5A6ED8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599502" y="988070"/>
            <a:ext cx="36576" cy="36576"/>
          </a:xfrm>
          <a:prstGeom prst="ellipse">
            <a:avLst/>
          </a:prstGeom>
          <a:solidFill>
            <a:srgbClr val="5A6ED8">
              <a:alpha val="50000"/>
            </a:srgbClr>
          </a:solidFill>
          <a:ln w="12700">
            <a:solidFill>
              <a:srgbClr val="5A6ED8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73636" y="4403744"/>
            <a:ext cx="36576" cy="36576"/>
          </a:xfrm>
          <a:prstGeom prst="ellipse">
            <a:avLst/>
          </a:prstGeom>
          <a:solidFill>
            <a:srgbClr val="5A6ED8">
              <a:alpha val="50000"/>
            </a:srgbClr>
          </a:solidFill>
          <a:ln w="12700">
            <a:solidFill>
              <a:srgbClr val="5A6ED8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93821" y="3724901"/>
            <a:ext cx="36576" cy="36576"/>
          </a:xfrm>
          <a:prstGeom prst="ellipse">
            <a:avLst/>
          </a:prstGeom>
          <a:solidFill>
            <a:srgbClr val="5A6ED8">
              <a:alpha val="50000"/>
            </a:srgbClr>
          </a:solidFill>
          <a:ln w="12700">
            <a:solidFill>
              <a:srgbClr val="5A6ED8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90047" y="3689152"/>
            <a:ext cx="36576" cy="36576"/>
          </a:xfrm>
          <a:prstGeom prst="ellipse">
            <a:avLst/>
          </a:prstGeom>
          <a:solidFill>
            <a:srgbClr val="5A6ED8">
              <a:alpha val="50000"/>
            </a:srgbClr>
          </a:solidFill>
          <a:ln w="12700">
            <a:solidFill>
              <a:srgbClr val="5A6ED8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63746" y="4226342"/>
            <a:ext cx="36576" cy="36576"/>
          </a:xfrm>
          <a:prstGeom prst="ellipse">
            <a:avLst/>
          </a:prstGeom>
          <a:solidFill>
            <a:srgbClr val="5A6ED8">
              <a:alpha val="50000"/>
            </a:srgbClr>
          </a:solidFill>
          <a:ln w="12700">
            <a:solidFill>
              <a:srgbClr val="5A6ED8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16724" y="1400191"/>
            <a:ext cx="36576" cy="36576"/>
          </a:xfrm>
          <a:prstGeom prst="ellipse">
            <a:avLst/>
          </a:prstGeom>
          <a:solidFill>
            <a:srgbClr val="5A6ED8">
              <a:alpha val="50000"/>
            </a:srgbClr>
          </a:solidFill>
          <a:ln w="12700">
            <a:solidFill>
              <a:srgbClr val="5A6ED8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4136" y="609650"/>
            <a:ext cx="36576" cy="36576"/>
          </a:xfrm>
          <a:prstGeom prst="ellipse">
            <a:avLst/>
          </a:prstGeom>
          <a:solidFill>
            <a:srgbClr val="5A6ED8">
              <a:alpha val="50000"/>
            </a:srgbClr>
          </a:solidFill>
          <a:ln w="12700">
            <a:solidFill>
              <a:srgbClr val="5A6ED8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26027" y="1080127"/>
            <a:ext cx="36576" cy="36576"/>
          </a:xfrm>
          <a:prstGeom prst="ellipse">
            <a:avLst/>
          </a:prstGeom>
          <a:solidFill>
            <a:srgbClr val="5A6ED8">
              <a:alpha val="50000"/>
            </a:srgbClr>
          </a:solidFill>
          <a:ln w="12700">
            <a:solidFill>
              <a:srgbClr val="5A6ED8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860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5A6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PORTFOLIO &amp; CONNECT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438912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800" i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Is Live.</a:t>
            </a:r>
            <a:endParaRPr lang="en-US" sz="3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800" i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Is Real.</a:t>
            </a:r>
            <a:endParaRPr lang="en-US" sz="3800" dirty="0"/>
          </a:p>
        </p:txBody>
      </p:sp>
      <p:sp>
        <p:nvSpPr>
          <p:cNvPr id="14" name="Shape 12"/>
          <p:cNvSpPr/>
          <p:nvPr/>
        </p:nvSpPr>
        <p:spPr>
          <a:xfrm>
            <a:off x="2286000" y="1691640"/>
            <a:ext cx="4572000" cy="27432"/>
          </a:xfrm>
          <a:prstGeom prst="rect">
            <a:avLst/>
          </a:prstGeom>
          <a:solidFill>
            <a:srgbClr val="7BFFD8"/>
          </a:solidFill>
          <a:ln w="12700">
            <a:solidFill>
              <a:srgbClr val="7BFF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178308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8892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analysts who catch the duplicate events — those are the people whose work actually holds up."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606040"/>
            <a:ext cx="4023360" cy="621792"/>
          </a:xfrm>
          <a:prstGeom prst="rect">
            <a:avLst/>
          </a:prstGeom>
          <a:solidFill>
            <a:srgbClr val="243799">
              <a:alpha val="20000"/>
            </a:srgbClr>
          </a:solidFill>
          <a:ln w="6350">
            <a:solidFill>
              <a:srgbClr val="5A6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71576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🌐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267919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7BF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PORTFOLIO</a:t>
            </a:r>
            <a:endParaRPr lang="en-US" sz="700" dirty="0"/>
          </a:p>
        </p:txBody>
      </p:sp>
      <p:sp>
        <p:nvSpPr>
          <p:cNvPr id="19" name="Text 17">
            <a:hlinkClick r:id="rId1" tooltip=""/>
          </p:cNvPr>
          <p:cNvSpPr/>
          <p:nvPr/>
        </p:nvSpPr>
        <p:spPr>
          <a:xfrm>
            <a:off x="1097280" y="2898648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5A6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v0-deepa-shenoy-portfolio.vercel.app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46320" y="2606040"/>
            <a:ext cx="4023360" cy="621792"/>
          </a:xfrm>
          <a:prstGeom prst="rect">
            <a:avLst/>
          </a:prstGeom>
          <a:solidFill>
            <a:srgbClr val="243799">
              <a:alpha val="20000"/>
            </a:srgbClr>
          </a:solidFill>
          <a:ln w="6350">
            <a:solidFill>
              <a:srgbClr val="5A6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271576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💼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86400" y="267919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7BF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LINKEDIN</a:t>
            </a:r>
            <a:endParaRPr lang="en-US" sz="700" dirty="0"/>
          </a:p>
        </p:txBody>
      </p:sp>
      <p:sp>
        <p:nvSpPr>
          <p:cNvPr id="23" name="Text 21">
            <a:hlinkClick r:id="rId2" tooltip=""/>
          </p:cNvPr>
          <p:cNvSpPr/>
          <p:nvPr/>
        </p:nvSpPr>
        <p:spPr>
          <a:xfrm>
            <a:off x="5486400" y="2898648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5A6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linkedin.com/in/shenoydeepa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355848"/>
            <a:ext cx="4023360" cy="621792"/>
          </a:xfrm>
          <a:prstGeom prst="rect">
            <a:avLst/>
          </a:prstGeom>
          <a:solidFill>
            <a:srgbClr val="243799">
              <a:alpha val="20000"/>
            </a:srgbClr>
          </a:solidFill>
          <a:ln w="6350">
            <a:solidFill>
              <a:srgbClr val="5A6E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346557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📖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97280" y="342900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7BF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SUBSTACK</a:t>
            </a:r>
            <a:endParaRPr lang="en-US" sz="700" dirty="0"/>
          </a:p>
        </p:txBody>
      </p:sp>
      <p:sp>
        <p:nvSpPr>
          <p:cNvPr id="27" name="Text 25">
            <a:hlinkClick r:id="rId3" tooltip=""/>
          </p:cNvPr>
          <p:cNvSpPr/>
          <p:nvPr/>
        </p:nvSpPr>
        <p:spPr>
          <a:xfrm>
            <a:off x="1097280" y="3648456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5A6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deepashenoy.substack.com/about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46320" y="3355848"/>
            <a:ext cx="4023360" cy="621792"/>
          </a:xfrm>
          <a:prstGeom prst="rect">
            <a:avLst/>
          </a:prstGeom>
          <a:solidFill>
            <a:srgbClr val="243799">
              <a:alpha val="20000"/>
            </a:srgbClr>
          </a:solidFill>
          <a:ln w="6350">
            <a:solidFill>
              <a:srgbClr val="5A6E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56048" y="346557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🐙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486400" y="342900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7BF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</a:t>
            </a:r>
            <a:endParaRPr lang="en-US" sz="700" dirty="0"/>
          </a:p>
        </p:txBody>
      </p:sp>
      <p:sp>
        <p:nvSpPr>
          <p:cNvPr id="31" name="Text 29">
            <a:hlinkClick r:id="rId4" tooltip=""/>
          </p:cNvPr>
          <p:cNvSpPr/>
          <p:nvPr/>
        </p:nvSpPr>
        <p:spPr>
          <a:xfrm>
            <a:off x="5486400" y="3648456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5A6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ds2204.github.io/brand-story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4105656"/>
            <a:ext cx="4023360" cy="621792"/>
          </a:xfrm>
          <a:prstGeom prst="rect">
            <a:avLst/>
          </a:prstGeom>
          <a:solidFill>
            <a:srgbClr val="243799">
              <a:alpha val="20000"/>
            </a:srgbClr>
          </a:solidFill>
          <a:ln w="6350">
            <a:solidFill>
              <a:srgbClr val="5A6E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4215384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🔬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097280" y="417880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7BF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BRAND STORY</a:t>
            </a:r>
            <a:endParaRPr lang="en-US" sz="700" dirty="0"/>
          </a:p>
        </p:txBody>
      </p:sp>
      <p:sp>
        <p:nvSpPr>
          <p:cNvPr id="35" name="Text 33">
            <a:hlinkClick r:id="rId5" tooltip=""/>
          </p:cNvPr>
          <p:cNvSpPr/>
          <p:nvPr/>
        </p:nvSpPr>
        <p:spPr>
          <a:xfrm>
            <a:off x="1097280" y="4398264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5A6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ds2204.github.io/brand-story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46320" y="4105656"/>
            <a:ext cx="4023360" cy="621792"/>
          </a:xfrm>
          <a:prstGeom prst="rect">
            <a:avLst/>
          </a:prstGeom>
          <a:solidFill>
            <a:srgbClr val="243799">
              <a:alpha val="20000"/>
            </a:srgbClr>
          </a:solidFill>
          <a:ln w="6350">
            <a:solidFill>
              <a:srgbClr val="5A6E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56048" y="4215384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✉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486400" y="417880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7BF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700" dirty="0"/>
          </a:p>
        </p:txBody>
      </p:sp>
      <p:sp>
        <p:nvSpPr>
          <p:cNvPr id="39" name="Text 37">
            <a:hlinkClick r:id="rId6" tooltip=""/>
          </p:cNvPr>
          <p:cNvSpPr/>
          <p:nvPr/>
        </p:nvSpPr>
        <p:spPr>
          <a:xfrm>
            <a:off x="5486400" y="4398264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5A6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shenoy.d@northeastern.edu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48006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300" kern="0" dirty="0">
                <a:solidFill>
                  <a:srgbClr val="33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IN ONE SEMESTER · READY FOR THE REAL WORLD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Quality Engineer – Brand Portfolio</dc:title>
  <dc:subject>PptxGenJS Presentation</dc:subject>
  <dc:creator>Deepa Shenoy</dc:creator>
  <cp:lastModifiedBy>Deepa Shenoy</cp:lastModifiedBy>
  <cp:revision>1</cp:revision>
  <dcterms:created xsi:type="dcterms:W3CDTF">2026-04-24T18:26:41Z</dcterms:created>
  <dcterms:modified xsi:type="dcterms:W3CDTF">2026-04-24T18:26:41Z</dcterms:modified>
</cp:coreProperties>
</file>